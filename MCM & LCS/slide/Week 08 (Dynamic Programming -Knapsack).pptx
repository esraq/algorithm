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7" r:id="rId2"/>
  </p:sldMasterIdLst>
  <p:notesMasterIdLst>
    <p:notesMasterId r:id="rId6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Lst>
  <p:sldSz cx="9144000" cy="6858000" type="screen4x3"/>
  <p:notesSz cx="6858000" cy="9144000"/>
  <p:embeddedFontLst>
    <p:embeddedFont>
      <p:font typeface="Corbel" panose="020B0503020204020204" pitchFamily="34" charset="0"/>
      <p:regular r:id="rId66"/>
      <p:bold r:id="rId67"/>
      <p:italic r:id="rId68"/>
      <p:boldItalic r:id="rId69"/>
    </p:embeddedFont>
    <p:embeddedFont>
      <p:font typeface="Noto Sans Symbols" panose="020B0604020202020204" charset="0"/>
      <p:regular r:id="rId70"/>
      <p:bold r:id="rId71"/>
    </p:embeddedFont>
    <p:embeddedFont>
      <p:font typeface="Tahoma" panose="020B0604030504040204" pitchFamily="34" charset="0"/>
      <p:regular r:id="rId72"/>
      <p:bold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hIRZ6+ge9qBy4HgjdrIRbnu/K+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3070E6-82E4-43B3-9350-0D09B30A6E41}">
  <a:tblStyle styleId="{E83070E6-82E4-43B3-9350-0D09B30A6E41}"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46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3.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1.fntdata"/><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73" Type="http://schemas.openxmlformats.org/officeDocument/2006/relationships/font" Target="fonts/font8.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311" name="Google Shape;311;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
        <p:nvSpPr>
          <p:cNvPr id="746" name="Google Shape;746;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7" name="Google Shape;74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754" name="Google Shape;754;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5" name="Google Shape;75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815" name="Google Shape;815;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6" name="Google Shape;8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822" name="Google Shape;822;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3" name="Google Shape;82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830" name="Google Shape;83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1" name="Google Shape;83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838" name="Google Shape;838;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9" name="Google Shape;83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845" name="Google Shape;845;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6" name="Google Shape;8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852" name="Google Shape;852;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3" name="Google Shape;85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860" name="Google Shape;860;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1" name="Google Shape;86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867" name="Google Shape;867;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8" name="Google Shape;86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928" name="Google Shape;928;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9" name="Google Shape;92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935" name="Google Shape;935;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6" name="Google Shape;93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942" name="Google Shape;942;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3" name="Google Shape;94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950" name="Google Shape;950;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1" name="Google Shape;95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957" name="Google Shape;957;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8" name="Google Shape;95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f8122dc4e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2f8122dc4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5" name="Google Shape;965;g2f8122dc4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f8122dc4e2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0" name="Google Shape;970;g2f8122dc4e2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1" name="Google Shape;971;g2f8122dc4e2_0_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6" name="Google Shape;976;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1" name="Google Shape;981;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7" name="Google Shape;987;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3" name="Google Shape;993;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1" name="Google Shape;1001;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8" name="Google Shape;1038;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6" name="Google Shape;1046;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2" name="Google Shape;1052;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9" name="Google Shape;1059;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5" name="Google Shape;1065;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1" name="Google Shape;1121;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7" name="Google Shape;1127;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5" name="Google Shape;1135;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2" name="Google Shape;1142;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8" name="Google Shape;1148;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4" name="Google Shape;1154;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0" name="Google Shape;1160;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6" name="Google Shape;1166;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2" name="Google Shape;1172;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8" name="Google Shape;1178;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8"/>
        <p:cNvGrpSpPr/>
        <p:nvPr/>
      </p:nvGrpSpPr>
      <p:grpSpPr>
        <a:xfrm>
          <a:off x="0" y="0"/>
          <a:ext cx="0" cy="0"/>
          <a:chOff x="0" y="0"/>
          <a:chExt cx="0" cy="0"/>
        </a:xfrm>
      </p:grpSpPr>
      <p:sp>
        <p:nvSpPr>
          <p:cNvPr id="1189" name="Google Shape;118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0" name="Google Shape;1190;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6" name="Google Shape;1196;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6" name="Google Shape;1236;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0" name="Google Shape;1280;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9" name="Google Shape;1329;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7"/>
        <p:cNvGrpSpPr/>
        <p:nvPr/>
      </p:nvGrpSpPr>
      <p:grpSpPr>
        <a:xfrm>
          <a:off x="0" y="0"/>
          <a:ext cx="0" cy="0"/>
          <a:chOff x="0" y="0"/>
          <a:chExt cx="0" cy="0"/>
        </a:xfrm>
      </p:grpSpPr>
      <p:sp>
        <p:nvSpPr>
          <p:cNvPr id="1378" name="Google Shape;1378;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9" name="Google Shape;1379;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9" name="Google Shape;1429;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8"/>
        <p:cNvGrpSpPr/>
        <p:nvPr/>
      </p:nvGrpSpPr>
      <p:grpSpPr>
        <a:xfrm>
          <a:off x="0" y="0"/>
          <a:ext cx="0" cy="0"/>
          <a:chOff x="0" y="0"/>
          <a:chExt cx="0" cy="0"/>
        </a:xfrm>
      </p:grpSpPr>
      <p:sp>
        <p:nvSpPr>
          <p:cNvPr id="1479" name="Google Shape;1479;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0" name="Google Shape;1480;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0"/>
        <p:cNvGrpSpPr/>
        <p:nvPr/>
      </p:nvGrpSpPr>
      <p:grpSpPr>
        <a:xfrm>
          <a:off x="0" y="0"/>
          <a:ext cx="0" cy="0"/>
          <a:chOff x="0" y="0"/>
          <a:chExt cx="0" cy="0"/>
        </a:xfrm>
      </p:grpSpPr>
      <p:sp>
        <p:nvSpPr>
          <p:cNvPr id="1531" name="Google Shape;1531;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2" name="Google Shape;1532;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5" name="Google Shape;1585;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7"/>
        <p:cNvGrpSpPr/>
        <p:nvPr/>
      </p:nvGrpSpPr>
      <p:grpSpPr>
        <a:xfrm>
          <a:off x="0" y="0"/>
          <a:ext cx="0" cy="0"/>
          <a:chOff x="0" y="0"/>
          <a:chExt cx="0" cy="0"/>
        </a:xfrm>
      </p:grpSpPr>
      <p:sp>
        <p:nvSpPr>
          <p:cNvPr id="1638" name="Google Shape;1638;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9" name="Google Shape;1639;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2"/>
        <p:cNvGrpSpPr/>
        <p:nvPr/>
      </p:nvGrpSpPr>
      <p:grpSpPr>
        <a:xfrm>
          <a:off x="0" y="0"/>
          <a:ext cx="0" cy="0"/>
          <a:chOff x="0" y="0"/>
          <a:chExt cx="0" cy="0"/>
        </a:xfrm>
      </p:grpSpPr>
      <p:sp>
        <p:nvSpPr>
          <p:cNvPr id="1693" name="Google Shape;169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4" name="Google Shape;1694;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8"/>
        <p:cNvGrpSpPr/>
        <p:nvPr/>
      </p:nvGrpSpPr>
      <p:grpSpPr>
        <a:xfrm>
          <a:off x="0" y="0"/>
          <a:ext cx="0" cy="0"/>
          <a:chOff x="0" y="0"/>
          <a:chExt cx="0" cy="0"/>
        </a:xfrm>
      </p:grpSpPr>
      <p:sp>
        <p:nvSpPr>
          <p:cNvPr id="1749" name="Google Shape;1749;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0" name="Google Shape;1750;p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5"/>
        <p:cNvGrpSpPr/>
        <p:nvPr/>
      </p:nvGrpSpPr>
      <p:grpSpPr>
        <a:xfrm>
          <a:off x="0" y="0"/>
          <a:ext cx="0" cy="0"/>
          <a:chOff x="0" y="0"/>
          <a:chExt cx="0" cy="0"/>
        </a:xfrm>
      </p:grpSpPr>
      <p:sp>
        <p:nvSpPr>
          <p:cNvPr id="1806" name="Google Shape;1806;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7" name="Google Shape;1807;p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8"/>
        <p:cNvGrpSpPr/>
        <p:nvPr/>
      </p:nvGrpSpPr>
      <p:grpSpPr>
        <a:xfrm>
          <a:off x="0" y="0"/>
          <a:ext cx="0" cy="0"/>
          <a:chOff x="0" y="0"/>
          <a:chExt cx="0" cy="0"/>
        </a:xfrm>
      </p:grpSpPr>
      <p:sp>
        <p:nvSpPr>
          <p:cNvPr id="1869" name="Google Shape;1869;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0" name="Google Shape;1870;p5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0"/>
        <p:cNvGrpSpPr/>
        <p:nvPr/>
      </p:nvGrpSpPr>
      <p:grpSpPr>
        <a:xfrm>
          <a:off x="0" y="0"/>
          <a:ext cx="0" cy="0"/>
          <a:chOff x="0" y="0"/>
          <a:chExt cx="0" cy="0"/>
        </a:xfrm>
      </p:grpSpPr>
      <p:sp>
        <p:nvSpPr>
          <p:cNvPr id="1931" name="Google Shape;1931;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2" name="Google Shape;1932;p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3"/>
        <p:cNvGrpSpPr/>
        <p:nvPr/>
      </p:nvGrpSpPr>
      <p:grpSpPr>
        <a:xfrm>
          <a:off x="0" y="0"/>
          <a:ext cx="0" cy="0"/>
          <a:chOff x="0" y="0"/>
          <a:chExt cx="0" cy="0"/>
        </a:xfrm>
      </p:grpSpPr>
      <p:sp>
        <p:nvSpPr>
          <p:cNvPr id="1994" name="Google Shape;1994;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5" name="Google Shape;1995;p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3"/>
        <p:cNvGrpSpPr/>
        <p:nvPr/>
      </p:nvGrpSpPr>
      <p:grpSpPr>
        <a:xfrm>
          <a:off x="0" y="0"/>
          <a:ext cx="0" cy="0"/>
          <a:chOff x="0" y="0"/>
          <a:chExt cx="0" cy="0"/>
        </a:xfrm>
      </p:grpSpPr>
      <p:sp>
        <p:nvSpPr>
          <p:cNvPr id="2064" name="Google Shape;2064;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5" name="Google Shape;2065;p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1"/>
        <p:cNvGrpSpPr/>
        <p:nvPr/>
      </p:nvGrpSpPr>
      <p:grpSpPr>
        <a:xfrm>
          <a:off x="0" y="0"/>
          <a:ext cx="0" cy="0"/>
          <a:chOff x="0" y="0"/>
          <a:chExt cx="0" cy="0"/>
        </a:xfrm>
      </p:grpSpPr>
      <p:sp>
        <p:nvSpPr>
          <p:cNvPr id="2132" name="Google Shape;213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3" name="Google Shape;2133;p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7"/>
        <p:cNvGrpSpPr/>
        <p:nvPr/>
      </p:nvGrpSpPr>
      <p:grpSpPr>
        <a:xfrm>
          <a:off x="0" y="0"/>
          <a:ext cx="0" cy="0"/>
          <a:chOff x="0" y="0"/>
          <a:chExt cx="0" cy="0"/>
        </a:xfrm>
      </p:grpSpPr>
      <p:sp>
        <p:nvSpPr>
          <p:cNvPr id="2138" name="Google Shape;2138;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9" name="Google Shape;2139;p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3"/>
        <p:cNvGrpSpPr/>
        <p:nvPr/>
      </p:nvGrpSpPr>
      <p:grpSpPr>
        <a:xfrm>
          <a:off x="0" y="0"/>
          <a:ext cx="0" cy="0"/>
          <a:chOff x="0" y="0"/>
          <a:chExt cx="0" cy="0"/>
        </a:xfrm>
      </p:grpSpPr>
      <p:sp>
        <p:nvSpPr>
          <p:cNvPr id="2144" name="Google Shape;2144;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5" name="Google Shape;2145;p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62"/>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62"/>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62"/>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62"/>
          <p:cNvSpPr/>
          <p:nvPr/>
        </p:nvSpPr>
        <p:spPr>
          <a:xfrm>
            <a:off x="284163" y="444728"/>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b="0" i="0" u="none" strike="noStrike" cap="none">
              <a:solidFill>
                <a:schemeClr val="lt1"/>
              </a:solidFill>
              <a:latin typeface="Corbel"/>
              <a:ea typeface="Corbel"/>
              <a:cs typeface="Corbel"/>
              <a:sym typeface="Corbel"/>
            </a:endParaRPr>
          </a:p>
        </p:txBody>
      </p:sp>
      <p:grpSp>
        <p:nvGrpSpPr>
          <p:cNvPr id="20" name="Google Shape;20;p62"/>
          <p:cNvGrpSpPr/>
          <p:nvPr/>
        </p:nvGrpSpPr>
        <p:grpSpPr>
          <a:xfrm>
            <a:off x="284163" y="1906542"/>
            <a:ext cx="8576373" cy="137411"/>
            <a:chOff x="284163" y="1759424"/>
            <a:chExt cx="8576373" cy="137411"/>
          </a:xfrm>
        </p:grpSpPr>
        <p:sp>
          <p:nvSpPr>
            <p:cNvPr id="21" name="Google Shape;21;p62"/>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62"/>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62"/>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24" name="Google Shape;24;p62"/>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2"/>
          <p:cNvSpPr txBox="1">
            <a:spLocks noGrp="1"/>
          </p:cNvSpPr>
          <p:nvPr>
            <p:ph type="subTitle" idx="1"/>
          </p:nvPr>
        </p:nvSpPr>
        <p:spPr>
          <a:xfrm>
            <a:off x="476205" y="1532427"/>
            <a:ext cx="7754112" cy="484632"/>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a:endParaRPr/>
          </a:p>
        </p:txBody>
      </p:sp>
      <p:sp>
        <p:nvSpPr>
          <p:cNvPr id="26" name="Google Shape;26;p62"/>
          <p:cNvSpPr/>
          <p:nvPr/>
        </p:nvSpPr>
        <p:spPr>
          <a:xfrm>
            <a:off x="284163" y="6227064"/>
            <a:ext cx="8574087" cy="173736"/>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7" name="Google Shape;27;p62" descr="Image result for AIUB logo"/>
          <p:cNvPicPr preferRelativeResize="0"/>
          <p:nvPr/>
        </p:nvPicPr>
        <p:blipFill rotWithShape="1">
          <a:blip r:embed="rId2">
            <a:alphaModFix/>
          </a:blip>
          <a:srcRect/>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63"/>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3"/>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31" name="Google Shape;31;p63"/>
          <p:cNvGrpSpPr/>
          <p:nvPr/>
        </p:nvGrpSpPr>
        <p:grpSpPr>
          <a:xfrm>
            <a:off x="284164" y="452718"/>
            <a:ext cx="7365210" cy="137411"/>
            <a:chOff x="284163" y="1577847"/>
            <a:chExt cx="8576373" cy="137411"/>
          </a:xfrm>
        </p:grpSpPr>
        <p:sp>
          <p:nvSpPr>
            <p:cNvPr id="32" name="Google Shape;32;p63"/>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63"/>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63"/>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pic>
        <p:nvPicPr>
          <p:cNvPr id="35" name="Google Shape;35;p63" descr="Image result for AIUB logo"/>
          <p:cNvPicPr preferRelativeResize="0"/>
          <p:nvPr/>
        </p:nvPicPr>
        <p:blipFill rotWithShape="1">
          <a:blip r:embed="rId2">
            <a:alphaModFix/>
          </a:blip>
          <a:srcRect/>
          <a:stretch/>
        </p:blipFill>
        <p:spPr>
          <a:xfrm>
            <a:off x="7649374" y="55844"/>
            <a:ext cx="1279161" cy="1287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66"/>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8" name="Google Shape;38;p66"/>
          <p:cNvGrpSpPr/>
          <p:nvPr/>
        </p:nvGrpSpPr>
        <p:grpSpPr>
          <a:xfrm>
            <a:off x="284163" y="1577847"/>
            <a:ext cx="8576373" cy="137411"/>
            <a:chOff x="284163" y="1577847"/>
            <a:chExt cx="8576373" cy="137411"/>
          </a:xfrm>
        </p:grpSpPr>
        <p:sp>
          <p:nvSpPr>
            <p:cNvPr id="39" name="Google Shape;39;p66"/>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 name="Google Shape;40;p66"/>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 name="Google Shape;41;p66"/>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2" name="Google Shape;42;p66"/>
          <p:cNvSpPr txBox="1">
            <a:spLocks noGrp="1"/>
          </p:cNvSpPr>
          <p:nvPr>
            <p:ph type="title"/>
          </p:nvPr>
        </p:nvSpPr>
        <p:spPr>
          <a:xfrm>
            <a:off x="284163" y="630382"/>
            <a:ext cx="8574087" cy="96784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200"/>
              <a:buFont typeface="Corbel"/>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6"/>
          <p:cNvSpPr txBox="1">
            <a:spLocks noGrp="1"/>
          </p:cNvSpPr>
          <p:nvPr>
            <p:ph type="body" idx="1"/>
          </p:nvPr>
        </p:nvSpPr>
        <p:spPr>
          <a:xfrm>
            <a:off x="284163" y="2133600"/>
            <a:ext cx="8574087" cy="3992563"/>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44" name="Google Shape;44;p66"/>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6"/>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6"/>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with Picture">
  <p:cSld name="Title Slide with Picture">
    <p:spTree>
      <p:nvGrpSpPr>
        <p:cNvPr id="1" name="Shape 47"/>
        <p:cNvGrpSpPr/>
        <p:nvPr/>
      </p:nvGrpSpPr>
      <p:grpSpPr>
        <a:xfrm>
          <a:off x="0" y="0"/>
          <a:ext cx="0" cy="0"/>
          <a:chOff x="0" y="0"/>
          <a:chExt cx="0" cy="0"/>
        </a:xfrm>
      </p:grpSpPr>
      <p:sp>
        <p:nvSpPr>
          <p:cNvPr id="48" name="Google Shape;48;p67"/>
          <p:cNvSpPr/>
          <p:nvPr/>
        </p:nvSpPr>
        <p:spPr>
          <a:xfrm>
            <a:off x="284163" y="444728"/>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sp>
        <p:nvSpPr>
          <p:cNvPr id="49" name="Google Shape;49;p67"/>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7"/>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7"/>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p67"/>
          <p:cNvSpPr>
            <a:spLocks noGrp="1"/>
          </p:cNvSpPr>
          <p:nvPr>
            <p:ph type="pic" idx="2"/>
          </p:nvPr>
        </p:nvSpPr>
        <p:spPr>
          <a:xfrm>
            <a:off x="284162" y="2017058"/>
            <a:ext cx="8574087" cy="4377391"/>
          </a:xfrm>
          <a:prstGeom prst="rect">
            <a:avLst/>
          </a:prstGeom>
          <a:noFill/>
          <a:ln>
            <a:noFill/>
          </a:ln>
        </p:spPr>
      </p:sp>
      <p:sp>
        <p:nvSpPr>
          <p:cNvPr id="53" name="Google Shape;53;p67"/>
          <p:cNvSpPr txBox="1">
            <a:spLocks noGrp="1"/>
          </p:cNvSpPr>
          <p:nvPr>
            <p:ph type="subTitle" idx="1"/>
          </p:nvPr>
        </p:nvSpPr>
        <p:spPr>
          <a:xfrm>
            <a:off x="472420" y="1532965"/>
            <a:ext cx="7754284" cy="484094"/>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SzPts val="1620"/>
              <a:buNone/>
              <a:defRPr sz="1800">
                <a:solidFill>
                  <a:schemeClr val="lt1"/>
                </a:solidFill>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a:endParaRPr/>
          </a:p>
        </p:txBody>
      </p:sp>
      <p:grpSp>
        <p:nvGrpSpPr>
          <p:cNvPr id="54" name="Google Shape;54;p67"/>
          <p:cNvGrpSpPr/>
          <p:nvPr/>
        </p:nvGrpSpPr>
        <p:grpSpPr>
          <a:xfrm>
            <a:off x="284163" y="1906542"/>
            <a:ext cx="8576373" cy="137411"/>
            <a:chOff x="284163" y="1759424"/>
            <a:chExt cx="8576373" cy="137411"/>
          </a:xfrm>
        </p:grpSpPr>
        <p:sp>
          <p:nvSpPr>
            <p:cNvPr id="55" name="Google Shape;55;p67"/>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56;p67"/>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 name="Google Shape;57;p67"/>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58" name="Google Shape;58;p67"/>
          <p:cNvSpPr txBox="1"/>
          <p:nvPr/>
        </p:nvSpPr>
        <p:spPr>
          <a:xfrm>
            <a:off x="8230889" y="444728"/>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59" name="Google Shape;59;p67"/>
          <p:cNvSpPr txBox="1">
            <a:spLocks noGrp="1"/>
          </p:cNvSpPr>
          <p:nvPr>
            <p:ph type="ctrTitle"/>
          </p:nvPr>
        </p:nvSpPr>
        <p:spPr>
          <a:xfrm>
            <a:off x="418633" y="444728"/>
            <a:ext cx="7810967" cy="1088237"/>
          </a:xfrm>
          <a:prstGeom prst="rect">
            <a:avLst/>
          </a:prstGeom>
          <a:noFill/>
          <a:ln>
            <a:noFill/>
          </a:ln>
        </p:spPr>
        <p:txBody>
          <a:bodyPr spcFirstLastPara="1" wrap="square" lIns="91425" tIns="45700" rIns="91425" bIns="45700" anchor="b" anchorCtr="0">
            <a:normAutofit/>
          </a:bodyPr>
          <a:lstStyle>
            <a:lvl1pPr lvl="0" algn="l">
              <a:lnSpc>
                <a:spcPct val="109523"/>
              </a:lnSpc>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68"/>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62" name="Google Shape;62;p68"/>
          <p:cNvGrpSpPr/>
          <p:nvPr/>
        </p:nvGrpSpPr>
        <p:grpSpPr>
          <a:xfrm>
            <a:off x="284163" y="6263389"/>
            <a:ext cx="8576373" cy="137411"/>
            <a:chOff x="284163" y="1759424"/>
            <a:chExt cx="8576373" cy="137411"/>
          </a:xfrm>
        </p:grpSpPr>
        <p:sp>
          <p:nvSpPr>
            <p:cNvPr id="63" name="Google Shape;63;p68"/>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68"/>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 name="Google Shape;65;p68"/>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66" name="Google Shape;66;p68"/>
          <p:cNvSpPr txBox="1"/>
          <p:nvPr/>
        </p:nvSpPr>
        <p:spPr>
          <a:xfrm>
            <a:off x="8230889" y="4801575"/>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67" name="Google Shape;67;p68"/>
          <p:cNvSpPr txBox="1">
            <a:spLocks noGrp="1"/>
          </p:cNvSpPr>
          <p:nvPr>
            <p:ph type="title"/>
          </p:nvPr>
        </p:nvSpPr>
        <p:spPr>
          <a:xfrm>
            <a:off x="429768" y="4814125"/>
            <a:ext cx="7772400" cy="10515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200"/>
              <a:buFont typeface="Corbel"/>
              <a:buNone/>
              <a:defRPr sz="42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8"/>
          <p:cNvSpPr txBox="1">
            <a:spLocks noGrp="1"/>
          </p:cNvSpPr>
          <p:nvPr>
            <p:ph type="body" idx="1"/>
          </p:nvPr>
        </p:nvSpPr>
        <p:spPr>
          <a:xfrm>
            <a:off x="475488" y="5861304"/>
            <a:ext cx="7735824" cy="402336"/>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20"/>
              <a:buNone/>
              <a:defRPr sz="1800">
                <a:solidFill>
                  <a:schemeClr val="lt1"/>
                </a:solidFill>
                <a:latin typeface="Calibri"/>
                <a:ea typeface="Calibri"/>
                <a:cs typeface="Calibri"/>
                <a:sym typeface="Calibri"/>
              </a:defRPr>
            </a:lvl1pPr>
            <a:lvl2pPr marL="914400" lvl="1" indent="-228600" algn="l">
              <a:spcBef>
                <a:spcPts val="600"/>
              </a:spcBef>
              <a:spcAft>
                <a:spcPts val="0"/>
              </a:spcAft>
              <a:buSzPts val="1620"/>
              <a:buNone/>
              <a:defRPr sz="1800">
                <a:solidFill>
                  <a:srgbClr val="888888"/>
                </a:solidFill>
              </a:defRPr>
            </a:lvl2pPr>
            <a:lvl3pPr marL="1371600" lvl="2" indent="-228600" algn="l">
              <a:spcBef>
                <a:spcPts val="600"/>
              </a:spcBef>
              <a:spcAft>
                <a:spcPts val="0"/>
              </a:spcAft>
              <a:buSzPts val="1440"/>
              <a:buNone/>
              <a:defRPr sz="1600">
                <a:solidFill>
                  <a:srgbClr val="888888"/>
                </a:solidFill>
              </a:defRPr>
            </a:lvl3pPr>
            <a:lvl4pPr marL="1828800" lvl="3" indent="-228600" algn="l">
              <a:spcBef>
                <a:spcPts val="600"/>
              </a:spcBef>
              <a:spcAft>
                <a:spcPts val="0"/>
              </a:spcAft>
              <a:buSzPts val="1260"/>
              <a:buNone/>
              <a:defRPr sz="1400">
                <a:solidFill>
                  <a:srgbClr val="888888"/>
                </a:solidFill>
              </a:defRPr>
            </a:lvl4pPr>
            <a:lvl5pPr marL="2286000" lvl="4" indent="-228600" algn="l">
              <a:spcBef>
                <a:spcPts val="600"/>
              </a:spcBef>
              <a:spcAft>
                <a:spcPts val="0"/>
              </a:spcAft>
              <a:buSzPts val="1260"/>
              <a:buNone/>
              <a:defRPr sz="1400">
                <a:solidFill>
                  <a:srgbClr val="888888"/>
                </a:solidFill>
              </a:defRPr>
            </a:lvl5pPr>
            <a:lvl6pPr marL="2743200" lvl="5" indent="-228600" algn="l">
              <a:spcBef>
                <a:spcPts val="600"/>
              </a:spcBef>
              <a:spcAft>
                <a:spcPts val="0"/>
              </a:spcAft>
              <a:buSzPts val="1260"/>
              <a:buNone/>
              <a:defRPr sz="1400">
                <a:solidFill>
                  <a:srgbClr val="888888"/>
                </a:solidFill>
              </a:defRPr>
            </a:lvl6pPr>
            <a:lvl7pPr marL="3200400" lvl="6" indent="-228600" algn="l">
              <a:spcBef>
                <a:spcPts val="600"/>
              </a:spcBef>
              <a:spcAft>
                <a:spcPts val="0"/>
              </a:spcAft>
              <a:buSzPts val="1260"/>
              <a:buNone/>
              <a:defRPr sz="1400">
                <a:solidFill>
                  <a:srgbClr val="888888"/>
                </a:solidFill>
              </a:defRPr>
            </a:lvl7pPr>
            <a:lvl8pPr marL="3657600" lvl="7" indent="-228600" algn="l">
              <a:spcBef>
                <a:spcPts val="600"/>
              </a:spcBef>
              <a:spcAft>
                <a:spcPts val="0"/>
              </a:spcAft>
              <a:buSzPts val="1260"/>
              <a:buNone/>
              <a:defRPr sz="1400">
                <a:solidFill>
                  <a:srgbClr val="888888"/>
                </a:solidFill>
              </a:defRPr>
            </a:lvl8pPr>
            <a:lvl9pPr marL="4114800" lvl="8" indent="-228600" algn="l">
              <a:spcBef>
                <a:spcPts val="600"/>
              </a:spcBef>
              <a:spcAft>
                <a:spcPts val="0"/>
              </a:spcAft>
              <a:buSzPts val="1260"/>
              <a:buNone/>
              <a:defRPr sz="1400">
                <a:solidFill>
                  <a:srgbClr val="888888"/>
                </a:solidFill>
              </a:defRPr>
            </a:lvl9pPr>
          </a:lstStyle>
          <a:p>
            <a:endParaRPr/>
          </a:p>
        </p:txBody>
      </p:sp>
      <p:sp>
        <p:nvSpPr>
          <p:cNvPr id="69" name="Google Shape;69;p68"/>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8"/>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8"/>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with Picture">
  <p:cSld name="Section with Picture">
    <p:spTree>
      <p:nvGrpSpPr>
        <p:cNvPr id="1" name="Shape 72"/>
        <p:cNvGrpSpPr/>
        <p:nvPr/>
      </p:nvGrpSpPr>
      <p:grpSpPr>
        <a:xfrm>
          <a:off x="0" y="0"/>
          <a:ext cx="0" cy="0"/>
          <a:chOff x="0" y="0"/>
          <a:chExt cx="0" cy="0"/>
        </a:xfrm>
      </p:grpSpPr>
      <p:sp>
        <p:nvSpPr>
          <p:cNvPr id="73" name="Google Shape;73;p69"/>
          <p:cNvSpPr>
            <a:spLocks noGrp="1"/>
          </p:cNvSpPr>
          <p:nvPr>
            <p:ph type="pic" idx="2"/>
          </p:nvPr>
        </p:nvSpPr>
        <p:spPr>
          <a:xfrm>
            <a:off x="284162" y="443754"/>
            <a:ext cx="8574087" cy="4370293"/>
          </a:xfrm>
          <a:prstGeom prst="rect">
            <a:avLst/>
          </a:prstGeom>
          <a:noFill/>
          <a:ln>
            <a:noFill/>
          </a:ln>
        </p:spPr>
      </p:sp>
      <p:sp>
        <p:nvSpPr>
          <p:cNvPr id="74" name="Google Shape;74;p69"/>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9"/>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9"/>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69"/>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78" name="Google Shape;78;p69"/>
          <p:cNvGrpSpPr/>
          <p:nvPr/>
        </p:nvGrpSpPr>
        <p:grpSpPr>
          <a:xfrm>
            <a:off x="284163" y="6263389"/>
            <a:ext cx="8576373" cy="137411"/>
            <a:chOff x="284163" y="1759424"/>
            <a:chExt cx="8576373" cy="137411"/>
          </a:xfrm>
        </p:grpSpPr>
        <p:sp>
          <p:nvSpPr>
            <p:cNvPr id="79" name="Google Shape;79;p69"/>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 name="Google Shape;80;p69"/>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 name="Google Shape;81;p69"/>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82" name="Google Shape;82;p69"/>
          <p:cNvSpPr txBox="1"/>
          <p:nvPr/>
        </p:nvSpPr>
        <p:spPr>
          <a:xfrm>
            <a:off x="8230889" y="4801575"/>
            <a:ext cx="58702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83" name="Google Shape;83;p69"/>
          <p:cNvSpPr txBox="1">
            <a:spLocks noGrp="1"/>
          </p:cNvSpPr>
          <p:nvPr>
            <p:ph type="title"/>
          </p:nvPr>
        </p:nvSpPr>
        <p:spPr>
          <a:xfrm>
            <a:off x="430306" y="4814047"/>
            <a:ext cx="7772400" cy="104887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200"/>
              <a:buFont typeface="Corbel"/>
              <a:buNone/>
              <a:defRPr sz="4200" b="0" i="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69"/>
          <p:cNvSpPr txBox="1">
            <a:spLocks noGrp="1"/>
          </p:cNvSpPr>
          <p:nvPr>
            <p:ph type="body" idx="1"/>
          </p:nvPr>
        </p:nvSpPr>
        <p:spPr>
          <a:xfrm>
            <a:off x="470647" y="5862918"/>
            <a:ext cx="7732059" cy="40341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20"/>
              <a:buNone/>
              <a:defRPr sz="1800">
                <a:solidFill>
                  <a:schemeClr val="lt1"/>
                </a:solidFill>
              </a:defRPr>
            </a:lvl1pPr>
            <a:lvl2pPr marL="914400" lvl="1" indent="-228600" algn="l">
              <a:spcBef>
                <a:spcPts val="600"/>
              </a:spcBef>
              <a:spcAft>
                <a:spcPts val="0"/>
              </a:spcAft>
              <a:buSzPts val="1620"/>
              <a:buNone/>
              <a:defRPr sz="1800">
                <a:solidFill>
                  <a:srgbClr val="888888"/>
                </a:solidFill>
              </a:defRPr>
            </a:lvl2pPr>
            <a:lvl3pPr marL="1371600" lvl="2" indent="-228600" algn="l">
              <a:spcBef>
                <a:spcPts val="600"/>
              </a:spcBef>
              <a:spcAft>
                <a:spcPts val="0"/>
              </a:spcAft>
              <a:buSzPts val="1440"/>
              <a:buNone/>
              <a:defRPr sz="1600">
                <a:solidFill>
                  <a:srgbClr val="888888"/>
                </a:solidFill>
              </a:defRPr>
            </a:lvl3pPr>
            <a:lvl4pPr marL="1828800" lvl="3" indent="-228600" algn="l">
              <a:spcBef>
                <a:spcPts val="600"/>
              </a:spcBef>
              <a:spcAft>
                <a:spcPts val="0"/>
              </a:spcAft>
              <a:buSzPts val="1260"/>
              <a:buNone/>
              <a:defRPr sz="1400">
                <a:solidFill>
                  <a:srgbClr val="888888"/>
                </a:solidFill>
              </a:defRPr>
            </a:lvl4pPr>
            <a:lvl5pPr marL="2286000" lvl="4" indent="-228600" algn="l">
              <a:spcBef>
                <a:spcPts val="600"/>
              </a:spcBef>
              <a:spcAft>
                <a:spcPts val="0"/>
              </a:spcAft>
              <a:buSzPts val="1260"/>
              <a:buNone/>
              <a:defRPr sz="1400">
                <a:solidFill>
                  <a:srgbClr val="888888"/>
                </a:solidFill>
              </a:defRPr>
            </a:lvl5pPr>
            <a:lvl6pPr marL="2743200" lvl="5" indent="-228600" algn="l">
              <a:spcBef>
                <a:spcPts val="600"/>
              </a:spcBef>
              <a:spcAft>
                <a:spcPts val="0"/>
              </a:spcAft>
              <a:buSzPts val="1260"/>
              <a:buNone/>
              <a:defRPr sz="1400">
                <a:solidFill>
                  <a:srgbClr val="888888"/>
                </a:solidFill>
              </a:defRPr>
            </a:lvl6pPr>
            <a:lvl7pPr marL="3200400" lvl="6" indent="-228600" algn="l">
              <a:spcBef>
                <a:spcPts val="600"/>
              </a:spcBef>
              <a:spcAft>
                <a:spcPts val="0"/>
              </a:spcAft>
              <a:buSzPts val="1260"/>
              <a:buNone/>
              <a:defRPr sz="1400">
                <a:solidFill>
                  <a:srgbClr val="888888"/>
                </a:solidFill>
              </a:defRPr>
            </a:lvl7pPr>
            <a:lvl8pPr marL="3657600" lvl="7" indent="-228600" algn="l">
              <a:spcBef>
                <a:spcPts val="600"/>
              </a:spcBef>
              <a:spcAft>
                <a:spcPts val="0"/>
              </a:spcAft>
              <a:buSzPts val="1260"/>
              <a:buNone/>
              <a:defRPr sz="1400">
                <a:solidFill>
                  <a:srgbClr val="888888"/>
                </a:solidFill>
              </a:defRPr>
            </a:lvl8pPr>
            <a:lvl9pPr marL="4114800" lvl="8" indent="-228600" algn="l">
              <a:spcBef>
                <a:spcPts val="600"/>
              </a:spcBef>
              <a:spcAft>
                <a:spcPts val="0"/>
              </a:spcAft>
              <a:buSzPts val="1260"/>
              <a:buNone/>
              <a:defRPr sz="14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
        <p:cNvGrpSpPr/>
        <p:nvPr/>
      </p:nvGrpSpPr>
      <p:grpSpPr>
        <a:xfrm>
          <a:off x="0" y="0"/>
          <a:ext cx="0" cy="0"/>
          <a:chOff x="0" y="0"/>
          <a:chExt cx="0" cy="0"/>
        </a:xfrm>
      </p:grpSpPr>
      <p:sp>
        <p:nvSpPr>
          <p:cNvPr id="86" name="Google Shape;86;p70"/>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87" name="Google Shape;87;p70"/>
          <p:cNvGrpSpPr/>
          <p:nvPr/>
        </p:nvGrpSpPr>
        <p:grpSpPr>
          <a:xfrm>
            <a:off x="284163" y="1577847"/>
            <a:ext cx="8576373" cy="137411"/>
            <a:chOff x="284163" y="1577847"/>
            <a:chExt cx="8576373" cy="137411"/>
          </a:xfrm>
        </p:grpSpPr>
        <p:sp>
          <p:nvSpPr>
            <p:cNvPr id="88" name="Google Shape;88;p70"/>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 name="Google Shape;89;p70"/>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 name="Google Shape;90;p70"/>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91" name="Google Shape;91;p70"/>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70"/>
          <p:cNvSpPr txBox="1">
            <a:spLocks noGrp="1"/>
          </p:cNvSpPr>
          <p:nvPr>
            <p:ph type="body" idx="1"/>
          </p:nvPr>
        </p:nvSpPr>
        <p:spPr>
          <a:xfrm>
            <a:off x="403412" y="2151063"/>
            <a:ext cx="3931920" cy="3975100"/>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93" name="Google Shape;93;p70"/>
          <p:cNvSpPr txBox="1">
            <a:spLocks noGrp="1"/>
          </p:cNvSpPr>
          <p:nvPr>
            <p:ph type="body" idx="2"/>
          </p:nvPr>
        </p:nvSpPr>
        <p:spPr>
          <a:xfrm>
            <a:off x="4778188" y="2151063"/>
            <a:ext cx="3931920" cy="3975100"/>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94" name="Google Shape;94;p70"/>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70"/>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70"/>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7"/>
        <p:cNvGrpSpPr/>
        <p:nvPr/>
      </p:nvGrpSpPr>
      <p:grpSpPr>
        <a:xfrm>
          <a:off x="0" y="0"/>
          <a:ext cx="0" cy="0"/>
          <a:chOff x="0" y="0"/>
          <a:chExt cx="0" cy="0"/>
        </a:xfrm>
      </p:grpSpPr>
      <p:sp>
        <p:nvSpPr>
          <p:cNvPr id="98" name="Google Shape;98;p71"/>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9" name="Google Shape;99;p71"/>
          <p:cNvGrpSpPr/>
          <p:nvPr/>
        </p:nvGrpSpPr>
        <p:grpSpPr>
          <a:xfrm>
            <a:off x="284163" y="1577847"/>
            <a:ext cx="8576373" cy="137411"/>
            <a:chOff x="284163" y="1577847"/>
            <a:chExt cx="8576373" cy="137411"/>
          </a:xfrm>
        </p:grpSpPr>
        <p:sp>
          <p:nvSpPr>
            <p:cNvPr id="100" name="Google Shape;100;p71"/>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 name="Google Shape;101;p71"/>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71"/>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03" name="Google Shape;103;p71"/>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1"/>
          <p:cNvSpPr txBox="1">
            <a:spLocks noGrp="1"/>
          </p:cNvSpPr>
          <p:nvPr>
            <p:ph type="body" idx="1"/>
          </p:nvPr>
        </p:nvSpPr>
        <p:spPr>
          <a:xfrm>
            <a:off x="403412" y="1735138"/>
            <a:ext cx="3931920" cy="833250"/>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600"/>
              </a:spcBef>
              <a:spcAft>
                <a:spcPts val="0"/>
              </a:spcAft>
              <a:buSzPts val="2340"/>
              <a:buNone/>
              <a:defRPr sz="2600" b="0">
                <a:solidFill>
                  <a:schemeClr val="accent1"/>
                </a:solidFill>
              </a:defRPr>
            </a:lvl1pPr>
            <a:lvl2pPr marL="914400" lvl="1" indent="-228600" algn="l">
              <a:spcBef>
                <a:spcPts val="600"/>
              </a:spcBef>
              <a:spcAft>
                <a:spcPts val="0"/>
              </a:spcAft>
              <a:buSzPts val="1800"/>
              <a:buNone/>
              <a:defRPr sz="2000" b="1"/>
            </a:lvl2pPr>
            <a:lvl3pPr marL="1371600" lvl="2" indent="-228600" algn="l">
              <a:spcBef>
                <a:spcPts val="600"/>
              </a:spcBef>
              <a:spcAft>
                <a:spcPts val="0"/>
              </a:spcAft>
              <a:buSzPts val="1620"/>
              <a:buNone/>
              <a:defRPr sz="1800" b="1"/>
            </a:lvl3pPr>
            <a:lvl4pPr marL="1828800" lvl="3" indent="-228600" algn="l">
              <a:spcBef>
                <a:spcPts val="600"/>
              </a:spcBef>
              <a:spcAft>
                <a:spcPts val="0"/>
              </a:spcAft>
              <a:buSzPts val="1440"/>
              <a:buNone/>
              <a:defRPr sz="1600" b="1"/>
            </a:lvl4pPr>
            <a:lvl5pPr marL="2286000" lvl="4" indent="-228600" algn="l">
              <a:spcBef>
                <a:spcPts val="600"/>
              </a:spcBef>
              <a:spcAft>
                <a:spcPts val="0"/>
              </a:spcAft>
              <a:buSzPts val="1440"/>
              <a:buNone/>
              <a:defRPr sz="1600" b="1"/>
            </a:lvl5pPr>
            <a:lvl6pPr marL="2743200" lvl="5" indent="-228600" algn="l">
              <a:spcBef>
                <a:spcPts val="600"/>
              </a:spcBef>
              <a:spcAft>
                <a:spcPts val="0"/>
              </a:spcAft>
              <a:buSzPts val="1440"/>
              <a:buNone/>
              <a:defRPr sz="1600" b="1"/>
            </a:lvl6pPr>
            <a:lvl7pPr marL="3200400" lvl="6" indent="-228600" algn="l">
              <a:spcBef>
                <a:spcPts val="600"/>
              </a:spcBef>
              <a:spcAft>
                <a:spcPts val="0"/>
              </a:spcAft>
              <a:buSzPts val="1440"/>
              <a:buNone/>
              <a:defRPr sz="1600" b="1"/>
            </a:lvl7pPr>
            <a:lvl8pPr marL="3657600" lvl="7" indent="-228600" algn="l">
              <a:spcBef>
                <a:spcPts val="600"/>
              </a:spcBef>
              <a:spcAft>
                <a:spcPts val="0"/>
              </a:spcAft>
              <a:buSzPts val="1440"/>
              <a:buNone/>
              <a:defRPr sz="1600" b="1"/>
            </a:lvl8pPr>
            <a:lvl9pPr marL="4114800" lvl="8" indent="-228600" algn="l">
              <a:spcBef>
                <a:spcPts val="600"/>
              </a:spcBef>
              <a:spcAft>
                <a:spcPts val="0"/>
              </a:spcAft>
              <a:buSzPts val="1440"/>
              <a:buNone/>
              <a:defRPr sz="1600" b="1"/>
            </a:lvl9pPr>
          </a:lstStyle>
          <a:p>
            <a:endParaRPr/>
          </a:p>
        </p:txBody>
      </p:sp>
      <p:sp>
        <p:nvSpPr>
          <p:cNvPr id="105" name="Google Shape;105;p71"/>
          <p:cNvSpPr txBox="1">
            <a:spLocks noGrp="1"/>
          </p:cNvSpPr>
          <p:nvPr>
            <p:ph type="body" idx="2"/>
          </p:nvPr>
        </p:nvSpPr>
        <p:spPr>
          <a:xfrm>
            <a:off x="403412" y="2590800"/>
            <a:ext cx="3931920" cy="3535362"/>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20039" algn="l">
              <a:spcBef>
                <a:spcPts val="600"/>
              </a:spcBef>
              <a:spcAft>
                <a:spcPts val="0"/>
              </a:spcAft>
              <a:buSzPts val="1440"/>
              <a:buChar char="🡽"/>
              <a:defRPr sz="1600"/>
            </a:lvl6pPr>
            <a:lvl7pPr marL="3200400" lvl="6" indent="-320039" algn="l">
              <a:spcBef>
                <a:spcPts val="600"/>
              </a:spcBef>
              <a:spcAft>
                <a:spcPts val="0"/>
              </a:spcAft>
              <a:buSzPts val="1440"/>
              <a:buChar char="🡽"/>
              <a:defRPr sz="1600"/>
            </a:lvl7pPr>
            <a:lvl8pPr marL="3657600" lvl="7" indent="-320040" algn="l">
              <a:spcBef>
                <a:spcPts val="600"/>
              </a:spcBef>
              <a:spcAft>
                <a:spcPts val="0"/>
              </a:spcAft>
              <a:buSzPts val="1440"/>
              <a:buChar char="🡽"/>
              <a:defRPr sz="1600"/>
            </a:lvl8pPr>
            <a:lvl9pPr marL="4114800" lvl="8" indent="-320040" algn="l">
              <a:spcBef>
                <a:spcPts val="600"/>
              </a:spcBef>
              <a:spcAft>
                <a:spcPts val="0"/>
              </a:spcAft>
              <a:buSzPts val="1440"/>
              <a:buChar char="🡽"/>
              <a:defRPr sz="1600"/>
            </a:lvl9pPr>
          </a:lstStyle>
          <a:p>
            <a:endParaRPr/>
          </a:p>
        </p:txBody>
      </p:sp>
      <p:sp>
        <p:nvSpPr>
          <p:cNvPr id="106" name="Google Shape;106;p71"/>
          <p:cNvSpPr txBox="1">
            <a:spLocks noGrp="1"/>
          </p:cNvSpPr>
          <p:nvPr>
            <p:ph type="body" idx="3"/>
          </p:nvPr>
        </p:nvSpPr>
        <p:spPr>
          <a:xfrm>
            <a:off x="4779495" y="1735138"/>
            <a:ext cx="3931920" cy="833250"/>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600"/>
              </a:spcBef>
              <a:spcAft>
                <a:spcPts val="0"/>
              </a:spcAft>
              <a:buSzPts val="2340"/>
              <a:buNone/>
              <a:defRPr sz="2600" b="0">
                <a:solidFill>
                  <a:schemeClr val="accent2"/>
                </a:solidFill>
              </a:defRPr>
            </a:lvl1pPr>
            <a:lvl2pPr marL="914400" lvl="1" indent="-228600" algn="l">
              <a:spcBef>
                <a:spcPts val="600"/>
              </a:spcBef>
              <a:spcAft>
                <a:spcPts val="0"/>
              </a:spcAft>
              <a:buSzPts val="1800"/>
              <a:buNone/>
              <a:defRPr sz="2000" b="1"/>
            </a:lvl2pPr>
            <a:lvl3pPr marL="1371600" lvl="2" indent="-228600" algn="l">
              <a:spcBef>
                <a:spcPts val="600"/>
              </a:spcBef>
              <a:spcAft>
                <a:spcPts val="0"/>
              </a:spcAft>
              <a:buSzPts val="1620"/>
              <a:buNone/>
              <a:defRPr sz="1800" b="1"/>
            </a:lvl3pPr>
            <a:lvl4pPr marL="1828800" lvl="3" indent="-228600" algn="l">
              <a:spcBef>
                <a:spcPts val="600"/>
              </a:spcBef>
              <a:spcAft>
                <a:spcPts val="0"/>
              </a:spcAft>
              <a:buSzPts val="1440"/>
              <a:buNone/>
              <a:defRPr sz="1600" b="1"/>
            </a:lvl4pPr>
            <a:lvl5pPr marL="2286000" lvl="4" indent="-228600" algn="l">
              <a:spcBef>
                <a:spcPts val="600"/>
              </a:spcBef>
              <a:spcAft>
                <a:spcPts val="0"/>
              </a:spcAft>
              <a:buSzPts val="1440"/>
              <a:buNone/>
              <a:defRPr sz="1600" b="1"/>
            </a:lvl5pPr>
            <a:lvl6pPr marL="2743200" lvl="5" indent="-228600" algn="l">
              <a:spcBef>
                <a:spcPts val="600"/>
              </a:spcBef>
              <a:spcAft>
                <a:spcPts val="0"/>
              </a:spcAft>
              <a:buSzPts val="1440"/>
              <a:buNone/>
              <a:defRPr sz="1600" b="1"/>
            </a:lvl6pPr>
            <a:lvl7pPr marL="3200400" lvl="6" indent="-228600" algn="l">
              <a:spcBef>
                <a:spcPts val="600"/>
              </a:spcBef>
              <a:spcAft>
                <a:spcPts val="0"/>
              </a:spcAft>
              <a:buSzPts val="1440"/>
              <a:buNone/>
              <a:defRPr sz="1600" b="1"/>
            </a:lvl7pPr>
            <a:lvl8pPr marL="3657600" lvl="7" indent="-228600" algn="l">
              <a:spcBef>
                <a:spcPts val="600"/>
              </a:spcBef>
              <a:spcAft>
                <a:spcPts val="0"/>
              </a:spcAft>
              <a:buSzPts val="1440"/>
              <a:buNone/>
              <a:defRPr sz="1600" b="1"/>
            </a:lvl8pPr>
            <a:lvl9pPr marL="4114800" lvl="8" indent="-228600" algn="l">
              <a:spcBef>
                <a:spcPts val="600"/>
              </a:spcBef>
              <a:spcAft>
                <a:spcPts val="0"/>
              </a:spcAft>
              <a:buSzPts val="1440"/>
              <a:buNone/>
              <a:defRPr sz="1600" b="1"/>
            </a:lvl9pPr>
          </a:lstStyle>
          <a:p>
            <a:endParaRPr/>
          </a:p>
        </p:txBody>
      </p:sp>
      <p:sp>
        <p:nvSpPr>
          <p:cNvPr id="107" name="Google Shape;107;p71"/>
          <p:cNvSpPr txBox="1">
            <a:spLocks noGrp="1"/>
          </p:cNvSpPr>
          <p:nvPr>
            <p:ph type="body" idx="4"/>
          </p:nvPr>
        </p:nvSpPr>
        <p:spPr>
          <a:xfrm>
            <a:off x="4779495" y="2590800"/>
            <a:ext cx="3931920" cy="3535362"/>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20039" algn="l">
              <a:spcBef>
                <a:spcPts val="600"/>
              </a:spcBef>
              <a:spcAft>
                <a:spcPts val="0"/>
              </a:spcAft>
              <a:buSzPts val="1440"/>
              <a:buChar char="🡽"/>
              <a:defRPr sz="1600"/>
            </a:lvl6pPr>
            <a:lvl7pPr marL="3200400" lvl="6" indent="-320039" algn="l">
              <a:spcBef>
                <a:spcPts val="600"/>
              </a:spcBef>
              <a:spcAft>
                <a:spcPts val="0"/>
              </a:spcAft>
              <a:buSzPts val="1440"/>
              <a:buChar char="🡽"/>
              <a:defRPr sz="1600"/>
            </a:lvl7pPr>
            <a:lvl8pPr marL="3657600" lvl="7" indent="-320040" algn="l">
              <a:spcBef>
                <a:spcPts val="600"/>
              </a:spcBef>
              <a:spcAft>
                <a:spcPts val="0"/>
              </a:spcAft>
              <a:buSzPts val="1440"/>
              <a:buChar char="🡽"/>
              <a:defRPr sz="1600"/>
            </a:lvl8pPr>
            <a:lvl9pPr marL="4114800" lvl="8" indent="-320040" algn="l">
              <a:spcBef>
                <a:spcPts val="600"/>
              </a:spcBef>
              <a:spcAft>
                <a:spcPts val="0"/>
              </a:spcAft>
              <a:buSzPts val="1440"/>
              <a:buChar char="🡽"/>
              <a:defRPr sz="1600"/>
            </a:lvl9pPr>
          </a:lstStyle>
          <a:p>
            <a:endParaRPr/>
          </a:p>
        </p:txBody>
      </p:sp>
      <p:sp>
        <p:nvSpPr>
          <p:cNvPr id="108" name="Google Shape;108;p7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7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7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72"/>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13" name="Google Shape;113;p72"/>
          <p:cNvGrpSpPr/>
          <p:nvPr/>
        </p:nvGrpSpPr>
        <p:grpSpPr>
          <a:xfrm>
            <a:off x="284163" y="1577847"/>
            <a:ext cx="8576373" cy="137411"/>
            <a:chOff x="284163" y="1577847"/>
            <a:chExt cx="8576373" cy="137411"/>
          </a:xfrm>
        </p:grpSpPr>
        <p:sp>
          <p:nvSpPr>
            <p:cNvPr id="114" name="Google Shape;114;p72"/>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Google Shape;115;p72"/>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72"/>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17" name="Google Shape;117;p72"/>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72"/>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72"/>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72"/>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1"/>
        <p:cNvGrpSpPr/>
        <p:nvPr/>
      </p:nvGrpSpPr>
      <p:grpSpPr>
        <a:xfrm>
          <a:off x="0" y="0"/>
          <a:ext cx="0" cy="0"/>
          <a:chOff x="0" y="0"/>
          <a:chExt cx="0" cy="0"/>
        </a:xfrm>
      </p:grpSpPr>
      <p:sp>
        <p:nvSpPr>
          <p:cNvPr id="122" name="Google Shape;122;p73"/>
          <p:cNvSpPr txBox="1">
            <a:spLocks noGrp="1"/>
          </p:cNvSpPr>
          <p:nvPr>
            <p:ph type="title"/>
          </p:nvPr>
        </p:nvSpPr>
        <p:spPr>
          <a:xfrm>
            <a:off x="268941" y="1298762"/>
            <a:ext cx="4069080" cy="11620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chemeClr val="accent2"/>
              </a:buClr>
              <a:buSzPts val="3200"/>
              <a:buFont typeface="Corbel"/>
              <a:buNone/>
              <a:defRPr sz="32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73"/>
          <p:cNvSpPr txBox="1">
            <a:spLocks noGrp="1"/>
          </p:cNvSpPr>
          <p:nvPr>
            <p:ph type="body" idx="1"/>
          </p:nvPr>
        </p:nvSpPr>
        <p:spPr>
          <a:xfrm>
            <a:off x="4783567" y="914400"/>
            <a:ext cx="4069080" cy="5211763"/>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124" name="Google Shape;124;p73"/>
          <p:cNvSpPr txBox="1">
            <a:spLocks noGrp="1"/>
          </p:cNvSpPr>
          <p:nvPr>
            <p:ph type="body" idx="2"/>
          </p:nvPr>
        </p:nvSpPr>
        <p:spPr>
          <a:xfrm>
            <a:off x="268941" y="2456329"/>
            <a:ext cx="4069080" cy="3182472"/>
          </a:xfrm>
          <a:prstGeom prst="rect">
            <a:avLst/>
          </a:prstGeom>
          <a:noFill/>
          <a:ln>
            <a:noFill/>
          </a:ln>
        </p:spPr>
        <p:txBody>
          <a:bodyPr spcFirstLastPara="1" wrap="square" lIns="91425" tIns="45700" rIns="91425" bIns="45700" anchor="t" anchorCtr="0">
            <a:normAutofit/>
          </a:bodyPr>
          <a:lstStyle>
            <a:lvl1pPr marL="457200" lvl="0" indent="-228600" algn="ctr">
              <a:spcBef>
                <a:spcPts val="600"/>
              </a:spcBef>
              <a:spcAft>
                <a:spcPts val="0"/>
              </a:spcAft>
              <a:buSzPts val="1620"/>
              <a:buNone/>
              <a:defRPr sz="1800"/>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25" name="Google Shape;125;p73"/>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73"/>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73"/>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28" name="Google Shape;128;p73"/>
          <p:cNvGrpSpPr/>
          <p:nvPr/>
        </p:nvGrpSpPr>
        <p:grpSpPr>
          <a:xfrm>
            <a:off x="284163" y="452718"/>
            <a:ext cx="8576373" cy="137411"/>
            <a:chOff x="284163" y="1577847"/>
            <a:chExt cx="8576373" cy="137411"/>
          </a:xfrm>
        </p:grpSpPr>
        <p:sp>
          <p:nvSpPr>
            <p:cNvPr id="129" name="Google Shape;129;p73"/>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73"/>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73"/>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2"/>
        <p:cNvGrpSpPr/>
        <p:nvPr/>
      </p:nvGrpSpPr>
      <p:grpSpPr>
        <a:xfrm>
          <a:off x="0" y="0"/>
          <a:ext cx="0" cy="0"/>
          <a:chOff x="0" y="0"/>
          <a:chExt cx="0" cy="0"/>
        </a:xfrm>
      </p:grpSpPr>
      <p:sp>
        <p:nvSpPr>
          <p:cNvPr id="133" name="Google Shape;133;p74"/>
          <p:cNvSpPr/>
          <p:nvPr/>
        </p:nvSpPr>
        <p:spPr>
          <a:xfrm>
            <a:off x="284163" y="4801575"/>
            <a:ext cx="857408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134" name="Google Shape;134;p74"/>
          <p:cNvGrpSpPr/>
          <p:nvPr/>
        </p:nvGrpSpPr>
        <p:grpSpPr>
          <a:xfrm>
            <a:off x="284163" y="6263389"/>
            <a:ext cx="8576373" cy="137411"/>
            <a:chOff x="284163" y="1759424"/>
            <a:chExt cx="8576373" cy="137411"/>
          </a:xfrm>
        </p:grpSpPr>
        <p:sp>
          <p:nvSpPr>
            <p:cNvPr id="135" name="Google Shape;135;p74"/>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74"/>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74"/>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38" name="Google Shape;138;p74"/>
          <p:cNvSpPr txBox="1">
            <a:spLocks noGrp="1"/>
          </p:cNvSpPr>
          <p:nvPr>
            <p:ph type="title"/>
          </p:nvPr>
        </p:nvSpPr>
        <p:spPr>
          <a:xfrm>
            <a:off x="363071" y="4800600"/>
            <a:ext cx="8360242"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orbel"/>
              <a:buNone/>
              <a:defRPr sz="28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74"/>
          <p:cNvSpPr>
            <a:spLocks noGrp="1"/>
          </p:cNvSpPr>
          <p:nvPr>
            <p:ph type="pic" idx="2"/>
          </p:nvPr>
        </p:nvSpPr>
        <p:spPr>
          <a:xfrm>
            <a:off x="284163" y="457199"/>
            <a:ext cx="8577072" cy="4352544"/>
          </a:xfrm>
          <a:prstGeom prst="rect">
            <a:avLst/>
          </a:prstGeom>
          <a:noFill/>
          <a:ln>
            <a:noFill/>
          </a:ln>
        </p:spPr>
      </p:sp>
      <p:sp>
        <p:nvSpPr>
          <p:cNvPr id="140" name="Google Shape;140;p74"/>
          <p:cNvSpPr txBox="1">
            <a:spLocks noGrp="1"/>
          </p:cNvSpPr>
          <p:nvPr>
            <p:ph type="body" idx="1"/>
          </p:nvPr>
        </p:nvSpPr>
        <p:spPr>
          <a:xfrm>
            <a:off x="419099" y="5367338"/>
            <a:ext cx="8304213"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41" name="Google Shape;141;p74"/>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74"/>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74"/>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Alt.">
  <p:cSld name="Picture with Caption, Alt.">
    <p:spTree>
      <p:nvGrpSpPr>
        <p:cNvPr id="1" name="Shape 144"/>
        <p:cNvGrpSpPr/>
        <p:nvPr/>
      </p:nvGrpSpPr>
      <p:grpSpPr>
        <a:xfrm>
          <a:off x="0" y="0"/>
          <a:ext cx="0" cy="0"/>
          <a:chOff x="0" y="0"/>
          <a:chExt cx="0" cy="0"/>
        </a:xfrm>
      </p:grpSpPr>
      <p:grpSp>
        <p:nvGrpSpPr>
          <p:cNvPr id="145" name="Google Shape;145;p75"/>
          <p:cNvGrpSpPr/>
          <p:nvPr/>
        </p:nvGrpSpPr>
        <p:grpSpPr>
          <a:xfrm>
            <a:off x="284163" y="4280647"/>
            <a:ext cx="8576373" cy="137411"/>
            <a:chOff x="284163" y="1759424"/>
            <a:chExt cx="8576373" cy="137411"/>
          </a:xfrm>
        </p:grpSpPr>
        <p:sp>
          <p:nvSpPr>
            <p:cNvPr id="146" name="Google Shape;146;p75"/>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75"/>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75"/>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49" name="Google Shape;149;p75"/>
          <p:cNvSpPr txBox="1">
            <a:spLocks noGrp="1"/>
          </p:cNvSpPr>
          <p:nvPr>
            <p:ph type="title"/>
          </p:nvPr>
        </p:nvSpPr>
        <p:spPr>
          <a:xfrm>
            <a:off x="363071" y="4778189"/>
            <a:ext cx="8360242"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2"/>
              </a:buClr>
              <a:buSzPts val="2800"/>
              <a:buFont typeface="Corbel"/>
              <a:buNone/>
              <a:defRPr sz="2800" b="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75"/>
          <p:cNvSpPr>
            <a:spLocks noGrp="1"/>
          </p:cNvSpPr>
          <p:nvPr>
            <p:ph type="pic" idx="2"/>
          </p:nvPr>
        </p:nvSpPr>
        <p:spPr>
          <a:xfrm>
            <a:off x="284163" y="457200"/>
            <a:ext cx="8577072" cy="3822192"/>
          </a:xfrm>
          <a:prstGeom prst="rect">
            <a:avLst/>
          </a:prstGeom>
          <a:noFill/>
          <a:ln>
            <a:noFill/>
          </a:ln>
        </p:spPr>
      </p:sp>
      <p:sp>
        <p:nvSpPr>
          <p:cNvPr id="151" name="Google Shape;151;p75"/>
          <p:cNvSpPr txBox="1">
            <a:spLocks noGrp="1"/>
          </p:cNvSpPr>
          <p:nvPr>
            <p:ph type="body" idx="1"/>
          </p:nvPr>
        </p:nvSpPr>
        <p:spPr>
          <a:xfrm>
            <a:off x="419099" y="5344927"/>
            <a:ext cx="8304213"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rgbClr val="262626"/>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52" name="Google Shape;152;p75"/>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75"/>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75"/>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Picture, and Caption">
  <p:cSld name="Content, Picture, and Caption">
    <p:spTree>
      <p:nvGrpSpPr>
        <p:cNvPr id="1" name="Shape 155"/>
        <p:cNvGrpSpPr/>
        <p:nvPr/>
      </p:nvGrpSpPr>
      <p:grpSpPr>
        <a:xfrm>
          <a:off x="0" y="0"/>
          <a:ext cx="0" cy="0"/>
          <a:chOff x="0" y="0"/>
          <a:chExt cx="0" cy="0"/>
        </a:xfrm>
      </p:grpSpPr>
      <p:sp>
        <p:nvSpPr>
          <p:cNvPr id="156" name="Google Shape;156;p76"/>
          <p:cNvSpPr txBox="1">
            <a:spLocks noGrp="1"/>
          </p:cNvSpPr>
          <p:nvPr>
            <p:ph type="body" idx="1"/>
          </p:nvPr>
        </p:nvSpPr>
        <p:spPr>
          <a:xfrm>
            <a:off x="3657600" y="914400"/>
            <a:ext cx="5195047" cy="5211763"/>
          </a:xfrm>
          <a:prstGeom prst="rect">
            <a:avLst/>
          </a:prstGeom>
          <a:noFill/>
          <a:ln>
            <a:noFill/>
          </a:ln>
        </p:spPr>
        <p:txBody>
          <a:bodyPr spcFirstLastPara="1" wrap="square" lIns="91425" tIns="45700" rIns="91425" bIns="45700" anchor="t" anchorCtr="0">
            <a:normAutofit/>
          </a:bodyPr>
          <a:lstStyle>
            <a:lvl1pPr marL="457200" lvl="0" indent="-354330" algn="l">
              <a:spcBef>
                <a:spcPts val="2000"/>
              </a:spcBef>
              <a:spcAft>
                <a:spcPts val="0"/>
              </a:spcAft>
              <a:buSzPts val="1980"/>
              <a:buChar char="🡽"/>
              <a:defRPr sz="2200"/>
            </a:lvl1pPr>
            <a:lvl2pPr marL="914400" lvl="1" indent="-342900" algn="l">
              <a:spcBef>
                <a:spcPts val="600"/>
              </a:spcBef>
              <a:spcAft>
                <a:spcPts val="0"/>
              </a:spcAft>
              <a:buSzPts val="1800"/>
              <a:buChar char="🡽"/>
              <a:defRPr sz="2000"/>
            </a:lvl2pPr>
            <a:lvl3pPr marL="1371600" lvl="2" indent="-331469" algn="l">
              <a:spcBef>
                <a:spcPts val="600"/>
              </a:spcBef>
              <a:spcAft>
                <a:spcPts val="0"/>
              </a:spcAft>
              <a:buSzPts val="1620"/>
              <a:buChar char="🡽"/>
              <a:defRPr sz="1800"/>
            </a:lvl3pPr>
            <a:lvl4pPr marL="1828800" lvl="3" indent="-331469" algn="l">
              <a:spcBef>
                <a:spcPts val="600"/>
              </a:spcBef>
              <a:spcAft>
                <a:spcPts val="0"/>
              </a:spcAft>
              <a:buSzPts val="1620"/>
              <a:buChar char="🡽"/>
              <a:defRPr sz="1800"/>
            </a:lvl4pPr>
            <a:lvl5pPr marL="2286000" lvl="4" indent="-331470" algn="l">
              <a:spcBef>
                <a:spcPts val="600"/>
              </a:spcBef>
              <a:spcAft>
                <a:spcPts val="0"/>
              </a:spcAft>
              <a:buSzPts val="1620"/>
              <a:buChar char="🡽"/>
              <a:defRPr sz="1800"/>
            </a:lvl5pPr>
            <a:lvl6pPr marL="2743200" lvl="5" indent="-331470" algn="l">
              <a:spcBef>
                <a:spcPts val="600"/>
              </a:spcBef>
              <a:spcAft>
                <a:spcPts val="0"/>
              </a:spcAft>
              <a:buSzPts val="1620"/>
              <a:buChar char="🡽"/>
              <a:defRPr sz="1800"/>
            </a:lvl6pPr>
            <a:lvl7pPr marL="3200400" lvl="6" indent="-331470" algn="l">
              <a:spcBef>
                <a:spcPts val="600"/>
              </a:spcBef>
              <a:spcAft>
                <a:spcPts val="0"/>
              </a:spcAft>
              <a:buSzPts val="1620"/>
              <a:buChar char="🡽"/>
              <a:defRPr sz="1800"/>
            </a:lvl7pPr>
            <a:lvl8pPr marL="3657600" lvl="7" indent="-331470" algn="l">
              <a:spcBef>
                <a:spcPts val="600"/>
              </a:spcBef>
              <a:spcAft>
                <a:spcPts val="0"/>
              </a:spcAft>
              <a:buSzPts val="1620"/>
              <a:buChar char="🡽"/>
              <a:defRPr sz="1800"/>
            </a:lvl8pPr>
            <a:lvl9pPr marL="4114800" lvl="8" indent="-331470" algn="l">
              <a:spcBef>
                <a:spcPts val="600"/>
              </a:spcBef>
              <a:spcAft>
                <a:spcPts val="0"/>
              </a:spcAft>
              <a:buSzPts val="1620"/>
              <a:buChar char="🡽"/>
              <a:defRPr sz="1800"/>
            </a:lvl9pPr>
          </a:lstStyle>
          <a:p>
            <a:endParaRPr/>
          </a:p>
        </p:txBody>
      </p:sp>
      <p:sp>
        <p:nvSpPr>
          <p:cNvPr id="157" name="Google Shape;157;p76"/>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76"/>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76"/>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0" name="Google Shape;160;p76"/>
          <p:cNvSpPr/>
          <p:nvPr/>
        </p:nvSpPr>
        <p:spPr>
          <a:xfrm>
            <a:off x="284163" y="4267200"/>
            <a:ext cx="2743200" cy="2120153"/>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sp>
        <p:nvSpPr>
          <p:cNvPr id="161" name="Google Shape;161;p76"/>
          <p:cNvSpPr txBox="1">
            <a:spLocks noGrp="1"/>
          </p:cNvSpPr>
          <p:nvPr>
            <p:ph type="body" idx="2"/>
          </p:nvPr>
        </p:nvSpPr>
        <p:spPr>
          <a:xfrm>
            <a:off x="419101" y="4953001"/>
            <a:ext cx="2472017" cy="1246094"/>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62" name="Google Shape;162;p76"/>
          <p:cNvSpPr txBox="1">
            <a:spLocks noGrp="1"/>
          </p:cNvSpPr>
          <p:nvPr>
            <p:ph type="title"/>
          </p:nvPr>
        </p:nvSpPr>
        <p:spPr>
          <a:xfrm>
            <a:off x="410764" y="4419600"/>
            <a:ext cx="2475395" cy="51098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000"/>
              <a:buFont typeface="Corbel"/>
              <a:buNone/>
              <a:defRPr sz="2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76"/>
          <p:cNvSpPr>
            <a:spLocks noGrp="1"/>
          </p:cNvSpPr>
          <p:nvPr>
            <p:ph type="pic" idx="3"/>
          </p:nvPr>
        </p:nvSpPr>
        <p:spPr>
          <a:xfrm>
            <a:off x="284164" y="594360"/>
            <a:ext cx="2743200" cy="3675888"/>
          </a:xfrm>
          <a:prstGeom prst="rect">
            <a:avLst/>
          </a:prstGeom>
          <a:noFill/>
          <a:ln>
            <a:noFill/>
          </a:ln>
        </p:spPr>
      </p:sp>
      <p:grpSp>
        <p:nvGrpSpPr>
          <p:cNvPr id="164" name="Google Shape;164;p76"/>
          <p:cNvGrpSpPr/>
          <p:nvPr/>
        </p:nvGrpSpPr>
        <p:grpSpPr>
          <a:xfrm>
            <a:off x="284163" y="461682"/>
            <a:ext cx="8576373" cy="137411"/>
            <a:chOff x="284163" y="1759424"/>
            <a:chExt cx="8576373" cy="137411"/>
          </a:xfrm>
        </p:grpSpPr>
        <p:sp>
          <p:nvSpPr>
            <p:cNvPr id="165" name="Google Shape;165;p76"/>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76"/>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76"/>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Pictures with Caption">
  <p:cSld name="3 Pictures with Caption">
    <p:spTree>
      <p:nvGrpSpPr>
        <p:cNvPr id="1" name="Shape 168"/>
        <p:cNvGrpSpPr/>
        <p:nvPr/>
      </p:nvGrpSpPr>
      <p:grpSpPr>
        <a:xfrm>
          <a:off x="0" y="0"/>
          <a:ext cx="0" cy="0"/>
          <a:chOff x="0" y="0"/>
          <a:chExt cx="0" cy="0"/>
        </a:xfrm>
      </p:grpSpPr>
      <p:sp>
        <p:nvSpPr>
          <p:cNvPr id="169" name="Google Shape;169;p77"/>
          <p:cNvSpPr/>
          <p:nvPr/>
        </p:nvSpPr>
        <p:spPr>
          <a:xfrm>
            <a:off x="3021013" y="4801575"/>
            <a:ext cx="5837237" cy="1468437"/>
          </a:xfrm>
          <a:prstGeom prst="rect">
            <a:avLst/>
          </a:prstGeom>
          <a:solidFill>
            <a:srgbClr val="262626">
              <a:alpha val="84705"/>
            </a:srgbClr>
          </a:solidFill>
          <a:ln>
            <a:noFill/>
          </a:ln>
        </p:spPr>
        <p:txBody>
          <a:bodyPr spcFirstLastPara="1" wrap="square" lIns="91425" tIns="45700" rIns="182875" bIns="365750" anchor="b" anchorCtr="0">
            <a:normAutofit/>
          </a:bodyPr>
          <a:lstStyle/>
          <a:p>
            <a:pPr marL="0" marR="0" lvl="0" indent="0" algn="l" rtl="0">
              <a:spcBef>
                <a:spcPts val="0"/>
              </a:spcBef>
              <a:spcAft>
                <a:spcPts val="0"/>
              </a:spcAft>
              <a:buClr>
                <a:schemeClr val="dk1"/>
              </a:buClr>
              <a:buSzPts val="4200"/>
              <a:buFont typeface="Calibri"/>
              <a:buNone/>
            </a:pPr>
            <a:endParaRPr sz="4200">
              <a:solidFill>
                <a:schemeClr val="lt1"/>
              </a:solidFill>
              <a:latin typeface="Corbel"/>
              <a:ea typeface="Corbel"/>
              <a:cs typeface="Corbel"/>
              <a:sym typeface="Corbel"/>
            </a:endParaRPr>
          </a:p>
        </p:txBody>
      </p:sp>
      <p:grpSp>
        <p:nvGrpSpPr>
          <p:cNvPr id="170" name="Google Shape;170;p77"/>
          <p:cNvGrpSpPr/>
          <p:nvPr/>
        </p:nvGrpSpPr>
        <p:grpSpPr>
          <a:xfrm>
            <a:off x="284163" y="6263389"/>
            <a:ext cx="8576373" cy="137411"/>
            <a:chOff x="284163" y="1759424"/>
            <a:chExt cx="8576373" cy="137411"/>
          </a:xfrm>
        </p:grpSpPr>
        <p:sp>
          <p:nvSpPr>
            <p:cNvPr id="171" name="Google Shape;171;p77"/>
            <p:cNvSpPr/>
            <p:nvPr/>
          </p:nvSpPr>
          <p:spPr>
            <a:xfrm>
              <a:off x="284163" y="1759424"/>
              <a:ext cx="2743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77"/>
            <p:cNvSpPr/>
            <p:nvPr/>
          </p:nvSpPr>
          <p:spPr>
            <a:xfrm>
              <a:off x="3026392" y="1759424"/>
              <a:ext cx="1600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77"/>
            <p:cNvSpPr/>
            <p:nvPr/>
          </p:nvSpPr>
          <p:spPr>
            <a:xfrm>
              <a:off x="4626864" y="1759424"/>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4" name="Google Shape;174;p77"/>
          <p:cNvSpPr txBox="1">
            <a:spLocks noGrp="1"/>
          </p:cNvSpPr>
          <p:nvPr>
            <p:ph type="title"/>
          </p:nvPr>
        </p:nvSpPr>
        <p:spPr>
          <a:xfrm>
            <a:off x="3031661" y="4800600"/>
            <a:ext cx="5691651"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orbel"/>
              <a:buNone/>
              <a:defRPr sz="2800" b="0" i="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77"/>
          <p:cNvSpPr>
            <a:spLocks noGrp="1"/>
          </p:cNvSpPr>
          <p:nvPr>
            <p:ph type="pic" idx="2"/>
          </p:nvPr>
        </p:nvSpPr>
        <p:spPr>
          <a:xfrm>
            <a:off x="3021014" y="457199"/>
            <a:ext cx="5833872" cy="4352544"/>
          </a:xfrm>
          <a:prstGeom prst="rect">
            <a:avLst/>
          </a:prstGeom>
          <a:noFill/>
          <a:ln>
            <a:noFill/>
          </a:ln>
        </p:spPr>
      </p:sp>
      <p:sp>
        <p:nvSpPr>
          <p:cNvPr id="176" name="Google Shape;176;p77"/>
          <p:cNvSpPr txBox="1">
            <a:spLocks noGrp="1"/>
          </p:cNvSpPr>
          <p:nvPr>
            <p:ph type="body" idx="1"/>
          </p:nvPr>
        </p:nvSpPr>
        <p:spPr>
          <a:xfrm>
            <a:off x="3069805" y="5367338"/>
            <a:ext cx="5653507"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260"/>
              <a:buNone/>
              <a:defRPr sz="1400">
                <a:solidFill>
                  <a:schemeClr val="lt1"/>
                </a:solidFill>
              </a:defRPr>
            </a:lvl1pPr>
            <a:lvl2pPr marL="914400" lvl="1" indent="-228600" algn="l">
              <a:spcBef>
                <a:spcPts val="600"/>
              </a:spcBef>
              <a:spcAft>
                <a:spcPts val="0"/>
              </a:spcAft>
              <a:buSzPts val="1080"/>
              <a:buNone/>
              <a:defRPr sz="1200"/>
            </a:lvl2pPr>
            <a:lvl3pPr marL="1371600" lvl="2" indent="-228600" algn="l">
              <a:spcBef>
                <a:spcPts val="600"/>
              </a:spcBef>
              <a:spcAft>
                <a:spcPts val="0"/>
              </a:spcAft>
              <a:buSzPts val="900"/>
              <a:buNone/>
              <a:defRPr sz="1000"/>
            </a:lvl3pPr>
            <a:lvl4pPr marL="1828800" lvl="3" indent="-228600" algn="l">
              <a:spcBef>
                <a:spcPts val="600"/>
              </a:spcBef>
              <a:spcAft>
                <a:spcPts val="0"/>
              </a:spcAft>
              <a:buSzPts val="810"/>
              <a:buNone/>
              <a:defRPr sz="900"/>
            </a:lvl4pPr>
            <a:lvl5pPr marL="2286000" lvl="4" indent="-228600" algn="l">
              <a:spcBef>
                <a:spcPts val="600"/>
              </a:spcBef>
              <a:spcAft>
                <a:spcPts val="0"/>
              </a:spcAft>
              <a:buSzPts val="810"/>
              <a:buNone/>
              <a:defRPr sz="900"/>
            </a:lvl5pPr>
            <a:lvl6pPr marL="2743200" lvl="5" indent="-228600" algn="l">
              <a:spcBef>
                <a:spcPts val="600"/>
              </a:spcBef>
              <a:spcAft>
                <a:spcPts val="0"/>
              </a:spcAft>
              <a:buSzPts val="810"/>
              <a:buNone/>
              <a:defRPr sz="900"/>
            </a:lvl6pPr>
            <a:lvl7pPr marL="3200400" lvl="6" indent="-228600" algn="l">
              <a:spcBef>
                <a:spcPts val="600"/>
              </a:spcBef>
              <a:spcAft>
                <a:spcPts val="0"/>
              </a:spcAft>
              <a:buSzPts val="810"/>
              <a:buNone/>
              <a:defRPr sz="900"/>
            </a:lvl7pPr>
            <a:lvl8pPr marL="3657600" lvl="7" indent="-228600" algn="l">
              <a:spcBef>
                <a:spcPts val="600"/>
              </a:spcBef>
              <a:spcAft>
                <a:spcPts val="0"/>
              </a:spcAft>
              <a:buSzPts val="810"/>
              <a:buNone/>
              <a:defRPr sz="900"/>
            </a:lvl8pPr>
            <a:lvl9pPr marL="4114800" lvl="8" indent="-228600" algn="l">
              <a:spcBef>
                <a:spcPts val="600"/>
              </a:spcBef>
              <a:spcAft>
                <a:spcPts val="0"/>
              </a:spcAft>
              <a:buSzPts val="810"/>
              <a:buNone/>
              <a:defRPr sz="900"/>
            </a:lvl9pPr>
          </a:lstStyle>
          <a:p>
            <a:endParaRPr/>
          </a:p>
        </p:txBody>
      </p:sp>
      <p:sp>
        <p:nvSpPr>
          <p:cNvPr id="177" name="Google Shape;177;p77"/>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77"/>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77"/>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0" name="Google Shape;180;p77"/>
          <p:cNvSpPr>
            <a:spLocks noGrp="1"/>
          </p:cNvSpPr>
          <p:nvPr>
            <p:ph type="pic" idx="3"/>
          </p:nvPr>
        </p:nvSpPr>
        <p:spPr>
          <a:xfrm>
            <a:off x="284164" y="457200"/>
            <a:ext cx="2736850" cy="2907792"/>
          </a:xfrm>
          <a:prstGeom prst="rect">
            <a:avLst/>
          </a:prstGeom>
          <a:noFill/>
          <a:ln>
            <a:noFill/>
          </a:ln>
        </p:spPr>
      </p:sp>
      <p:sp>
        <p:nvSpPr>
          <p:cNvPr id="181" name="Google Shape;181;p77"/>
          <p:cNvSpPr>
            <a:spLocks noGrp="1"/>
          </p:cNvSpPr>
          <p:nvPr>
            <p:ph type="pic" idx="4"/>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2"/>
        <p:cNvGrpSpPr/>
        <p:nvPr/>
      </p:nvGrpSpPr>
      <p:grpSpPr>
        <a:xfrm>
          <a:off x="0" y="0"/>
          <a:ext cx="0" cy="0"/>
          <a:chOff x="0" y="0"/>
          <a:chExt cx="0" cy="0"/>
        </a:xfrm>
      </p:grpSpPr>
      <p:sp>
        <p:nvSpPr>
          <p:cNvPr id="183" name="Google Shape;183;p78"/>
          <p:cNvSpPr/>
          <p:nvPr/>
        </p:nvSpPr>
        <p:spPr>
          <a:xfrm>
            <a:off x="284163" y="455773"/>
            <a:ext cx="8574087"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84" name="Google Shape;184;p78"/>
          <p:cNvGrpSpPr/>
          <p:nvPr/>
        </p:nvGrpSpPr>
        <p:grpSpPr>
          <a:xfrm>
            <a:off x="284163" y="1577847"/>
            <a:ext cx="8576373" cy="137411"/>
            <a:chOff x="284163" y="1577847"/>
            <a:chExt cx="8576373" cy="137411"/>
          </a:xfrm>
        </p:grpSpPr>
        <p:sp>
          <p:nvSpPr>
            <p:cNvPr id="185" name="Google Shape;185;p78"/>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78"/>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7" name="Google Shape;187;p78"/>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88" name="Google Shape;188;p78"/>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78"/>
          <p:cNvSpPr txBox="1">
            <a:spLocks noGrp="1"/>
          </p:cNvSpPr>
          <p:nvPr>
            <p:ph type="body" idx="1"/>
          </p:nvPr>
        </p:nvSpPr>
        <p:spPr>
          <a:xfrm rot="5400000">
            <a:off x="2564607" y="-146843"/>
            <a:ext cx="4013200" cy="8574087"/>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190" name="Google Shape;190;p78"/>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78"/>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78"/>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3"/>
        <p:cNvGrpSpPr/>
        <p:nvPr/>
      </p:nvGrpSpPr>
      <p:grpSpPr>
        <a:xfrm>
          <a:off x="0" y="0"/>
          <a:ext cx="0" cy="0"/>
          <a:chOff x="0" y="0"/>
          <a:chExt cx="0" cy="0"/>
        </a:xfrm>
      </p:grpSpPr>
      <p:sp>
        <p:nvSpPr>
          <p:cNvPr id="194" name="Google Shape;194;p79"/>
          <p:cNvSpPr/>
          <p:nvPr/>
        </p:nvSpPr>
        <p:spPr>
          <a:xfrm rot="5400000">
            <a:off x="5313882" y="2857535"/>
            <a:ext cx="5934615" cy="1133949"/>
          </a:xfrm>
          <a:prstGeom prst="rect">
            <a:avLst/>
          </a:prstGeom>
          <a:solidFill>
            <a:srgbClr val="262626">
              <a:alpha val="6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79"/>
          <p:cNvSpPr txBox="1">
            <a:spLocks noGrp="1"/>
          </p:cNvSpPr>
          <p:nvPr>
            <p:ph type="title"/>
          </p:nvPr>
        </p:nvSpPr>
        <p:spPr>
          <a:xfrm rot="5400000">
            <a:off x="5219069" y="2949131"/>
            <a:ext cx="5921375" cy="969264"/>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400"/>
              <a:buFont typeface="Corbel"/>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6" name="Google Shape;196;p79"/>
          <p:cNvSpPr txBox="1">
            <a:spLocks noGrp="1"/>
          </p:cNvSpPr>
          <p:nvPr>
            <p:ph type="body" idx="1"/>
          </p:nvPr>
        </p:nvSpPr>
        <p:spPr>
          <a:xfrm rot="5400000">
            <a:off x="564357" y="177007"/>
            <a:ext cx="5937250" cy="6497637"/>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197" name="Google Shape;197;p79"/>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79"/>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79"/>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00" name="Google Shape;200;p79"/>
          <p:cNvGrpSpPr/>
          <p:nvPr/>
        </p:nvGrpSpPr>
        <p:grpSpPr>
          <a:xfrm rot="5400000">
            <a:off x="4658724" y="3355723"/>
            <a:ext cx="5934456" cy="137411"/>
            <a:chOff x="284163" y="1577847"/>
            <a:chExt cx="8576373" cy="137411"/>
          </a:xfrm>
        </p:grpSpPr>
        <p:sp>
          <p:nvSpPr>
            <p:cNvPr id="201" name="Google Shape;201;p79"/>
            <p:cNvSpPr/>
            <p:nvPr/>
          </p:nvSpPr>
          <p:spPr>
            <a:xfrm>
              <a:off x="284163" y="1577847"/>
              <a:ext cx="1600200" cy="13741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79"/>
            <p:cNvSpPr/>
            <p:nvPr/>
          </p:nvSpPr>
          <p:spPr>
            <a:xfrm>
              <a:off x="1885174" y="1577847"/>
              <a:ext cx="2743200" cy="137411"/>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79"/>
            <p:cNvSpPr/>
            <p:nvPr/>
          </p:nvSpPr>
          <p:spPr>
            <a:xfrm>
              <a:off x="4626864" y="1577847"/>
              <a:ext cx="4233672" cy="13741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04"/>
        <p:cNvGrpSpPr/>
        <p:nvPr/>
      </p:nvGrpSpPr>
      <p:grpSpPr>
        <a:xfrm>
          <a:off x="0" y="0"/>
          <a:ext cx="0" cy="0"/>
          <a:chOff x="0" y="0"/>
          <a:chExt cx="0" cy="0"/>
        </a:xfrm>
      </p:grpSpPr>
      <p:sp>
        <p:nvSpPr>
          <p:cNvPr id="205" name="Google Shape;205;p80"/>
          <p:cNvSpPr txBox="1">
            <a:spLocks noGrp="1"/>
          </p:cNvSpPr>
          <p:nvPr>
            <p:ph type="title"/>
          </p:nvPr>
        </p:nvSpPr>
        <p:spPr>
          <a:xfrm>
            <a:off x="47625" y="60325"/>
            <a:ext cx="9048750" cy="83820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p80"/>
          <p:cNvSpPr txBox="1">
            <a:spLocks noGrp="1"/>
          </p:cNvSpPr>
          <p:nvPr>
            <p:ph type="body" idx="1"/>
          </p:nvPr>
        </p:nvSpPr>
        <p:spPr>
          <a:xfrm>
            <a:off x="28575" y="1019177"/>
            <a:ext cx="4465638" cy="5457825"/>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207" name="Google Shape;207;p80"/>
          <p:cNvSpPr txBox="1">
            <a:spLocks noGrp="1"/>
          </p:cNvSpPr>
          <p:nvPr>
            <p:ph type="body" idx="2"/>
          </p:nvPr>
        </p:nvSpPr>
        <p:spPr>
          <a:xfrm>
            <a:off x="4646613" y="1019177"/>
            <a:ext cx="4465637" cy="5457825"/>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208" name="Google Shape;208;p80"/>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80"/>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p80"/>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1">
                <a:solidFill>
                  <a:srgbClr val="262626"/>
                </a:solidFill>
                <a:latin typeface="Calibri"/>
                <a:ea typeface="Calibri"/>
                <a:cs typeface="Calibri"/>
                <a:sym typeface="Calibri"/>
              </a:defRPr>
            </a:lvl1pPr>
            <a:lvl2pPr marL="0" lvl="1" indent="0" algn="r">
              <a:spcBef>
                <a:spcPts val="0"/>
              </a:spcBef>
              <a:buNone/>
              <a:defRPr sz="1400" b="1">
                <a:solidFill>
                  <a:srgbClr val="262626"/>
                </a:solidFill>
                <a:latin typeface="Calibri"/>
                <a:ea typeface="Calibri"/>
                <a:cs typeface="Calibri"/>
                <a:sym typeface="Calibri"/>
              </a:defRPr>
            </a:lvl2pPr>
            <a:lvl3pPr marL="0" lvl="2" indent="0" algn="r">
              <a:spcBef>
                <a:spcPts val="0"/>
              </a:spcBef>
              <a:buNone/>
              <a:defRPr sz="1400" b="1">
                <a:solidFill>
                  <a:srgbClr val="262626"/>
                </a:solidFill>
                <a:latin typeface="Calibri"/>
                <a:ea typeface="Calibri"/>
                <a:cs typeface="Calibri"/>
                <a:sym typeface="Calibri"/>
              </a:defRPr>
            </a:lvl3pPr>
            <a:lvl4pPr marL="0" lvl="3" indent="0" algn="r">
              <a:spcBef>
                <a:spcPts val="0"/>
              </a:spcBef>
              <a:buNone/>
              <a:defRPr sz="1400" b="1">
                <a:solidFill>
                  <a:srgbClr val="262626"/>
                </a:solidFill>
                <a:latin typeface="Calibri"/>
                <a:ea typeface="Calibri"/>
                <a:cs typeface="Calibri"/>
                <a:sym typeface="Calibri"/>
              </a:defRPr>
            </a:lvl4pPr>
            <a:lvl5pPr marL="0" lvl="4" indent="0" algn="r">
              <a:spcBef>
                <a:spcPts val="0"/>
              </a:spcBef>
              <a:buNone/>
              <a:defRPr sz="1400" b="1">
                <a:solidFill>
                  <a:srgbClr val="262626"/>
                </a:solidFill>
                <a:latin typeface="Calibri"/>
                <a:ea typeface="Calibri"/>
                <a:cs typeface="Calibri"/>
                <a:sym typeface="Calibri"/>
              </a:defRPr>
            </a:lvl5pPr>
            <a:lvl6pPr marL="0" lvl="5" indent="0" algn="r">
              <a:spcBef>
                <a:spcPts val="0"/>
              </a:spcBef>
              <a:buNone/>
              <a:defRPr sz="1400" b="1">
                <a:solidFill>
                  <a:srgbClr val="262626"/>
                </a:solidFill>
                <a:latin typeface="Calibri"/>
                <a:ea typeface="Calibri"/>
                <a:cs typeface="Calibri"/>
                <a:sym typeface="Calibri"/>
              </a:defRPr>
            </a:lvl6pPr>
            <a:lvl7pPr marL="0" lvl="6" indent="0" algn="r">
              <a:spcBef>
                <a:spcPts val="0"/>
              </a:spcBef>
              <a:buNone/>
              <a:defRPr sz="1400" b="1">
                <a:solidFill>
                  <a:srgbClr val="262626"/>
                </a:solidFill>
                <a:latin typeface="Calibri"/>
                <a:ea typeface="Calibri"/>
                <a:cs typeface="Calibri"/>
                <a:sym typeface="Calibri"/>
              </a:defRPr>
            </a:lvl7pPr>
            <a:lvl8pPr marL="0" lvl="7" indent="0" algn="r">
              <a:spcBef>
                <a:spcPts val="0"/>
              </a:spcBef>
              <a:buNone/>
              <a:defRPr sz="1400" b="1">
                <a:solidFill>
                  <a:srgbClr val="262626"/>
                </a:solidFill>
                <a:latin typeface="Calibri"/>
                <a:ea typeface="Calibri"/>
                <a:cs typeface="Calibri"/>
                <a:sym typeface="Calibri"/>
              </a:defRPr>
            </a:lvl8pPr>
            <a:lvl9pPr marL="0" lvl="8" indent="0" algn="r">
              <a:spcBef>
                <a:spcPts val="0"/>
              </a:spcBef>
              <a:buNone/>
              <a:defRPr sz="1400" b="1">
                <a:solidFill>
                  <a:srgbClr val="262626"/>
                </a:solidFill>
                <a:latin typeface="Calibri"/>
                <a:ea typeface="Calibri"/>
                <a:cs typeface="Calibri"/>
                <a:sym typeface="Calibri"/>
              </a:defRPr>
            </a:lvl9pPr>
          </a:lstStyle>
          <a:p>
            <a:pPr marL="0" lvl="0" indent="0" algn="r" rtl="0">
              <a:spcBef>
                <a:spcPts val="0"/>
              </a:spcBef>
              <a:spcAft>
                <a:spcPts val="0"/>
              </a:spcAft>
              <a:buNone/>
            </a:pPr>
            <a:r>
              <a:rPr lang="en-US"/>
              <a:t>Dynamic Programming🡪</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211"/>
        <p:cNvGrpSpPr/>
        <p:nvPr/>
      </p:nvGrpSpPr>
      <p:grpSpPr>
        <a:xfrm>
          <a:off x="0" y="0"/>
          <a:ext cx="0" cy="0"/>
          <a:chOff x="0" y="0"/>
          <a:chExt cx="0" cy="0"/>
        </a:xfrm>
      </p:grpSpPr>
      <p:sp>
        <p:nvSpPr>
          <p:cNvPr id="212" name="Google Shape;212;p81"/>
          <p:cNvSpPr txBox="1">
            <a:spLocks noGrp="1"/>
          </p:cNvSpPr>
          <p:nvPr>
            <p:ph type="title"/>
          </p:nvPr>
        </p:nvSpPr>
        <p:spPr>
          <a:xfrm>
            <a:off x="47625" y="60325"/>
            <a:ext cx="9048750" cy="838200"/>
          </a:xfrm>
          <a:prstGeom prst="rect">
            <a:avLst/>
          </a:prstGeom>
          <a:solidFill>
            <a:srgbClr val="262626">
              <a:alpha val="69803"/>
            </a:srgbClr>
          </a:solidFill>
          <a:ln>
            <a:noFill/>
          </a:ln>
        </p:spPr>
        <p:txBody>
          <a:bodyPr spcFirstLastPara="1" wrap="square" lIns="91425" tIns="45700" rIns="91425" bIns="45700" anchor="ctr" anchorCtr="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81"/>
          <p:cNvSpPr txBox="1">
            <a:spLocks noGrp="1"/>
          </p:cNvSpPr>
          <p:nvPr>
            <p:ph type="body" idx="1"/>
          </p:nvPr>
        </p:nvSpPr>
        <p:spPr>
          <a:xfrm>
            <a:off x="28575" y="1019177"/>
            <a:ext cx="4465638" cy="5457825"/>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214" name="Google Shape;214;p81"/>
          <p:cNvSpPr txBox="1">
            <a:spLocks noGrp="1"/>
          </p:cNvSpPr>
          <p:nvPr>
            <p:ph type="body" idx="2"/>
          </p:nvPr>
        </p:nvSpPr>
        <p:spPr>
          <a:xfrm>
            <a:off x="4646613" y="1019177"/>
            <a:ext cx="4465637" cy="2652713"/>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215" name="Google Shape;215;p81"/>
          <p:cNvSpPr txBox="1">
            <a:spLocks noGrp="1"/>
          </p:cNvSpPr>
          <p:nvPr>
            <p:ph type="body" idx="3"/>
          </p:nvPr>
        </p:nvSpPr>
        <p:spPr>
          <a:xfrm>
            <a:off x="4646613" y="3824288"/>
            <a:ext cx="4465637" cy="2652712"/>
          </a:xfrm>
          <a:prstGeom prst="rect">
            <a:avLst/>
          </a:prstGeom>
          <a:noFill/>
          <a:ln>
            <a:noFill/>
          </a:ln>
        </p:spPr>
        <p:txBody>
          <a:bodyPr spcFirstLastPara="1" wrap="square" lIns="91425" tIns="45700" rIns="91425" bIns="45700" anchor="t" anchorCtr="0">
            <a:normAutofit/>
          </a:bodyPr>
          <a:lstStyle>
            <a:lvl1pPr marL="457200" lvl="0" indent="-331470" algn="l">
              <a:spcBef>
                <a:spcPts val="2000"/>
              </a:spcBef>
              <a:spcAft>
                <a:spcPts val="0"/>
              </a:spcAft>
              <a:buSzPts val="1620"/>
              <a:buChar char="🡽"/>
              <a:defRPr/>
            </a:lvl1pPr>
            <a:lvl2pPr marL="914400" lvl="1" indent="-331469" algn="l">
              <a:spcBef>
                <a:spcPts val="600"/>
              </a:spcBef>
              <a:spcAft>
                <a:spcPts val="0"/>
              </a:spcAft>
              <a:buSzPts val="1620"/>
              <a:buChar char="🡽"/>
              <a:defRPr/>
            </a:lvl2pPr>
            <a:lvl3pPr marL="1371600" lvl="2" indent="-331469" algn="l">
              <a:spcBef>
                <a:spcPts val="600"/>
              </a:spcBef>
              <a:spcAft>
                <a:spcPts val="0"/>
              </a:spcAft>
              <a:buSzPts val="1620"/>
              <a:buChar char="🡽"/>
              <a:defRPr/>
            </a:lvl3pPr>
            <a:lvl4pPr marL="1828800" lvl="3" indent="-331469" algn="l">
              <a:spcBef>
                <a:spcPts val="600"/>
              </a:spcBef>
              <a:spcAft>
                <a:spcPts val="0"/>
              </a:spcAft>
              <a:buSzPts val="1620"/>
              <a:buChar char="🡽"/>
              <a:defRPr/>
            </a:lvl4pPr>
            <a:lvl5pPr marL="2286000" lvl="4" indent="-331470" algn="l">
              <a:spcBef>
                <a:spcPts val="600"/>
              </a:spcBef>
              <a:spcAft>
                <a:spcPts val="0"/>
              </a:spcAft>
              <a:buSzPts val="1620"/>
              <a:buChar char="🡽"/>
              <a:defRPr/>
            </a:lvl5pPr>
            <a:lvl6pPr marL="2743200" lvl="5" indent="-331470" algn="l">
              <a:spcBef>
                <a:spcPts val="600"/>
              </a:spcBef>
              <a:spcAft>
                <a:spcPts val="0"/>
              </a:spcAft>
              <a:buSzPts val="1620"/>
              <a:buChar char="🡽"/>
              <a:defRPr/>
            </a:lvl6pPr>
            <a:lvl7pPr marL="3200400" lvl="6" indent="-331470" algn="l">
              <a:spcBef>
                <a:spcPts val="600"/>
              </a:spcBef>
              <a:spcAft>
                <a:spcPts val="0"/>
              </a:spcAft>
              <a:buSzPts val="1620"/>
              <a:buChar char="🡽"/>
              <a:defRPr/>
            </a:lvl7pPr>
            <a:lvl8pPr marL="3657600" lvl="7" indent="-331470" algn="l">
              <a:spcBef>
                <a:spcPts val="600"/>
              </a:spcBef>
              <a:spcAft>
                <a:spcPts val="0"/>
              </a:spcAft>
              <a:buSzPts val="1620"/>
              <a:buChar char="🡽"/>
              <a:defRPr/>
            </a:lvl8pPr>
            <a:lvl9pPr marL="4114800" lvl="8" indent="-331470" algn="l">
              <a:spcBef>
                <a:spcPts val="600"/>
              </a:spcBef>
              <a:spcAft>
                <a:spcPts val="0"/>
              </a:spcAft>
              <a:buSzPts val="1620"/>
              <a:buChar char="🡽"/>
              <a:defRPr/>
            </a:lvl9pPr>
          </a:lstStyle>
          <a:p>
            <a:endParaRPr/>
          </a:p>
        </p:txBody>
      </p:sp>
      <p:sp>
        <p:nvSpPr>
          <p:cNvPr id="216" name="Google Shape;216;p8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8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8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400" b="1">
                <a:solidFill>
                  <a:srgbClr val="262626"/>
                </a:solidFill>
                <a:latin typeface="Calibri"/>
                <a:ea typeface="Calibri"/>
                <a:cs typeface="Calibri"/>
                <a:sym typeface="Calibri"/>
              </a:defRPr>
            </a:lvl1pPr>
            <a:lvl2pPr marL="0" lvl="1" indent="0" algn="r">
              <a:spcBef>
                <a:spcPts val="0"/>
              </a:spcBef>
              <a:buNone/>
              <a:defRPr sz="1400" b="1">
                <a:solidFill>
                  <a:srgbClr val="262626"/>
                </a:solidFill>
                <a:latin typeface="Calibri"/>
                <a:ea typeface="Calibri"/>
                <a:cs typeface="Calibri"/>
                <a:sym typeface="Calibri"/>
              </a:defRPr>
            </a:lvl2pPr>
            <a:lvl3pPr marL="0" lvl="2" indent="0" algn="r">
              <a:spcBef>
                <a:spcPts val="0"/>
              </a:spcBef>
              <a:buNone/>
              <a:defRPr sz="1400" b="1">
                <a:solidFill>
                  <a:srgbClr val="262626"/>
                </a:solidFill>
                <a:latin typeface="Calibri"/>
                <a:ea typeface="Calibri"/>
                <a:cs typeface="Calibri"/>
                <a:sym typeface="Calibri"/>
              </a:defRPr>
            </a:lvl3pPr>
            <a:lvl4pPr marL="0" lvl="3" indent="0" algn="r">
              <a:spcBef>
                <a:spcPts val="0"/>
              </a:spcBef>
              <a:buNone/>
              <a:defRPr sz="1400" b="1">
                <a:solidFill>
                  <a:srgbClr val="262626"/>
                </a:solidFill>
                <a:latin typeface="Calibri"/>
                <a:ea typeface="Calibri"/>
                <a:cs typeface="Calibri"/>
                <a:sym typeface="Calibri"/>
              </a:defRPr>
            </a:lvl4pPr>
            <a:lvl5pPr marL="0" lvl="4" indent="0" algn="r">
              <a:spcBef>
                <a:spcPts val="0"/>
              </a:spcBef>
              <a:buNone/>
              <a:defRPr sz="1400" b="1">
                <a:solidFill>
                  <a:srgbClr val="262626"/>
                </a:solidFill>
                <a:latin typeface="Calibri"/>
                <a:ea typeface="Calibri"/>
                <a:cs typeface="Calibri"/>
                <a:sym typeface="Calibri"/>
              </a:defRPr>
            </a:lvl5pPr>
            <a:lvl6pPr marL="0" lvl="5" indent="0" algn="r">
              <a:spcBef>
                <a:spcPts val="0"/>
              </a:spcBef>
              <a:buNone/>
              <a:defRPr sz="1400" b="1">
                <a:solidFill>
                  <a:srgbClr val="262626"/>
                </a:solidFill>
                <a:latin typeface="Calibri"/>
                <a:ea typeface="Calibri"/>
                <a:cs typeface="Calibri"/>
                <a:sym typeface="Calibri"/>
              </a:defRPr>
            </a:lvl6pPr>
            <a:lvl7pPr marL="0" lvl="6" indent="0" algn="r">
              <a:spcBef>
                <a:spcPts val="0"/>
              </a:spcBef>
              <a:buNone/>
              <a:defRPr sz="1400" b="1">
                <a:solidFill>
                  <a:srgbClr val="262626"/>
                </a:solidFill>
                <a:latin typeface="Calibri"/>
                <a:ea typeface="Calibri"/>
                <a:cs typeface="Calibri"/>
                <a:sym typeface="Calibri"/>
              </a:defRPr>
            </a:lvl7pPr>
            <a:lvl8pPr marL="0" lvl="7" indent="0" algn="r">
              <a:spcBef>
                <a:spcPts val="0"/>
              </a:spcBef>
              <a:buNone/>
              <a:defRPr sz="1400" b="1">
                <a:solidFill>
                  <a:srgbClr val="262626"/>
                </a:solidFill>
                <a:latin typeface="Calibri"/>
                <a:ea typeface="Calibri"/>
                <a:cs typeface="Calibri"/>
                <a:sym typeface="Calibri"/>
              </a:defRPr>
            </a:lvl8pPr>
            <a:lvl9pPr marL="0" lvl="8" indent="0" algn="r">
              <a:spcBef>
                <a:spcPts val="0"/>
              </a:spcBef>
              <a:buNone/>
              <a:defRPr sz="1400" b="1">
                <a:solidFill>
                  <a:srgbClr val="262626"/>
                </a:solidFill>
                <a:latin typeface="Calibri"/>
                <a:ea typeface="Calibri"/>
                <a:cs typeface="Calibri"/>
                <a:sym typeface="Calibri"/>
              </a:defRPr>
            </a:lvl9pPr>
          </a:lstStyle>
          <a:p>
            <a:pPr marL="0" lvl="0" indent="0" algn="r" rtl="0">
              <a:spcBef>
                <a:spcPts val="0"/>
              </a:spcBef>
              <a:spcAft>
                <a:spcPts val="0"/>
              </a:spcAft>
              <a:buNone/>
            </a:pPr>
            <a:r>
              <a:rPr lang="en-US"/>
              <a:t>Dynamic Programming🡪</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5"/>
        <p:cNvGrpSpPr/>
        <p:nvPr/>
      </p:nvGrpSpPr>
      <p:grpSpPr>
        <a:xfrm>
          <a:off x="0" y="0"/>
          <a:ext cx="0" cy="0"/>
          <a:chOff x="0" y="0"/>
          <a:chExt cx="0" cy="0"/>
        </a:xfrm>
      </p:grpSpPr>
      <p:sp>
        <p:nvSpPr>
          <p:cNvPr id="226" name="Google Shape;226;p6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65"/>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28" name="Google Shape;228;p6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6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6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1"/>
        <p:cNvGrpSpPr/>
        <p:nvPr/>
      </p:nvGrpSpPr>
      <p:grpSpPr>
        <a:xfrm>
          <a:off x="0" y="0"/>
          <a:ext cx="0" cy="0"/>
          <a:chOff x="0" y="0"/>
          <a:chExt cx="0" cy="0"/>
        </a:xfrm>
      </p:grpSpPr>
      <p:sp>
        <p:nvSpPr>
          <p:cNvPr id="232" name="Google Shape;232;p8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8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34" name="Google Shape;234;p8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8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8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7"/>
        <p:cNvGrpSpPr/>
        <p:nvPr/>
      </p:nvGrpSpPr>
      <p:grpSpPr>
        <a:xfrm>
          <a:off x="0" y="0"/>
          <a:ext cx="0" cy="0"/>
          <a:chOff x="0" y="0"/>
          <a:chExt cx="0" cy="0"/>
        </a:xfrm>
      </p:grpSpPr>
      <p:sp>
        <p:nvSpPr>
          <p:cNvPr id="238" name="Google Shape;238;p83"/>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83"/>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40" name="Google Shape;240;p8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8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2" name="Google Shape;242;p8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43"/>
        <p:cNvGrpSpPr/>
        <p:nvPr/>
      </p:nvGrpSpPr>
      <p:grpSpPr>
        <a:xfrm>
          <a:off x="0" y="0"/>
          <a:ext cx="0" cy="0"/>
          <a:chOff x="0" y="0"/>
          <a:chExt cx="0" cy="0"/>
        </a:xfrm>
      </p:grpSpPr>
      <p:sp>
        <p:nvSpPr>
          <p:cNvPr id="244" name="Google Shape;244;p8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5" name="Google Shape;245;p84"/>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6" name="Google Shape;246;p84"/>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7" name="Google Shape;247;p8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8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8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0"/>
        <p:cNvGrpSpPr/>
        <p:nvPr/>
      </p:nvGrpSpPr>
      <p:grpSpPr>
        <a:xfrm>
          <a:off x="0" y="0"/>
          <a:ext cx="0" cy="0"/>
          <a:chOff x="0" y="0"/>
          <a:chExt cx="0" cy="0"/>
        </a:xfrm>
      </p:grpSpPr>
      <p:sp>
        <p:nvSpPr>
          <p:cNvPr id="251" name="Google Shape;251;p85"/>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2" name="Google Shape;252;p85"/>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253" name="Google Shape;253;p85"/>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4" name="Google Shape;254;p85"/>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255" name="Google Shape;255;p85"/>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6" name="Google Shape;256;p8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8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8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9"/>
        <p:cNvGrpSpPr/>
        <p:nvPr/>
      </p:nvGrpSpPr>
      <p:grpSpPr>
        <a:xfrm>
          <a:off x="0" y="0"/>
          <a:ext cx="0" cy="0"/>
          <a:chOff x="0" y="0"/>
          <a:chExt cx="0" cy="0"/>
        </a:xfrm>
      </p:grpSpPr>
      <p:sp>
        <p:nvSpPr>
          <p:cNvPr id="260" name="Google Shape;260;p86"/>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8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2" name="Google Shape;262;p8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3" name="Google Shape;263;p8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4"/>
        <p:cNvGrpSpPr/>
        <p:nvPr/>
      </p:nvGrpSpPr>
      <p:grpSpPr>
        <a:xfrm>
          <a:off x="0" y="0"/>
          <a:ext cx="0" cy="0"/>
          <a:chOff x="0" y="0"/>
          <a:chExt cx="0" cy="0"/>
        </a:xfrm>
      </p:grpSpPr>
      <p:sp>
        <p:nvSpPr>
          <p:cNvPr id="265" name="Google Shape;265;p8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 name="Google Shape;266;p8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8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68"/>
        <p:cNvGrpSpPr/>
        <p:nvPr/>
      </p:nvGrpSpPr>
      <p:grpSpPr>
        <a:xfrm>
          <a:off x="0" y="0"/>
          <a:ext cx="0" cy="0"/>
          <a:chOff x="0" y="0"/>
          <a:chExt cx="0" cy="0"/>
        </a:xfrm>
      </p:grpSpPr>
      <p:sp>
        <p:nvSpPr>
          <p:cNvPr id="269" name="Google Shape;269;p88"/>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0" name="Google Shape;270;p88"/>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271" name="Google Shape;271;p88"/>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272" name="Google Shape;272;p8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3" name="Google Shape;273;p8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4" name="Google Shape;274;p8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75"/>
        <p:cNvGrpSpPr/>
        <p:nvPr/>
      </p:nvGrpSpPr>
      <p:grpSpPr>
        <a:xfrm>
          <a:off x="0" y="0"/>
          <a:ext cx="0" cy="0"/>
          <a:chOff x="0" y="0"/>
          <a:chExt cx="0" cy="0"/>
        </a:xfrm>
      </p:grpSpPr>
      <p:sp>
        <p:nvSpPr>
          <p:cNvPr id="276" name="Google Shape;276;p8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7" name="Google Shape;277;p89"/>
          <p:cNvSpPr>
            <a:spLocks noGrp="1"/>
          </p:cNvSpPr>
          <p:nvPr>
            <p:ph type="pic" idx="2"/>
          </p:nvPr>
        </p:nvSpPr>
        <p:spPr>
          <a:xfrm>
            <a:off x="3887391" y="987426"/>
            <a:ext cx="4629150" cy="4873625"/>
          </a:xfrm>
          <a:prstGeom prst="rect">
            <a:avLst/>
          </a:prstGeom>
          <a:noFill/>
          <a:ln>
            <a:noFill/>
          </a:ln>
        </p:spPr>
      </p:sp>
      <p:sp>
        <p:nvSpPr>
          <p:cNvPr id="278" name="Google Shape;278;p89"/>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279" name="Google Shape;279;p8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0" name="Google Shape;280;p8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1" name="Google Shape;281;p8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2"/>
        <p:cNvGrpSpPr/>
        <p:nvPr/>
      </p:nvGrpSpPr>
      <p:grpSpPr>
        <a:xfrm>
          <a:off x="0" y="0"/>
          <a:ext cx="0" cy="0"/>
          <a:chOff x="0" y="0"/>
          <a:chExt cx="0" cy="0"/>
        </a:xfrm>
      </p:grpSpPr>
      <p:sp>
        <p:nvSpPr>
          <p:cNvPr id="283" name="Google Shape;283;p90"/>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 name="Google Shape;284;p9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85" name="Google Shape;285;p9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9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p9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8"/>
        <p:cNvGrpSpPr/>
        <p:nvPr/>
      </p:nvGrpSpPr>
      <p:grpSpPr>
        <a:xfrm>
          <a:off x="0" y="0"/>
          <a:ext cx="0" cy="0"/>
          <a:chOff x="0" y="0"/>
          <a:chExt cx="0" cy="0"/>
        </a:xfrm>
      </p:grpSpPr>
      <p:sp>
        <p:nvSpPr>
          <p:cNvPr id="289" name="Google Shape;289;p91"/>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91"/>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91" name="Google Shape;291;p9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9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9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txBox="1">
            <a:spLocks noGrp="1"/>
          </p:cNvSpPr>
          <p:nvPr>
            <p:ph type="body" idx="1"/>
          </p:nvPr>
        </p:nvSpPr>
        <p:spPr>
          <a:xfrm>
            <a:off x="1781503" y="2133600"/>
            <a:ext cx="7076747" cy="3992563"/>
          </a:xfrm>
          <a:prstGeom prst="rect">
            <a:avLst/>
          </a:prstGeom>
          <a:noFill/>
          <a:ln>
            <a:noFill/>
          </a:ln>
        </p:spPr>
        <p:txBody>
          <a:bodyPr spcFirstLastPara="1" wrap="square" lIns="91425" tIns="45700" rIns="91425" bIns="45700" anchor="t" anchorCtr="0">
            <a:normAutofit/>
          </a:bodyPr>
          <a:lstStyle>
            <a:lvl1pPr marL="457200" marR="0" lvl="0" indent="-365760" algn="l" rtl="0">
              <a:spcBef>
                <a:spcPts val="2000"/>
              </a:spcBef>
              <a:spcAft>
                <a:spcPts val="0"/>
              </a:spcAft>
              <a:buClr>
                <a:srgbClr val="A5A5A5"/>
              </a:buClr>
              <a:buSzPts val="2160"/>
              <a:buFont typeface="Noto Sans Symbols"/>
              <a:buChar char="🡽"/>
              <a:defRPr sz="2400" b="0" i="0" u="none" strike="noStrike" cap="none">
                <a:solidFill>
                  <a:srgbClr val="262626"/>
                </a:solidFill>
                <a:latin typeface="Calibri"/>
                <a:ea typeface="Calibri"/>
                <a:cs typeface="Calibri"/>
                <a:sym typeface="Calibri"/>
              </a:defRPr>
            </a:lvl1pPr>
            <a:lvl2pPr marL="914400" marR="0" lvl="1" indent="-354330" algn="l" rtl="0">
              <a:spcBef>
                <a:spcPts val="600"/>
              </a:spcBef>
              <a:spcAft>
                <a:spcPts val="0"/>
              </a:spcAft>
              <a:buClr>
                <a:srgbClr val="3F3F3F"/>
              </a:buClr>
              <a:buSzPts val="1980"/>
              <a:buFont typeface="Noto Sans Symbols"/>
              <a:buChar char="🡽"/>
              <a:defRPr sz="2200" b="0" i="0" u="none" strike="noStrike" cap="none">
                <a:solidFill>
                  <a:srgbClr val="262626"/>
                </a:solidFill>
                <a:latin typeface="Calibri"/>
                <a:ea typeface="Calibri"/>
                <a:cs typeface="Calibri"/>
                <a:sym typeface="Calibri"/>
              </a:defRPr>
            </a:lvl2pPr>
            <a:lvl3pPr marL="1371600" marR="0" lvl="2" indent="-342900" algn="l" rtl="0">
              <a:spcBef>
                <a:spcPts val="600"/>
              </a:spcBef>
              <a:spcAft>
                <a:spcPts val="0"/>
              </a:spcAft>
              <a:buClr>
                <a:srgbClr val="A5A5A5"/>
              </a:buClr>
              <a:buSzPts val="1800"/>
              <a:buFont typeface="Noto Sans Symbols"/>
              <a:buChar char="🡽"/>
              <a:defRPr sz="2000" b="0" i="0" u="none" strike="noStrike" cap="none">
                <a:solidFill>
                  <a:srgbClr val="262626"/>
                </a:solidFill>
                <a:latin typeface="Calibri"/>
                <a:ea typeface="Calibri"/>
                <a:cs typeface="Calibri"/>
                <a:sym typeface="Calibri"/>
              </a:defRPr>
            </a:lvl3pPr>
            <a:lvl4pPr marL="1828800" marR="0" lvl="3" indent="-331469"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4pPr>
            <a:lvl5pPr marL="2286000" marR="0" lvl="4"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5pPr>
            <a:lvl6pPr marL="2743200" marR="0" lvl="5" indent="-331470"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6pPr>
            <a:lvl7pPr marL="3200400" marR="0" lvl="6"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7pPr>
            <a:lvl8pPr marL="3657600" marR="0" lvl="7" indent="-331470" algn="l" rtl="0">
              <a:spcBef>
                <a:spcPts val="600"/>
              </a:spcBef>
              <a:spcAft>
                <a:spcPts val="0"/>
              </a:spcAft>
              <a:buClr>
                <a:srgbClr val="3F3F3F"/>
              </a:buClr>
              <a:buSzPts val="1620"/>
              <a:buFont typeface="Noto Sans Symbols"/>
              <a:buChar char="🡽"/>
              <a:defRPr sz="1800" b="0" i="0" u="none" strike="noStrike" cap="none">
                <a:solidFill>
                  <a:srgbClr val="262626"/>
                </a:solidFill>
                <a:latin typeface="Calibri"/>
                <a:ea typeface="Calibri"/>
                <a:cs typeface="Calibri"/>
                <a:sym typeface="Calibri"/>
              </a:defRPr>
            </a:lvl8pPr>
            <a:lvl9pPr marL="4114800" marR="0" lvl="8" indent="-331470" algn="l" rtl="0">
              <a:spcBef>
                <a:spcPts val="600"/>
              </a:spcBef>
              <a:spcAft>
                <a:spcPts val="0"/>
              </a:spcAft>
              <a:buClr>
                <a:srgbClr val="A5A5A5"/>
              </a:buClr>
              <a:buSzPts val="1620"/>
              <a:buFont typeface="Noto Sans Symbols"/>
              <a:buChar char="🡽"/>
              <a:defRPr sz="1800" b="0" i="0" u="none" strike="noStrike" cap="none">
                <a:solidFill>
                  <a:srgbClr val="262626"/>
                </a:solidFill>
                <a:latin typeface="Calibri"/>
                <a:ea typeface="Calibri"/>
                <a:cs typeface="Calibri"/>
                <a:sym typeface="Calibri"/>
              </a:defRPr>
            </a:lvl9pPr>
          </a:lstStyle>
          <a:p>
            <a:endParaRPr/>
          </a:p>
        </p:txBody>
      </p:sp>
      <p:sp>
        <p:nvSpPr>
          <p:cNvPr id="11" name="Google Shape;11;p61"/>
          <p:cNvSpPr txBox="1">
            <a:spLocks noGrp="1"/>
          </p:cNvSpPr>
          <p:nvPr>
            <p:ph type="dt" idx="10"/>
          </p:nvPr>
        </p:nvSpPr>
        <p:spPr>
          <a:xfrm>
            <a:off x="6794936" y="6437032"/>
            <a:ext cx="21336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100" b="1" i="0" u="none" strike="noStrike" cap="none">
                <a:solidFill>
                  <a:srgbClr val="A5A5A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61"/>
          <p:cNvSpPr txBox="1">
            <a:spLocks noGrp="1"/>
          </p:cNvSpPr>
          <p:nvPr>
            <p:ph type="ftr" idx="11"/>
          </p:nvPr>
        </p:nvSpPr>
        <p:spPr>
          <a:xfrm>
            <a:off x="199698" y="6437032"/>
            <a:ext cx="612490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100" b="1" i="0" u="none" strike="noStrike" cap="none">
                <a:solidFill>
                  <a:srgbClr val="A5A5A5"/>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1"/>
          <p:cNvSpPr txBox="1">
            <a:spLocks noGrp="1"/>
          </p:cNvSpPr>
          <p:nvPr>
            <p:ph type="sldNum" idx="12"/>
          </p:nvPr>
        </p:nvSpPr>
        <p:spPr>
          <a:xfrm>
            <a:off x="8306459" y="167347"/>
            <a:ext cx="630621" cy="35976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1" i="0" u="none" strike="noStrike" cap="none">
                <a:solidFill>
                  <a:srgbClr val="262626"/>
                </a:solidFill>
                <a:latin typeface="Calibri"/>
                <a:ea typeface="Calibri"/>
                <a:cs typeface="Calibri"/>
                <a:sym typeface="Calibri"/>
              </a:defRPr>
            </a:lvl1pPr>
            <a:lvl2pPr marL="0" marR="0" lvl="1" indent="0" algn="r" rtl="0">
              <a:spcBef>
                <a:spcPts val="0"/>
              </a:spcBef>
              <a:buNone/>
              <a:defRPr sz="1400" b="1" i="0" u="none" strike="noStrike" cap="none">
                <a:solidFill>
                  <a:srgbClr val="262626"/>
                </a:solidFill>
                <a:latin typeface="Calibri"/>
                <a:ea typeface="Calibri"/>
                <a:cs typeface="Calibri"/>
                <a:sym typeface="Calibri"/>
              </a:defRPr>
            </a:lvl2pPr>
            <a:lvl3pPr marL="0" marR="0" lvl="2" indent="0" algn="r" rtl="0">
              <a:spcBef>
                <a:spcPts val="0"/>
              </a:spcBef>
              <a:buNone/>
              <a:defRPr sz="1400" b="1" i="0" u="none" strike="noStrike" cap="none">
                <a:solidFill>
                  <a:srgbClr val="262626"/>
                </a:solidFill>
                <a:latin typeface="Calibri"/>
                <a:ea typeface="Calibri"/>
                <a:cs typeface="Calibri"/>
                <a:sym typeface="Calibri"/>
              </a:defRPr>
            </a:lvl3pPr>
            <a:lvl4pPr marL="0" marR="0" lvl="3" indent="0" algn="r" rtl="0">
              <a:spcBef>
                <a:spcPts val="0"/>
              </a:spcBef>
              <a:buNone/>
              <a:defRPr sz="1400" b="1" i="0" u="none" strike="noStrike" cap="none">
                <a:solidFill>
                  <a:srgbClr val="262626"/>
                </a:solidFill>
                <a:latin typeface="Calibri"/>
                <a:ea typeface="Calibri"/>
                <a:cs typeface="Calibri"/>
                <a:sym typeface="Calibri"/>
              </a:defRPr>
            </a:lvl4pPr>
            <a:lvl5pPr marL="0" marR="0" lvl="4" indent="0" algn="r" rtl="0">
              <a:spcBef>
                <a:spcPts val="0"/>
              </a:spcBef>
              <a:buNone/>
              <a:defRPr sz="1400" b="1" i="0" u="none" strike="noStrike" cap="none">
                <a:solidFill>
                  <a:srgbClr val="262626"/>
                </a:solidFill>
                <a:latin typeface="Calibri"/>
                <a:ea typeface="Calibri"/>
                <a:cs typeface="Calibri"/>
                <a:sym typeface="Calibri"/>
              </a:defRPr>
            </a:lvl5pPr>
            <a:lvl6pPr marL="0" marR="0" lvl="5" indent="0" algn="r" rtl="0">
              <a:spcBef>
                <a:spcPts val="0"/>
              </a:spcBef>
              <a:buNone/>
              <a:defRPr sz="1400" b="1" i="0" u="none" strike="noStrike" cap="none">
                <a:solidFill>
                  <a:srgbClr val="262626"/>
                </a:solidFill>
                <a:latin typeface="Calibri"/>
                <a:ea typeface="Calibri"/>
                <a:cs typeface="Calibri"/>
                <a:sym typeface="Calibri"/>
              </a:defRPr>
            </a:lvl6pPr>
            <a:lvl7pPr marL="0" marR="0" lvl="6" indent="0" algn="r" rtl="0">
              <a:spcBef>
                <a:spcPts val="0"/>
              </a:spcBef>
              <a:buNone/>
              <a:defRPr sz="1400" b="1" i="0" u="none" strike="noStrike" cap="none">
                <a:solidFill>
                  <a:srgbClr val="262626"/>
                </a:solidFill>
                <a:latin typeface="Calibri"/>
                <a:ea typeface="Calibri"/>
                <a:cs typeface="Calibri"/>
                <a:sym typeface="Calibri"/>
              </a:defRPr>
            </a:lvl7pPr>
            <a:lvl8pPr marL="0" marR="0" lvl="7" indent="0" algn="r" rtl="0">
              <a:spcBef>
                <a:spcPts val="0"/>
              </a:spcBef>
              <a:buNone/>
              <a:defRPr sz="1400" b="1" i="0" u="none" strike="noStrike" cap="none">
                <a:solidFill>
                  <a:srgbClr val="262626"/>
                </a:solidFill>
                <a:latin typeface="Calibri"/>
                <a:ea typeface="Calibri"/>
                <a:cs typeface="Calibri"/>
                <a:sym typeface="Calibri"/>
              </a:defRPr>
            </a:lvl8pPr>
            <a:lvl9pPr marL="0" marR="0" lvl="8" indent="0" algn="r" rtl="0">
              <a:spcBef>
                <a:spcPts val="0"/>
              </a:spcBef>
              <a:buNone/>
              <a:defRPr sz="1400" b="1" i="0" u="none" strike="noStrike" cap="none">
                <a:solidFill>
                  <a:srgbClr val="26262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61"/>
          <p:cNvSpPr txBox="1">
            <a:spLocks noGrp="1"/>
          </p:cNvSpPr>
          <p:nvPr>
            <p:ph type="title"/>
          </p:nvPr>
        </p:nvSpPr>
        <p:spPr>
          <a:xfrm>
            <a:off x="284163" y="630382"/>
            <a:ext cx="8574087" cy="967840"/>
          </a:xfrm>
          <a:prstGeom prst="rect">
            <a:avLst/>
          </a:prstGeom>
          <a:solidFill>
            <a:srgbClr val="262626">
              <a:alpha val="69803"/>
            </a:srgbClr>
          </a:solidFill>
          <a:ln>
            <a:noFill/>
          </a:ln>
        </p:spPr>
        <p:txBody>
          <a:bodyPr spcFirstLastPara="1" wrap="square" lIns="91425" tIns="45700" rIns="91425" bIns="45700" anchor="ctr" anchorCtr="0">
            <a:normAutofit/>
          </a:bodyPr>
          <a:lstStyle>
            <a:lvl1pPr marR="0" lvl="0" algn="r" rtl="0">
              <a:spcBef>
                <a:spcPts val="0"/>
              </a:spcBef>
              <a:spcAft>
                <a:spcPts val="0"/>
              </a:spcAft>
              <a:buClr>
                <a:schemeClr val="lt1"/>
              </a:buClr>
              <a:buSzPts val="4200"/>
              <a:buFont typeface="Corbel"/>
              <a:buNone/>
              <a:defRPr sz="4200" b="0" i="0" u="none" strike="noStrike" cap="non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
        <p:cNvGrpSpPr/>
        <p:nvPr/>
      </p:nvGrpSpPr>
      <p:grpSpPr>
        <a:xfrm>
          <a:off x="0" y="0"/>
          <a:ext cx="0" cy="0"/>
          <a:chOff x="0" y="0"/>
          <a:chExt cx="0" cy="0"/>
        </a:xfrm>
      </p:grpSpPr>
      <p:sp>
        <p:nvSpPr>
          <p:cNvPr id="220" name="Google Shape;220;p6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1" name="Google Shape;221;p6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22" name="Google Shape;222;p6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3" name="Google Shape;223;p6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4" name="Google Shape;224;p6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rgbClr val="888888"/>
                </a:solidFill>
                <a:latin typeface="Calibri"/>
                <a:ea typeface="Calibri"/>
                <a:cs typeface="Calibri"/>
                <a:sym typeface="Calibri"/>
              </a:defRPr>
            </a:lvl1pPr>
            <a:lvl2pPr marL="0" marR="0" lvl="1" indent="0" algn="r" rtl="0">
              <a:spcBef>
                <a:spcPts val="0"/>
              </a:spcBef>
              <a:buNone/>
              <a:defRPr sz="900">
                <a:solidFill>
                  <a:srgbClr val="888888"/>
                </a:solidFill>
                <a:latin typeface="Calibri"/>
                <a:ea typeface="Calibri"/>
                <a:cs typeface="Calibri"/>
                <a:sym typeface="Calibri"/>
              </a:defRPr>
            </a:lvl2pPr>
            <a:lvl3pPr marL="0" marR="0" lvl="2" indent="0" algn="r" rtl="0">
              <a:spcBef>
                <a:spcPts val="0"/>
              </a:spcBef>
              <a:buNone/>
              <a:defRPr sz="900">
                <a:solidFill>
                  <a:srgbClr val="888888"/>
                </a:solidFill>
                <a:latin typeface="Calibri"/>
                <a:ea typeface="Calibri"/>
                <a:cs typeface="Calibri"/>
                <a:sym typeface="Calibri"/>
              </a:defRPr>
            </a:lvl3pPr>
            <a:lvl4pPr marL="0" marR="0" lvl="3" indent="0" algn="r" rtl="0">
              <a:spcBef>
                <a:spcPts val="0"/>
              </a:spcBef>
              <a:buNone/>
              <a:defRPr sz="900">
                <a:solidFill>
                  <a:srgbClr val="888888"/>
                </a:solidFill>
                <a:latin typeface="Calibri"/>
                <a:ea typeface="Calibri"/>
                <a:cs typeface="Calibri"/>
                <a:sym typeface="Calibri"/>
              </a:defRPr>
            </a:lvl4pPr>
            <a:lvl5pPr marL="0" marR="0" lvl="4" indent="0" algn="r" rtl="0">
              <a:spcBef>
                <a:spcPts val="0"/>
              </a:spcBef>
              <a:buNone/>
              <a:defRPr sz="900">
                <a:solidFill>
                  <a:srgbClr val="888888"/>
                </a:solidFill>
                <a:latin typeface="Calibri"/>
                <a:ea typeface="Calibri"/>
                <a:cs typeface="Calibri"/>
                <a:sym typeface="Calibri"/>
              </a:defRPr>
            </a:lvl5pPr>
            <a:lvl6pPr marL="0" marR="0" lvl="5" indent="0" algn="r" rtl="0">
              <a:spcBef>
                <a:spcPts val="0"/>
              </a:spcBef>
              <a:buNone/>
              <a:defRPr sz="900">
                <a:solidFill>
                  <a:srgbClr val="888888"/>
                </a:solidFill>
                <a:latin typeface="Calibri"/>
                <a:ea typeface="Calibri"/>
                <a:cs typeface="Calibri"/>
                <a:sym typeface="Calibri"/>
              </a:defRPr>
            </a:lvl6pPr>
            <a:lvl7pPr marL="0" marR="0" lvl="6" indent="0" algn="r" rtl="0">
              <a:spcBef>
                <a:spcPts val="0"/>
              </a:spcBef>
              <a:buNone/>
              <a:defRPr sz="900">
                <a:solidFill>
                  <a:srgbClr val="888888"/>
                </a:solidFill>
                <a:latin typeface="Calibri"/>
                <a:ea typeface="Calibri"/>
                <a:cs typeface="Calibri"/>
                <a:sym typeface="Calibri"/>
              </a:defRPr>
            </a:lvl7pPr>
            <a:lvl8pPr marL="0" marR="0" lvl="7" indent="0" algn="r" rtl="0">
              <a:spcBef>
                <a:spcPts val="0"/>
              </a:spcBef>
              <a:buNone/>
              <a:defRPr sz="900">
                <a:solidFill>
                  <a:srgbClr val="888888"/>
                </a:solidFill>
                <a:latin typeface="Calibri"/>
                <a:ea typeface="Calibri"/>
                <a:cs typeface="Calibri"/>
                <a:sym typeface="Calibri"/>
              </a:defRPr>
            </a:lvl8pPr>
            <a:lvl9pPr marL="0" marR="0" lvl="8" indent="0" algn="r" rtl="0">
              <a:spcBef>
                <a:spcPts val="0"/>
              </a:spcBef>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ustak.nobi@aiub.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hyperlink" Target="https://algorithmist.com/wiki/Dynamic_programming"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s://www.topcoder.com/community/competitive-programming/tutorials/dynamic-programming-from-novice-to-advanc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Dynamic Programming</a:t>
            </a:r>
            <a:endParaRPr/>
          </a:p>
        </p:txBody>
      </p:sp>
      <p:sp>
        <p:nvSpPr>
          <p:cNvPr id="299" name="Google Shape;299;p1"/>
          <p:cNvSpPr txBox="1">
            <a:spLocks noGrp="1"/>
          </p:cNvSpPr>
          <p:nvPr>
            <p:ph type="subTitle" idx="1"/>
          </p:nvPr>
        </p:nvSpPr>
        <p:spPr>
          <a:xfrm>
            <a:off x="476205" y="1532427"/>
            <a:ext cx="2789509" cy="48463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A5A5A5"/>
              </a:buClr>
              <a:buSzPts val="1620"/>
              <a:buFont typeface="Noto Sans Symbols"/>
              <a:buNone/>
            </a:pPr>
            <a:r>
              <a:rPr lang="en-US"/>
              <a:t>Course Code: CSC 2211</a:t>
            </a:r>
            <a:endParaRPr/>
          </a:p>
        </p:txBody>
      </p:sp>
      <p:sp>
        <p:nvSpPr>
          <p:cNvPr id="300" name="Google Shape;300;p1"/>
          <p:cNvSpPr txBox="1"/>
          <p:nvPr/>
        </p:nvSpPr>
        <p:spPr>
          <a:xfrm>
            <a:off x="76971" y="2446757"/>
            <a:ext cx="9024614"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0070C0"/>
                </a:solidFill>
                <a:latin typeface="Arial"/>
                <a:ea typeface="Arial"/>
                <a:cs typeface="Arial"/>
                <a:sym typeface="Arial"/>
              </a:rPr>
              <a:t>Dept. of Computer Science</a:t>
            </a:r>
            <a:endParaRPr/>
          </a:p>
          <a:p>
            <a:pPr marL="0" marR="0" lvl="0" indent="0" algn="ctr" rtl="0">
              <a:spcBef>
                <a:spcPts val="0"/>
              </a:spcBef>
              <a:spcAft>
                <a:spcPts val="0"/>
              </a:spcAft>
              <a:buNone/>
            </a:pPr>
            <a:r>
              <a:rPr lang="en-US" sz="2000" b="1" i="0" u="none" strike="noStrike" cap="none">
                <a:solidFill>
                  <a:srgbClr val="0070C0"/>
                </a:solidFill>
                <a:latin typeface="Arial"/>
                <a:ea typeface="Arial"/>
                <a:cs typeface="Arial"/>
                <a:sym typeface="Arial"/>
              </a:rPr>
              <a:t>Faculty of Science and Technology</a:t>
            </a:r>
            <a:endParaRPr sz="2400" b="1" i="0" u="none" strike="noStrike" cap="none">
              <a:solidFill>
                <a:srgbClr val="0070C0"/>
              </a:solidFill>
              <a:latin typeface="Arial"/>
              <a:ea typeface="Arial"/>
              <a:cs typeface="Arial"/>
              <a:sym typeface="Arial"/>
            </a:endParaRPr>
          </a:p>
        </p:txBody>
      </p:sp>
      <p:graphicFrame>
        <p:nvGraphicFramePr>
          <p:cNvPr id="301" name="Google Shape;301;p1"/>
          <p:cNvGraphicFramePr/>
          <p:nvPr>
            <p:extLst>
              <p:ext uri="{D42A27DB-BD31-4B8C-83A1-F6EECF244321}">
                <p14:modId xmlns:p14="http://schemas.microsoft.com/office/powerpoint/2010/main" val="2501004141"/>
              </p:ext>
            </p:extLst>
          </p:nvPr>
        </p:nvGraphicFramePr>
        <p:xfrm>
          <a:off x="476205" y="5186042"/>
          <a:ext cx="8335800" cy="757450"/>
        </p:xfrm>
        <a:graphic>
          <a:graphicData uri="http://schemas.openxmlformats.org/drawingml/2006/table">
            <a:tbl>
              <a:tblPr firstRow="1" bandRow="1">
                <a:noFill/>
                <a:tableStyleId>{E83070E6-82E4-43B3-9350-0D09B30A6E41}</a:tableStyleId>
              </a:tblPr>
              <a:tblGrid>
                <a:gridCol w="1483225">
                  <a:extLst>
                    <a:ext uri="{9D8B030D-6E8A-4147-A177-3AD203B41FA5}">
                      <a16:colId xmlns:a16="http://schemas.microsoft.com/office/drawing/2014/main" val="20000"/>
                    </a:ext>
                  </a:extLst>
                </a:gridCol>
                <a:gridCol w="1397725">
                  <a:extLst>
                    <a:ext uri="{9D8B030D-6E8A-4147-A177-3AD203B41FA5}">
                      <a16:colId xmlns:a16="http://schemas.microsoft.com/office/drawing/2014/main" val="20001"/>
                    </a:ext>
                  </a:extLst>
                </a:gridCol>
                <a:gridCol w="1227900">
                  <a:extLst>
                    <a:ext uri="{9D8B030D-6E8A-4147-A177-3AD203B41FA5}">
                      <a16:colId xmlns:a16="http://schemas.microsoft.com/office/drawing/2014/main" val="20002"/>
                    </a:ext>
                  </a:extLst>
                </a:gridCol>
                <a:gridCol w="588525">
                  <a:extLst>
                    <a:ext uri="{9D8B030D-6E8A-4147-A177-3AD203B41FA5}">
                      <a16:colId xmlns:a16="http://schemas.microsoft.com/office/drawing/2014/main" val="20003"/>
                    </a:ext>
                  </a:extLst>
                </a:gridCol>
                <a:gridCol w="1250475">
                  <a:extLst>
                    <a:ext uri="{9D8B030D-6E8A-4147-A177-3AD203B41FA5}">
                      <a16:colId xmlns:a16="http://schemas.microsoft.com/office/drawing/2014/main" val="20004"/>
                    </a:ext>
                  </a:extLst>
                </a:gridCol>
                <a:gridCol w="2387950">
                  <a:extLst>
                    <a:ext uri="{9D8B030D-6E8A-4147-A177-3AD203B41FA5}">
                      <a16:colId xmlns:a16="http://schemas.microsoft.com/office/drawing/2014/main" val="20005"/>
                    </a:ext>
                  </a:extLst>
                </a:gridCol>
              </a:tblGrid>
              <a:tr h="378725">
                <a:tc>
                  <a:txBody>
                    <a:bodyPr/>
                    <a:lstStyle/>
                    <a:p>
                      <a:pPr marL="0" marR="0" lvl="0" indent="0" algn="l" rtl="0">
                        <a:spcBef>
                          <a:spcPts val="0"/>
                        </a:spcBef>
                        <a:spcAft>
                          <a:spcPts val="0"/>
                        </a:spcAft>
                        <a:buNone/>
                      </a:pPr>
                      <a:r>
                        <a:rPr lang="en-US" sz="1800" u="none" strike="noStrike" cap="none"/>
                        <a:t>Lecturer No:</a:t>
                      </a:r>
                      <a:endParaRPr/>
                    </a:p>
                  </a:txBody>
                  <a:tcPr marL="91450" marR="91450" marT="45725" marB="45725"/>
                </a:tc>
                <a:tc>
                  <a:txBody>
                    <a:bodyPr/>
                    <a:lstStyle/>
                    <a:p>
                      <a:pPr marL="0" marR="0" lvl="0" indent="0" algn="l" rtl="0">
                        <a:spcBef>
                          <a:spcPts val="0"/>
                        </a:spcBef>
                        <a:spcAft>
                          <a:spcPts val="0"/>
                        </a:spcAft>
                        <a:buNone/>
                      </a:pPr>
                      <a:r>
                        <a:rPr lang="en-US" sz="1800"/>
                        <a:t>F01</a:t>
                      </a:r>
                      <a:endParaRPr sz="1800"/>
                    </a:p>
                  </a:txBody>
                  <a:tcPr marL="91450" marR="91450" marT="45725" marB="45725"/>
                </a:tc>
                <a:tc>
                  <a:txBody>
                    <a:bodyPr/>
                    <a:lstStyle/>
                    <a:p>
                      <a:pPr marL="0" marR="0" lvl="0" indent="0" algn="l" rtl="0">
                        <a:spcBef>
                          <a:spcPts val="0"/>
                        </a:spcBef>
                        <a:spcAft>
                          <a:spcPts val="0"/>
                        </a:spcAft>
                        <a:buNone/>
                      </a:pPr>
                      <a:r>
                        <a:rPr lang="en-US" sz="1800"/>
                        <a:t>Week No:</a:t>
                      </a:r>
                      <a:endParaRPr/>
                    </a:p>
                  </a:txBody>
                  <a:tcPr marL="91450" marR="91450" marT="45725" marB="45725"/>
                </a:tc>
                <a:tc>
                  <a:txBody>
                    <a:bodyPr/>
                    <a:lstStyle/>
                    <a:p>
                      <a:pPr marL="0" marR="0" lvl="0" indent="0" algn="l" rtl="0">
                        <a:spcBef>
                          <a:spcPts val="0"/>
                        </a:spcBef>
                        <a:spcAft>
                          <a:spcPts val="0"/>
                        </a:spcAft>
                        <a:buNone/>
                      </a:pPr>
                      <a:r>
                        <a:rPr lang="en-US" sz="1800"/>
                        <a:t>08</a:t>
                      </a:r>
                      <a:endParaRPr/>
                    </a:p>
                  </a:txBody>
                  <a:tcPr marL="91450" marR="91450" marT="45725" marB="45725"/>
                </a:tc>
                <a:tc>
                  <a:txBody>
                    <a:bodyPr/>
                    <a:lstStyle/>
                    <a:p>
                      <a:pPr marL="0" marR="0" lvl="0" indent="0" algn="l" rtl="0">
                        <a:spcBef>
                          <a:spcPts val="0"/>
                        </a:spcBef>
                        <a:spcAft>
                          <a:spcPts val="0"/>
                        </a:spcAft>
                        <a:buNone/>
                      </a:pPr>
                      <a:r>
                        <a:rPr lang="en-US" sz="1800"/>
                        <a:t>Semester:</a:t>
                      </a:r>
                      <a:endParaRPr/>
                    </a:p>
                  </a:txBody>
                  <a:tcPr marL="91450" marR="91450" marT="45725" marB="45725"/>
                </a:tc>
                <a:tc>
                  <a:txBody>
                    <a:bodyPr/>
                    <a:lstStyle/>
                    <a:p>
                      <a:pPr marL="0" marR="0" lvl="0" indent="0" algn="l" rtl="0">
                        <a:spcBef>
                          <a:spcPts val="0"/>
                        </a:spcBef>
                        <a:spcAft>
                          <a:spcPts val="0"/>
                        </a:spcAft>
                        <a:buNone/>
                      </a:pPr>
                      <a:r>
                        <a:rPr lang="en-US" sz="1800"/>
                        <a:t>Summer 2022-2023</a:t>
                      </a:r>
                      <a:endParaRPr/>
                    </a:p>
                  </a:txBody>
                  <a:tcPr marL="91450" marR="91450" marT="45725" marB="45725"/>
                </a:tc>
                <a:extLst>
                  <a:ext uri="{0D108BD9-81ED-4DB2-BD59-A6C34878D82A}">
                    <a16:rowId xmlns:a16="http://schemas.microsoft.com/office/drawing/2014/main" val="10000"/>
                  </a:ext>
                </a:extLst>
              </a:tr>
              <a:tr h="378725">
                <a:tc>
                  <a:txBody>
                    <a:bodyPr/>
                    <a:lstStyle/>
                    <a:p>
                      <a:pPr marL="0" marR="0" lvl="0" indent="0" algn="l" rtl="0">
                        <a:lnSpc>
                          <a:spcPct val="100000"/>
                        </a:lnSpc>
                        <a:spcBef>
                          <a:spcPts val="0"/>
                        </a:spcBef>
                        <a:spcAft>
                          <a:spcPts val="0"/>
                        </a:spcAft>
                        <a:buClr>
                          <a:srgbClr val="000000"/>
                        </a:buClr>
                        <a:buSzPts val="1800"/>
                        <a:buFont typeface="Calibri"/>
                        <a:buNone/>
                      </a:pPr>
                      <a:r>
                        <a:rPr lang="en-US" sz="1800" b="1" i="0" u="none" strike="noStrike" cap="none">
                          <a:solidFill>
                            <a:srgbClr val="000000"/>
                          </a:solidFill>
                          <a:latin typeface="Calibri"/>
                          <a:ea typeface="Calibri"/>
                          <a:cs typeface="Calibri"/>
                          <a:sym typeface="Calibri"/>
                        </a:rPr>
                        <a:t>Lecturer:</a:t>
                      </a:r>
                      <a:endParaRPr/>
                    </a:p>
                  </a:txBody>
                  <a:tcPr marL="91450" marR="91450" marT="45725" marB="45725"/>
                </a:tc>
                <a:tc gridSpan="5">
                  <a:txBody>
                    <a:bodyPr/>
                    <a:lstStyle/>
                    <a:p>
                      <a:r>
                        <a:rPr lang="en-US" sz="1800" i="1" dirty="0"/>
                        <a:t>Md. </a:t>
                      </a:r>
                      <a:r>
                        <a:rPr lang="en-US" sz="1800" i="1" dirty="0" err="1"/>
                        <a:t>Mustak</a:t>
                      </a:r>
                      <a:r>
                        <a:rPr lang="en-US" sz="1800" i="1"/>
                        <a:t> Un Nobi, ( </a:t>
                      </a:r>
                      <a:r>
                        <a:rPr lang="en-US" sz="1800" i="1">
                          <a:hlinkClick r:id="rId3"/>
                        </a:rPr>
                        <a:t>mustak.nobi@aiub.edu</a:t>
                      </a:r>
                      <a:r>
                        <a:rPr lang="en-US" sz="1800" i="1"/>
                        <a:t> )</a:t>
                      </a:r>
                      <a:endParaRPr lang="en-US" sz="1800" i="1" dirty="0"/>
                    </a:p>
                  </a:txBody>
                  <a:tcPr marL="91450" marR="91450" marT="45725" marB="457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302" name="Google Shape;302;p1"/>
          <p:cNvSpPr txBox="1"/>
          <p:nvPr/>
        </p:nvSpPr>
        <p:spPr>
          <a:xfrm>
            <a:off x="3320578" y="1538380"/>
            <a:ext cx="4164439" cy="484632"/>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A5A5A5"/>
              </a:buClr>
              <a:buSzPts val="1620"/>
              <a:buFont typeface="Noto Sans Symbols"/>
              <a:buNone/>
            </a:pPr>
            <a:r>
              <a:rPr lang="en-US" sz="1800" b="0" i="0" u="none" strike="noStrike" cap="none">
                <a:solidFill>
                  <a:schemeClr val="lt1"/>
                </a:solidFill>
                <a:latin typeface="Calibri"/>
                <a:ea typeface="Calibri"/>
                <a:cs typeface="Calibri"/>
                <a:sym typeface="Calibri"/>
              </a:rPr>
              <a:t>Course Title: Algorithms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
          <p:cNvSpPr txBox="1">
            <a:spLocks noGrp="1"/>
          </p:cNvSpPr>
          <p:nvPr>
            <p:ph type="ctrTitle"/>
          </p:nvPr>
        </p:nvSpPr>
        <p:spPr>
          <a:xfrm>
            <a:off x="421341" y="449005"/>
            <a:ext cx="7808976" cy="1088136"/>
          </a:xfrm>
          <a:prstGeom prst="rect">
            <a:avLst/>
          </a:prstGeom>
          <a:noFill/>
          <a:ln>
            <a:noFill/>
          </a:ln>
        </p:spPr>
        <p:txBody>
          <a:bodyPr spcFirstLastPara="1" wrap="square" lIns="91425" tIns="45700" rIns="91425" bIns="45700" anchor="b" anchorCtr="0">
            <a:normAutofit/>
          </a:bodyPr>
          <a:lstStyle/>
          <a:p>
            <a:pPr marL="0" lvl="0" indent="0" algn="l" rtl="0">
              <a:lnSpc>
                <a:spcPct val="109523"/>
              </a:lnSpc>
              <a:spcBef>
                <a:spcPts val="0"/>
              </a:spcBef>
              <a:spcAft>
                <a:spcPts val="0"/>
              </a:spcAft>
              <a:buClr>
                <a:schemeClr val="lt1"/>
              </a:buClr>
              <a:buSzPts val="4200"/>
              <a:buFont typeface="Corbel"/>
              <a:buNone/>
            </a:pPr>
            <a:r>
              <a:rPr lang="en-US"/>
              <a:t>Lecture Outline</a:t>
            </a:r>
            <a:endParaRPr/>
          </a:p>
        </p:txBody>
      </p:sp>
      <p:sp>
        <p:nvSpPr>
          <p:cNvPr id="308" name="Google Shape;308;p2"/>
          <p:cNvSpPr txBox="1">
            <a:spLocks noGrp="1"/>
          </p:cNvSpPr>
          <p:nvPr>
            <p:ph type="subTitle" idx="1"/>
          </p:nvPr>
        </p:nvSpPr>
        <p:spPr>
          <a:xfrm>
            <a:off x="486697" y="2363928"/>
            <a:ext cx="7754112" cy="300993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2160"/>
              <a:buAutoNum type="arabicPeriod"/>
            </a:pPr>
            <a:r>
              <a:rPr lang="en-US" sz="2400">
                <a:solidFill>
                  <a:schemeClr val="dk1"/>
                </a:solidFill>
              </a:rPr>
              <a:t>Introduction to Dynamic Programming</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Elements of Dynamic Programming</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Designing a Dynamic Programming Algorithm</a:t>
            </a:r>
            <a:endParaRPr/>
          </a:p>
          <a:p>
            <a:pPr marL="342900" lvl="0" indent="-342900" algn="l" rtl="0">
              <a:lnSpc>
                <a:spcPct val="100000"/>
              </a:lnSpc>
              <a:spcBef>
                <a:spcPts val="0"/>
              </a:spcBef>
              <a:spcAft>
                <a:spcPts val="0"/>
              </a:spcAft>
              <a:buSzPts val="2160"/>
              <a:buAutoNum type="arabicPeriod"/>
            </a:pPr>
            <a:r>
              <a:rPr lang="en-US" sz="2400">
                <a:solidFill>
                  <a:schemeClr val="dk1"/>
                </a:solidFill>
              </a:rPr>
              <a:t>0/1 Knapsack Problem</a:t>
            </a:r>
            <a:endParaRPr/>
          </a:p>
          <a:p>
            <a:pPr marL="342900" lvl="0" indent="-205740" algn="l" rtl="0">
              <a:lnSpc>
                <a:spcPct val="100000"/>
              </a:lnSpc>
              <a:spcBef>
                <a:spcPts val="0"/>
              </a:spcBef>
              <a:spcAft>
                <a:spcPts val="0"/>
              </a:spcAft>
              <a:buSzPts val="2160"/>
              <a:buNone/>
            </a:pPr>
            <a:endParaRPr sz="2400">
              <a:solidFill>
                <a:schemeClr val="dk1"/>
              </a:solidFill>
            </a:endParaRPr>
          </a:p>
          <a:p>
            <a:pPr marL="342900" lvl="0" indent="-205740" algn="l" rtl="0">
              <a:lnSpc>
                <a:spcPct val="100000"/>
              </a:lnSpc>
              <a:spcBef>
                <a:spcPts val="0"/>
              </a:spcBef>
              <a:spcAft>
                <a:spcPts val="0"/>
              </a:spcAft>
              <a:buSzPts val="2160"/>
              <a:buNone/>
            </a:pPr>
            <a:endParaRPr sz="2400">
              <a:solidFill>
                <a:schemeClr val="dk1"/>
              </a:solidFill>
            </a:endParaRPr>
          </a:p>
          <a:p>
            <a:pPr marL="342900" lvl="0" indent="-205740" algn="l" rtl="0">
              <a:lnSpc>
                <a:spcPct val="100000"/>
              </a:lnSpc>
              <a:spcBef>
                <a:spcPts val="0"/>
              </a:spcBef>
              <a:spcAft>
                <a:spcPts val="0"/>
              </a:spcAft>
              <a:buSzPts val="2160"/>
              <a:buNone/>
            </a:pPr>
            <a:endParaRPr sz="2400">
              <a:solidFill>
                <a:schemeClr val="dk1"/>
              </a:solidFill>
            </a:endParaRPr>
          </a:p>
          <a:p>
            <a:pPr marL="342900" lvl="0" indent="-240030" algn="l" rtl="0">
              <a:lnSpc>
                <a:spcPct val="100000"/>
              </a:lnSpc>
              <a:spcBef>
                <a:spcPts val="0"/>
              </a:spcBef>
              <a:spcAft>
                <a:spcPts val="0"/>
              </a:spcAft>
              <a:buSzPts val="1620"/>
              <a:buNone/>
            </a:pPr>
            <a:endParaRPr>
              <a:solidFill>
                <a:schemeClr val="dk1"/>
              </a:solidFill>
            </a:endParaRPr>
          </a:p>
          <a:p>
            <a:pPr marL="342900" lvl="0" indent="-240030" algn="l" rtl="0">
              <a:lnSpc>
                <a:spcPct val="100000"/>
              </a:lnSpc>
              <a:spcBef>
                <a:spcPts val="0"/>
              </a:spcBef>
              <a:spcAft>
                <a:spcPts val="0"/>
              </a:spcAft>
              <a:buSzPts val="1620"/>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313"/>
        <p:cNvGrpSpPr/>
        <p:nvPr/>
      </p:nvGrpSpPr>
      <p:grpSpPr>
        <a:xfrm>
          <a:off x="0" y="0"/>
          <a:ext cx="0" cy="0"/>
          <a:chOff x="0" y="0"/>
          <a:chExt cx="0" cy="0"/>
        </a:xfrm>
      </p:grpSpPr>
      <p:sp>
        <p:nvSpPr>
          <p:cNvPr id="314" name="Google Shape;314;p3"/>
          <p:cNvSpPr txBox="1">
            <a:spLocks noGrp="1"/>
          </p:cNvSpPr>
          <p:nvPr>
            <p:ph type="sldNum" idx="4294967295"/>
          </p:nvPr>
        </p:nvSpPr>
        <p:spPr>
          <a:xfrm>
            <a:off x="8756650" y="6584950"/>
            <a:ext cx="3351213" cy="47625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400" b="0" i="0" u="none" strike="noStrike" cap="none">
                <a:solidFill>
                  <a:schemeClr val="dk1"/>
                </a:solidFill>
                <a:latin typeface="Arial"/>
                <a:ea typeface="Arial"/>
                <a:cs typeface="Arial"/>
                <a:sym typeface="Arial"/>
              </a:rPr>
              <a:t>Dynamic Programming🡪</a:t>
            </a:r>
            <a:fld id="{00000000-1234-1234-1234-123412341234}" type="slidenum">
              <a:rPr lang="en-US" sz="1400" b="0" i="0" u="none" strike="noStrike" cap="none">
                <a:solidFill>
                  <a:schemeClr val="dk1"/>
                </a:solidFill>
                <a:latin typeface="Arial"/>
                <a:ea typeface="Arial"/>
                <a:cs typeface="Arial"/>
                <a:sym typeface="Arial"/>
              </a:rPr>
              <a:t>3</a:t>
            </a:fld>
            <a:endParaRPr sz="1400" b="0" i="0" u="none" strike="noStrike" cap="none">
              <a:solidFill>
                <a:schemeClr val="dk1"/>
              </a:solidFill>
              <a:latin typeface="Arial"/>
              <a:ea typeface="Arial"/>
              <a:cs typeface="Arial"/>
              <a:sym typeface="Arial"/>
            </a:endParaRPr>
          </a:p>
        </p:txBody>
      </p:sp>
      <p:sp>
        <p:nvSpPr>
          <p:cNvPr id="315" name="Google Shape;315;p3"/>
          <p:cNvSpPr txBox="1">
            <a:spLocks noGrp="1"/>
          </p:cNvSpPr>
          <p:nvPr>
            <p:ph type="title" idx="4294967295"/>
          </p:nvPr>
        </p:nvSpPr>
        <p:spPr>
          <a:xfrm>
            <a:off x="13101" y="588867"/>
            <a:ext cx="9048725" cy="62881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Fibonacci Numbers</a:t>
            </a:r>
            <a:endParaRPr/>
          </a:p>
        </p:txBody>
      </p:sp>
      <p:sp>
        <p:nvSpPr>
          <p:cNvPr id="316" name="Google Shape;316;p3"/>
          <p:cNvSpPr txBox="1">
            <a:spLocks noGrp="1"/>
          </p:cNvSpPr>
          <p:nvPr>
            <p:ph type="body" idx="4294967295"/>
          </p:nvPr>
        </p:nvSpPr>
        <p:spPr>
          <a:xfrm>
            <a:off x="1184386" y="1866053"/>
            <a:ext cx="6279801" cy="1649446"/>
          </a:xfrm>
          <a:prstGeom prst="rect">
            <a:avLst/>
          </a:prstGeom>
          <a:noFill/>
          <a:ln>
            <a:noFill/>
          </a:ln>
        </p:spPr>
        <p:txBody>
          <a:bodyPr spcFirstLastPara="1" wrap="square" lIns="91425" tIns="45700" rIns="91425" bIns="45700" anchor="t" anchorCtr="0">
            <a:normAutofit/>
          </a:bodyPr>
          <a:lstStyle/>
          <a:p>
            <a:pPr marL="454025" lvl="0" indent="-454025" algn="l" rtl="0">
              <a:lnSpc>
                <a:spcPct val="90000"/>
              </a:lnSpc>
              <a:spcBef>
                <a:spcPts val="0"/>
              </a:spcBef>
              <a:spcAft>
                <a:spcPts val="0"/>
              </a:spcAft>
              <a:buSzPts val="1891"/>
              <a:buChar char="🡽"/>
            </a:pPr>
            <a:r>
              <a:rPr lang="en-US" sz="2101" i="1"/>
              <a:t>Leonardo Fibonacci (1202)</a:t>
            </a:r>
            <a:r>
              <a:rPr lang="en-US" sz="2101"/>
              <a:t>: </a:t>
            </a:r>
            <a:endParaRPr/>
          </a:p>
          <a:p>
            <a:pPr marL="914400" lvl="1" indent="-457200" algn="l" rtl="0">
              <a:lnSpc>
                <a:spcPct val="90000"/>
              </a:lnSpc>
              <a:spcBef>
                <a:spcPts val="600"/>
              </a:spcBef>
              <a:spcAft>
                <a:spcPts val="0"/>
              </a:spcAft>
              <a:buSzPts val="1620"/>
              <a:buChar char="🡽"/>
            </a:pPr>
            <a:r>
              <a:rPr lang="en-US" sz="1800"/>
              <a:t>A rabbit starts producing offspring during the second year after its birth and produces one child each generation</a:t>
            </a:r>
            <a:endParaRPr/>
          </a:p>
          <a:p>
            <a:pPr marL="914400" lvl="1" indent="-457200" algn="l" rtl="0">
              <a:lnSpc>
                <a:spcPct val="90000"/>
              </a:lnSpc>
              <a:spcBef>
                <a:spcPts val="600"/>
              </a:spcBef>
              <a:spcAft>
                <a:spcPts val="0"/>
              </a:spcAft>
              <a:buSzPts val="1620"/>
              <a:buChar char="🡽"/>
            </a:pPr>
            <a:r>
              <a:rPr lang="en-US" sz="1800"/>
              <a:t>How many rabbits will there be after </a:t>
            </a:r>
            <a:r>
              <a:rPr lang="en-US" sz="1800" i="1"/>
              <a:t>n </a:t>
            </a:r>
            <a:r>
              <a:rPr lang="en-US" sz="1800"/>
              <a:t>generations? </a:t>
            </a:r>
            <a:endParaRPr/>
          </a:p>
          <a:p>
            <a:pPr marL="454025" lvl="0" indent="-454025" algn="l" rtl="0">
              <a:lnSpc>
                <a:spcPct val="90000"/>
              </a:lnSpc>
              <a:spcBef>
                <a:spcPts val="2000"/>
              </a:spcBef>
              <a:spcAft>
                <a:spcPts val="0"/>
              </a:spcAft>
              <a:buSzPts val="1891"/>
              <a:buFont typeface="Calibri"/>
              <a:buNone/>
            </a:pPr>
            <a:endParaRPr sz="2101" i="1"/>
          </a:p>
        </p:txBody>
      </p:sp>
      <p:cxnSp>
        <p:nvCxnSpPr>
          <p:cNvPr id="317" name="Google Shape;317;p3"/>
          <p:cNvCxnSpPr/>
          <p:nvPr/>
        </p:nvCxnSpPr>
        <p:spPr>
          <a:xfrm>
            <a:off x="1757821" y="3482592"/>
            <a:ext cx="0" cy="2000771"/>
          </a:xfrm>
          <a:prstGeom prst="straightConnector1">
            <a:avLst/>
          </a:prstGeom>
          <a:noFill/>
          <a:ln w="19050" cap="flat" cmpd="sng">
            <a:solidFill>
              <a:schemeClr val="dk1"/>
            </a:solidFill>
            <a:prstDash val="solid"/>
            <a:miter lim="800000"/>
            <a:headEnd type="none" w="med" len="med"/>
            <a:tailEnd type="none" w="med" len="med"/>
          </a:ln>
        </p:spPr>
      </p:cxnSp>
      <p:cxnSp>
        <p:nvCxnSpPr>
          <p:cNvPr id="318" name="Google Shape;318;p3"/>
          <p:cNvCxnSpPr/>
          <p:nvPr/>
        </p:nvCxnSpPr>
        <p:spPr>
          <a:xfrm>
            <a:off x="2329470" y="3482592"/>
            <a:ext cx="1191" cy="2000771"/>
          </a:xfrm>
          <a:prstGeom prst="straightConnector1">
            <a:avLst/>
          </a:prstGeom>
          <a:noFill/>
          <a:ln w="19050" cap="flat" cmpd="sng">
            <a:solidFill>
              <a:schemeClr val="dk1"/>
            </a:solidFill>
            <a:prstDash val="solid"/>
            <a:miter lim="800000"/>
            <a:headEnd type="none" w="med" len="med"/>
            <a:tailEnd type="none" w="med" len="med"/>
          </a:ln>
        </p:spPr>
      </p:cxnSp>
      <p:cxnSp>
        <p:nvCxnSpPr>
          <p:cNvPr id="319" name="Google Shape;319;p3"/>
          <p:cNvCxnSpPr/>
          <p:nvPr/>
        </p:nvCxnSpPr>
        <p:spPr>
          <a:xfrm>
            <a:off x="2926128" y="3482592"/>
            <a:ext cx="0" cy="2000771"/>
          </a:xfrm>
          <a:prstGeom prst="straightConnector1">
            <a:avLst/>
          </a:prstGeom>
          <a:noFill/>
          <a:ln w="19050" cap="flat" cmpd="sng">
            <a:solidFill>
              <a:schemeClr val="dk1"/>
            </a:solidFill>
            <a:prstDash val="solid"/>
            <a:miter lim="800000"/>
            <a:headEnd type="none" w="med" len="med"/>
            <a:tailEnd type="none" w="med" len="med"/>
          </a:ln>
        </p:spPr>
      </p:cxnSp>
      <p:cxnSp>
        <p:nvCxnSpPr>
          <p:cNvPr id="320" name="Google Shape;320;p3"/>
          <p:cNvCxnSpPr/>
          <p:nvPr/>
        </p:nvCxnSpPr>
        <p:spPr>
          <a:xfrm>
            <a:off x="4017025" y="3482592"/>
            <a:ext cx="0" cy="2000771"/>
          </a:xfrm>
          <a:prstGeom prst="straightConnector1">
            <a:avLst/>
          </a:prstGeom>
          <a:noFill/>
          <a:ln w="19050" cap="flat" cmpd="sng">
            <a:solidFill>
              <a:schemeClr val="dk1"/>
            </a:solidFill>
            <a:prstDash val="solid"/>
            <a:miter lim="800000"/>
            <a:headEnd type="none" w="med" len="med"/>
            <a:tailEnd type="none" w="med" len="med"/>
          </a:ln>
        </p:spPr>
      </p:cxnSp>
      <p:cxnSp>
        <p:nvCxnSpPr>
          <p:cNvPr id="321" name="Google Shape;321;p3"/>
          <p:cNvCxnSpPr/>
          <p:nvPr/>
        </p:nvCxnSpPr>
        <p:spPr>
          <a:xfrm>
            <a:off x="5791518" y="3482592"/>
            <a:ext cx="0" cy="2000771"/>
          </a:xfrm>
          <a:prstGeom prst="straightConnector1">
            <a:avLst/>
          </a:prstGeom>
          <a:noFill/>
          <a:ln w="19050" cap="flat" cmpd="sng">
            <a:solidFill>
              <a:schemeClr val="dk1"/>
            </a:solidFill>
            <a:prstDash val="solid"/>
            <a:miter lim="800000"/>
            <a:headEnd type="none" w="med" len="med"/>
            <a:tailEnd type="none" w="med" len="med"/>
          </a:ln>
        </p:spPr>
      </p:cxnSp>
      <p:cxnSp>
        <p:nvCxnSpPr>
          <p:cNvPr id="322" name="Google Shape;322;p3"/>
          <p:cNvCxnSpPr/>
          <p:nvPr/>
        </p:nvCxnSpPr>
        <p:spPr>
          <a:xfrm rot="10800000" flipH="1">
            <a:off x="1225473" y="3694579"/>
            <a:ext cx="6603735" cy="5954"/>
          </a:xfrm>
          <a:prstGeom prst="straightConnector1">
            <a:avLst/>
          </a:prstGeom>
          <a:noFill/>
          <a:ln w="19050" cap="flat" cmpd="sng">
            <a:solidFill>
              <a:schemeClr val="dk1"/>
            </a:solidFill>
            <a:prstDash val="solid"/>
            <a:miter lim="800000"/>
            <a:headEnd type="none" w="med" len="med"/>
            <a:tailEnd type="none" w="med" len="med"/>
          </a:ln>
        </p:spPr>
      </p:cxnSp>
      <p:sp>
        <p:nvSpPr>
          <p:cNvPr id="323" name="Google Shape;323;p3"/>
          <p:cNvSpPr txBox="1"/>
          <p:nvPr/>
        </p:nvSpPr>
        <p:spPr>
          <a:xfrm>
            <a:off x="1179027" y="3455201"/>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F(1)=1</a:t>
            </a:r>
            <a:endParaRPr sz="1200" b="0" i="0" u="none" strike="noStrike" cap="none">
              <a:solidFill>
                <a:schemeClr val="dk1"/>
              </a:solidFill>
              <a:latin typeface="Tahoma"/>
              <a:ea typeface="Tahoma"/>
              <a:cs typeface="Tahoma"/>
              <a:sym typeface="Tahoma"/>
            </a:endParaRPr>
          </a:p>
        </p:txBody>
      </p:sp>
      <p:sp>
        <p:nvSpPr>
          <p:cNvPr id="324" name="Google Shape;324;p3"/>
          <p:cNvSpPr txBox="1"/>
          <p:nvPr/>
        </p:nvSpPr>
        <p:spPr>
          <a:xfrm>
            <a:off x="1743530" y="3455201"/>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F(2)=1</a:t>
            </a:r>
            <a:endParaRPr sz="1200" b="0" i="0" u="none" strike="noStrike" cap="none">
              <a:solidFill>
                <a:schemeClr val="dk1"/>
              </a:solidFill>
              <a:latin typeface="Tahoma"/>
              <a:ea typeface="Tahoma"/>
              <a:cs typeface="Tahoma"/>
              <a:sym typeface="Tahoma"/>
            </a:endParaRPr>
          </a:p>
        </p:txBody>
      </p:sp>
      <p:cxnSp>
        <p:nvCxnSpPr>
          <p:cNvPr id="325" name="Google Shape;325;p3"/>
          <p:cNvCxnSpPr/>
          <p:nvPr/>
        </p:nvCxnSpPr>
        <p:spPr>
          <a:xfrm>
            <a:off x="2640304" y="4254319"/>
            <a:ext cx="0" cy="136957"/>
          </a:xfrm>
          <a:prstGeom prst="straightConnector1">
            <a:avLst/>
          </a:prstGeom>
          <a:noFill/>
          <a:ln w="12700" cap="flat" cmpd="sng">
            <a:solidFill>
              <a:schemeClr val="dk1"/>
            </a:solidFill>
            <a:prstDash val="solid"/>
            <a:miter lim="800000"/>
            <a:headEnd type="none" w="med" len="med"/>
            <a:tailEnd type="stealth" w="med" len="med"/>
          </a:ln>
        </p:spPr>
      </p:cxnSp>
      <p:sp>
        <p:nvSpPr>
          <p:cNvPr id="326" name="Google Shape;326;p3"/>
          <p:cNvSpPr txBox="1"/>
          <p:nvPr/>
        </p:nvSpPr>
        <p:spPr>
          <a:xfrm>
            <a:off x="2318752" y="3450437"/>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F(3)=1</a:t>
            </a:r>
            <a:endParaRPr sz="1200" b="0" i="0" u="none" strike="noStrike" cap="none">
              <a:solidFill>
                <a:schemeClr val="dk1"/>
              </a:solidFill>
              <a:latin typeface="Tahoma"/>
              <a:ea typeface="Tahoma"/>
              <a:cs typeface="Tahoma"/>
              <a:sym typeface="Tahoma"/>
            </a:endParaRPr>
          </a:p>
        </p:txBody>
      </p:sp>
      <p:cxnSp>
        <p:nvCxnSpPr>
          <p:cNvPr id="327" name="Google Shape;327;p3"/>
          <p:cNvCxnSpPr/>
          <p:nvPr/>
        </p:nvCxnSpPr>
        <p:spPr>
          <a:xfrm>
            <a:off x="3328664" y="4212636"/>
            <a:ext cx="385863" cy="202459"/>
          </a:xfrm>
          <a:prstGeom prst="straightConnector1">
            <a:avLst/>
          </a:prstGeom>
          <a:noFill/>
          <a:ln w="12700" cap="flat" cmpd="sng">
            <a:solidFill>
              <a:schemeClr val="dk1"/>
            </a:solidFill>
            <a:prstDash val="solid"/>
            <a:miter lim="800000"/>
            <a:headEnd type="none" w="med" len="med"/>
            <a:tailEnd type="stealth" w="med" len="med"/>
          </a:ln>
        </p:spPr>
      </p:cxnSp>
      <p:sp>
        <p:nvSpPr>
          <p:cNvPr id="328" name="Google Shape;328;p3"/>
          <p:cNvSpPr txBox="1"/>
          <p:nvPr/>
        </p:nvSpPr>
        <p:spPr>
          <a:xfrm>
            <a:off x="3141688" y="3455201"/>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F(4)=3</a:t>
            </a:r>
            <a:endParaRPr sz="1200" b="0" i="0" u="none" strike="noStrike" cap="none">
              <a:solidFill>
                <a:schemeClr val="dk1"/>
              </a:solidFill>
              <a:latin typeface="Tahoma"/>
              <a:ea typeface="Tahoma"/>
              <a:cs typeface="Tahoma"/>
              <a:sym typeface="Tahoma"/>
            </a:endParaRPr>
          </a:p>
        </p:txBody>
      </p:sp>
      <p:cxnSp>
        <p:nvCxnSpPr>
          <p:cNvPr id="329" name="Google Shape;329;p3"/>
          <p:cNvCxnSpPr/>
          <p:nvPr/>
        </p:nvCxnSpPr>
        <p:spPr>
          <a:xfrm>
            <a:off x="4387405" y="4880750"/>
            <a:ext cx="0" cy="136957"/>
          </a:xfrm>
          <a:prstGeom prst="straightConnector1">
            <a:avLst/>
          </a:prstGeom>
          <a:noFill/>
          <a:ln w="12700" cap="flat" cmpd="sng">
            <a:solidFill>
              <a:schemeClr val="dk1"/>
            </a:solidFill>
            <a:prstDash val="solid"/>
            <a:miter lim="800000"/>
            <a:headEnd type="none" w="med" len="med"/>
            <a:tailEnd type="stealth" w="med" len="med"/>
          </a:ln>
        </p:spPr>
      </p:cxnSp>
      <p:cxnSp>
        <p:nvCxnSpPr>
          <p:cNvPr id="330" name="Google Shape;330;p3"/>
          <p:cNvCxnSpPr/>
          <p:nvPr/>
        </p:nvCxnSpPr>
        <p:spPr>
          <a:xfrm>
            <a:off x="4514836" y="4203108"/>
            <a:ext cx="765771" cy="169113"/>
          </a:xfrm>
          <a:prstGeom prst="straightConnector1">
            <a:avLst/>
          </a:prstGeom>
          <a:noFill/>
          <a:ln w="12700" cap="flat" cmpd="sng">
            <a:solidFill>
              <a:schemeClr val="dk1"/>
            </a:solidFill>
            <a:prstDash val="solid"/>
            <a:miter lim="800000"/>
            <a:headEnd type="none" w="med" len="med"/>
            <a:tailEnd type="stealth" w="med" len="med"/>
          </a:ln>
        </p:spPr>
      </p:cxnSp>
      <p:sp>
        <p:nvSpPr>
          <p:cNvPr id="331" name="Google Shape;331;p3"/>
          <p:cNvSpPr txBox="1"/>
          <p:nvPr/>
        </p:nvSpPr>
        <p:spPr>
          <a:xfrm>
            <a:off x="4601774" y="3455201"/>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F(5)=5</a:t>
            </a:r>
            <a:endParaRPr sz="1200" b="0" i="0" u="none" strike="noStrike" cap="none">
              <a:solidFill>
                <a:schemeClr val="dk1"/>
              </a:solidFill>
              <a:latin typeface="Tahoma"/>
              <a:ea typeface="Tahoma"/>
              <a:cs typeface="Tahoma"/>
              <a:sym typeface="Tahoma"/>
            </a:endParaRPr>
          </a:p>
        </p:txBody>
      </p:sp>
      <p:cxnSp>
        <p:nvCxnSpPr>
          <p:cNvPr id="332" name="Google Shape;332;p3"/>
          <p:cNvCxnSpPr/>
          <p:nvPr/>
        </p:nvCxnSpPr>
        <p:spPr>
          <a:xfrm>
            <a:off x="6353640" y="4167380"/>
            <a:ext cx="1275491" cy="182213"/>
          </a:xfrm>
          <a:prstGeom prst="straightConnector1">
            <a:avLst/>
          </a:prstGeom>
          <a:noFill/>
          <a:ln w="12700" cap="flat" cmpd="sng">
            <a:solidFill>
              <a:schemeClr val="dk1"/>
            </a:solidFill>
            <a:prstDash val="solid"/>
            <a:miter lim="800000"/>
            <a:headEnd type="none" w="med" len="med"/>
            <a:tailEnd type="stealth" w="med" len="med"/>
          </a:ln>
        </p:spPr>
      </p:cxnSp>
      <p:cxnSp>
        <p:nvCxnSpPr>
          <p:cNvPr id="333" name="Google Shape;333;p3"/>
          <p:cNvCxnSpPr/>
          <p:nvPr/>
        </p:nvCxnSpPr>
        <p:spPr>
          <a:xfrm>
            <a:off x="6259556" y="4817631"/>
            <a:ext cx="340607" cy="182213"/>
          </a:xfrm>
          <a:prstGeom prst="straightConnector1">
            <a:avLst/>
          </a:prstGeom>
          <a:noFill/>
          <a:ln w="12700" cap="flat" cmpd="sng">
            <a:solidFill>
              <a:schemeClr val="dk1"/>
            </a:solidFill>
            <a:prstDash val="solid"/>
            <a:miter lim="800000"/>
            <a:headEnd type="none" w="med" len="med"/>
            <a:tailEnd type="stealth" w="med" len="med"/>
          </a:ln>
        </p:spPr>
      </p:cxnSp>
      <p:cxnSp>
        <p:nvCxnSpPr>
          <p:cNvPr id="334" name="Google Shape;334;p3"/>
          <p:cNvCxnSpPr/>
          <p:nvPr/>
        </p:nvCxnSpPr>
        <p:spPr>
          <a:xfrm>
            <a:off x="6765704" y="4833113"/>
            <a:ext cx="340607" cy="182213"/>
          </a:xfrm>
          <a:prstGeom prst="straightConnector1">
            <a:avLst/>
          </a:prstGeom>
          <a:noFill/>
          <a:ln w="12700" cap="flat" cmpd="sng">
            <a:solidFill>
              <a:schemeClr val="dk1"/>
            </a:solidFill>
            <a:prstDash val="solid"/>
            <a:miter lim="800000"/>
            <a:headEnd type="none" w="med" len="med"/>
            <a:tailEnd type="stealth" w="med" len="med"/>
          </a:ln>
        </p:spPr>
      </p:cxnSp>
      <p:sp>
        <p:nvSpPr>
          <p:cNvPr id="335" name="Google Shape;335;p3"/>
          <p:cNvSpPr txBox="1"/>
          <p:nvPr/>
        </p:nvSpPr>
        <p:spPr>
          <a:xfrm>
            <a:off x="6432242" y="3455201"/>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chemeClr val="dk1"/>
                </a:solidFill>
                <a:latin typeface="Tahoma"/>
                <a:ea typeface="Tahoma"/>
                <a:cs typeface="Tahoma"/>
                <a:sym typeface="Tahoma"/>
              </a:rPr>
              <a:t>F(6)=8</a:t>
            </a:r>
            <a:endParaRPr sz="1200" b="0" i="0" u="none" strike="noStrike" cap="none">
              <a:solidFill>
                <a:schemeClr val="dk1"/>
              </a:solidFill>
              <a:latin typeface="Tahoma"/>
              <a:ea typeface="Tahoma"/>
              <a:cs typeface="Tahoma"/>
              <a:sym typeface="Tahoma"/>
            </a:endParaRPr>
          </a:p>
        </p:txBody>
      </p:sp>
      <p:grpSp>
        <p:nvGrpSpPr>
          <p:cNvPr id="336" name="Google Shape;336;p3"/>
          <p:cNvGrpSpPr/>
          <p:nvPr/>
        </p:nvGrpSpPr>
        <p:grpSpPr>
          <a:xfrm>
            <a:off x="1252864" y="3771990"/>
            <a:ext cx="410873" cy="459701"/>
            <a:chOff x="93" y="2448"/>
            <a:chExt cx="345" cy="386"/>
          </a:xfrm>
        </p:grpSpPr>
        <p:sp>
          <p:nvSpPr>
            <p:cNvPr id="337" name="Google Shape;337;p3"/>
            <p:cNvSpPr/>
            <p:nvPr/>
          </p:nvSpPr>
          <p:spPr>
            <a:xfrm>
              <a:off x="93" y="2448"/>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38" name="Google Shape;338;p3"/>
            <p:cNvSpPr/>
            <p:nvPr/>
          </p:nvSpPr>
          <p:spPr>
            <a:xfrm>
              <a:off x="94" y="2448"/>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39" name="Google Shape;339;p3"/>
            <p:cNvSpPr/>
            <p:nvPr/>
          </p:nvSpPr>
          <p:spPr>
            <a:xfrm>
              <a:off x="99" y="2451"/>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0" name="Google Shape;340;p3"/>
            <p:cNvSpPr/>
            <p:nvPr/>
          </p:nvSpPr>
          <p:spPr>
            <a:xfrm>
              <a:off x="112" y="2475"/>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1" name="Google Shape;341;p3"/>
            <p:cNvSpPr/>
            <p:nvPr/>
          </p:nvSpPr>
          <p:spPr>
            <a:xfrm>
              <a:off x="334" y="2485"/>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2" name="Google Shape;342;p3"/>
            <p:cNvSpPr/>
            <p:nvPr/>
          </p:nvSpPr>
          <p:spPr>
            <a:xfrm>
              <a:off x="231" y="2541"/>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3" name="Google Shape;343;p3"/>
            <p:cNvSpPr/>
            <p:nvPr/>
          </p:nvSpPr>
          <p:spPr>
            <a:xfrm>
              <a:off x="287" y="2545"/>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4" name="Google Shape;344;p3"/>
            <p:cNvSpPr/>
            <p:nvPr/>
          </p:nvSpPr>
          <p:spPr>
            <a:xfrm>
              <a:off x="236" y="2561"/>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5" name="Google Shape;345;p3"/>
            <p:cNvSpPr/>
            <p:nvPr/>
          </p:nvSpPr>
          <p:spPr>
            <a:xfrm>
              <a:off x="291" y="2562"/>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6" name="Google Shape;346;p3"/>
            <p:cNvSpPr/>
            <p:nvPr/>
          </p:nvSpPr>
          <p:spPr>
            <a:xfrm>
              <a:off x="297" y="2565"/>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7" name="Google Shape;347;p3"/>
            <p:cNvSpPr/>
            <p:nvPr/>
          </p:nvSpPr>
          <p:spPr>
            <a:xfrm>
              <a:off x="217" y="2588"/>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8" name="Google Shape;348;p3"/>
            <p:cNvSpPr/>
            <p:nvPr/>
          </p:nvSpPr>
          <p:spPr>
            <a:xfrm>
              <a:off x="263" y="2593"/>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49" name="Google Shape;349;p3"/>
            <p:cNvSpPr/>
            <p:nvPr/>
          </p:nvSpPr>
          <p:spPr>
            <a:xfrm>
              <a:off x="166" y="2622"/>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0" name="Google Shape;350;p3"/>
            <p:cNvSpPr/>
            <p:nvPr/>
          </p:nvSpPr>
          <p:spPr>
            <a:xfrm>
              <a:off x="258" y="2628"/>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1" name="Google Shape;351;p3"/>
            <p:cNvSpPr/>
            <p:nvPr/>
          </p:nvSpPr>
          <p:spPr>
            <a:xfrm>
              <a:off x="267" y="2629"/>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2" name="Google Shape;352;p3"/>
            <p:cNvSpPr/>
            <p:nvPr/>
          </p:nvSpPr>
          <p:spPr>
            <a:xfrm>
              <a:off x="228" y="2686"/>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3" name="Google Shape;353;p3"/>
            <p:cNvSpPr/>
            <p:nvPr/>
          </p:nvSpPr>
          <p:spPr>
            <a:xfrm>
              <a:off x="259" y="2693"/>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4" name="Google Shape;354;p3"/>
            <p:cNvSpPr/>
            <p:nvPr/>
          </p:nvSpPr>
          <p:spPr>
            <a:xfrm>
              <a:off x="140" y="2694"/>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5" name="Google Shape;355;p3"/>
            <p:cNvSpPr/>
            <p:nvPr/>
          </p:nvSpPr>
          <p:spPr>
            <a:xfrm>
              <a:off x="364" y="2754"/>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356" name="Google Shape;356;p3"/>
          <p:cNvGrpSpPr/>
          <p:nvPr/>
        </p:nvGrpSpPr>
        <p:grpSpPr>
          <a:xfrm>
            <a:off x="1825705" y="3771990"/>
            <a:ext cx="410872" cy="459701"/>
            <a:chOff x="574" y="2448"/>
            <a:chExt cx="345" cy="386"/>
          </a:xfrm>
        </p:grpSpPr>
        <p:sp>
          <p:nvSpPr>
            <p:cNvPr id="357" name="Google Shape;357;p3"/>
            <p:cNvSpPr/>
            <p:nvPr/>
          </p:nvSpPr>
          <p:spPr>
            <a:xfrm>
              <a:off x="574" y="2448"/>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8" name="Google Shape;358;p3"/>
            <p:cNvSpPr/>
            <p:nvPr/>
          </p:nvSpPr>
          <p:spPr>
            <a:xfrm>
              <a:off x="575" y="2448"/>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59" name="Google Shape;359;p3"/>
            <p:cNvSpPr/>
            <p:nvPr/>
          </p:nvSpPr>
          <p:spPr>
            <a:xfrm>
              <a:off x="580" y="2451"/>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0" name="Google Shape;360;p3"/>
            <p:cNvSpPr/>
            <p:nvPr/>
          </p:nvSpPr>
          <p:spPr>
            <a:xfrm>
              <a:off x="593" y="2475"/>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1" name="Google Shape;361;p3"/>
            <p:cNvSpPr/>
            <p:nvPr/>
          </p:nvSpPr>
          <p:spPr>
            <a:xfrm>
              <a:off x="815" y="2485"/>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2" name="Google Shape;362;p3"/>
            <p:cNvSpPr/>
            <p:nvPr/>
          </p:nvSpPr>
          <p:spPr>
            <a:xfrm>
              <a:off x="712" y="2541"/>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3" name="Google Shape;363;p3"/>
            <p:cNvSpPr/>
            <p:nvPr/>
          </p:nvSpPr>
          <p:spPr>
            <a:xfrm>
              <a:off x="768" y="2545"/>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4" name="Google Shape;364;p3"/>
            <p:cNvSpPr/>
            <p:nvPr/>
          </p:nvSpPr>
          <p:spPr>
            <a:xfrm>
              <a:off x="717" y="2561"/>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5" name="Google Shape;365;p3"/>
            <p:cNvSpPr/>
            <p:nvPr/>
          </p:nvSpPr>
          <p:spPr>
            <a:xfrm>
              <a:off x="772" y="2562"/>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6" name="Google Shape;366;p3"/>
            <p:cNvSpPr/>
            <p:nvPr/>
          </p:nvSpPr>
          <p:spPr>
            <a:xfrm>
              <a:off x="778" y="2565"/>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7" name="Google Shape;367;p3"/>
            <p:cNvSpPr/>
            <p:nvPr/>
          </p:nvSpPr>
          <p:spPr>
            <a:xfrm>
              <a:off x="698" y="2588"/>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8" name="Google Shape;368;p3"/>
            <p:cNvSpPr/>
            <p:nvPr/>
          </p:nvSpPr>
          <p:spPr>
            <a:xfrm>
              <a:off x="744" y="2593"/>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69" name="Google Shape;369;p3"/>
            <p:cNvSpPr/>
            <p:nvPr/>
          </p:nvSpPr>
          <p:spPr>
            <a:xfrm>
              <a:off x="647" y="2622"/>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0" name="Google Shape;370;p3"/>
            <p:cNvSpPr/>
            <p:nvPr/>
          </p:nvSpPr>
          <p:spPr>
            <a:xfrm>
              <a:off x="739" y="2628"/>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1" name="Google Shape;371;p3"/>
            <p:cNvSpPr/>
            <p:nvPr/>
          </p:nvSpPr>
          <p:spPr>
            <a:xfrm>
              <a:off x="748" y="2629"/>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2" name="Google Shape;372;p3"/>
            <p:cNvSpPr/>
            <p:nvPr/>
          </p:nvSpPr>
          <p:spPr>
            <a:xfrm>
              <a:off x="709" y="2686"/>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3" name="Google Shape;373;p3"/>
            <p:cNvSpPr/>
            <p:nvPr/>
          </p:nvSpPr>
          <p:spPr>
            <a:xfrm>
              <a:off x="740" y="2693"/>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4" name="Google Shape;374;p3"/>
            <p:cNvSpPr/>
            <p:nvPr/>
          </p:nvSpPr>
          <p:spPr>
            <a:xfrm>
              <a:off x="621" y="2694"/>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5" name="Google Shape;375;p3"/>
            <p:cNvSpPr/>
            <p:nvPr/>
          </p:nvSpPr>
          <p:spPr>
            <a:xfrm>
              <a:off x="845" y="2754"/>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376" name="Google Shape;376;p3"/>
          <p:cNvGrpSpPr/>
          <p:nvPr/>
        </p:nvGrpSpPr>
        <p:grpSpPr>
          <a:xfrm>
            <a:off x="2429508" y="4429386"/>
            <a:ext cx="410873" cy="459701"/>
            <a:chOff x="1081" y="3000"/>
            <a:chExt cx="345" cy="386"/>
          </a:xfrm>
        </p:grpSpPr>
        <p:sp>
          <p:nvSpPr>
            <p:cNvPr id="377" name="Google Shape;377;p3"/>
            <p:cNvSpPr/>
            <p:nvPr/>
          </p:nvSpPr>
          <p:spPr>
            <a:xfrm>
              <a:off x="1081" y="3000"/>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8" name="Google Shape;378;p3"/>
            <p:cNvSpPr/>
            <p:nvPr/>
          </p:nvSpPr>
          <p:spPr>
            <a:xfrm>
              <a:off x="1082" y="3000"/>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79" name="Google Shape;379;p3"/>
            <p:cNvSpPr/>
            <p:nvPr/>
          </p:nvSpPr>
          <p:spPr>
            <a:xfrm>
              <a:off x="1087" y="3003"/>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0" name="Google Shape;380;p3"/>
            <p:cNvSpPr/>
            <p:nvPr/>
          </p:nvSpPr>
          <p:spPr>
            <a:xfrm>
              <a:off x="1100" y="3027"/>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1" name="Google Shape;381;p3"/>
            <p:cNvSpPr/>
            <p:nvPr/>
          </p:nvSpPr>
          <p:spPr>
            <a:xfrm>
              <a:off x="1322" y="3037"/>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2" name="Google Shape;382;p3"/>
            <p:cNvSpPr/>
            <p:nvPr/>
          </p:nvSpPr>
          <p:spPr>
            <a:xfrm>
              <a:off x="1219" y="3093"/>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3" name="Google Shape;383;p3"/>
            <p:cNvSpPr/>
            <p:nvPr/>
          </p:nvSpPr>
          <p:spPr>
            <a:xfrm>
              <a:off x="1275" y="3097"/>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4" name="Google Shape;384;p3"/>
            <p:cNvSpPr/>
            <p:nvPr/>
          </p:nvSpPr>
          <p:spPr>
            <a:xfrm>
              <a:off x="1224" y="3113"/>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5" name="Google Shape;385;p3"/>
            <p:cNvSpPr/>
            <p:nvPr/>
          </p:nvSpPr>
          <p:spPr>
            <a:xfrm>
              <a:off x="1279" y="3114"/>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6" name="Google Shape;386;p3"/>
            <p:cNvSpPr/>
            <p:nvPr/>
          </p:nvSpPr>
          <p:spPr>
            <a:xfrm>
              <a:off x="1285" y="3117"/>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7" name="Google Shape;387;p3"/>
            <p:cNvSpPr/>
            <p:nvPr/>
          </p:nvSpPr>
          <p:spPr>
            <a:xfrm>
              <a:off x="1205" y="3140"/>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8" name="Google Shape;388;p3"/>
            <p:cNvSpPr/>
            <p:nvPr/>
          </p:nvSpPr>
          <p:spPr>
            <a:xfrm>
              <a:off x="1251" y="3145"/>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89" name="Google Shape;389;p3"/>
            <p:cNvSpPr/>
            <p:nvPr/>
          </p:nvSpPr>
          <p:spPr>
            <a:xfrm>
              <a:off x="1154" y="3174"/>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0" name="Google Shape;390;p3"/>
            <p:cNvSpPr/>
            <p:nvPr/>
          </p:nvSpPr>
          <p:spPr>
            <a:xfrm>
              <a:off x="1246" y="3180"/>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1" name="Google Shape;391;p3"/>
            <p:cNvSpPr/>
            <p:nvPr/>
          </p:nvSpPr>
          <p:spPr>
            <a:xfrm>
              <a:off x="1255" y="3181"/>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2" name="Google Shape;392;p3"/>
            <p:cNvSpPr/>
            <p:nvPr/>
          </p:nvSpPr>
          <p:spPr>
            <a:xfrm>
              <a:off x="1216" y="3238"/>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3" name="Google Shape;393;p3"/>
            <p:cNvSpPr/>
            <p:nvPr/>
          </p:nvSpPr>
          <p:spPr>
            <a:xfrm>
              <a:off x="1247" y="3245"/>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4" name="Google Shape;394;p3"/>
            <p:cNvSpPr/>
            <p:nvPr/>
          </p:nvSpPr>
          <p:spPr>
            <a:xfrm>
              <a:off x="1128" y="3246"/>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5" name="Google Shape;395;p3"/>
            <p:cNvSpPr/>
            <p:nvPr/>
          </p:nvSpPr>
          <p:spPr>
            <a:xfrm>
              <a:off x="1352" y="3306"/>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396" name="Google Shape;396;p3"/>
          <p:cNvGrpSpPr/>
          <p:nvPr/>
        </p:nvGrpSpPr>
        <p:grpSpPr>
          <a:xfrm>
            <a:off x="2422362" y="3771990"/>
            <a:ext cx="410873" cy="459701"/>
            <a:chOff x="1075" y="2448"/>
            <a:chExt cx="345" cy="386"/>
          </a:xfrm>
        </p:grpSpPr>
        <p:sp>
          <p:nvSpPr>
            <p:cNvPr id="397" name="Google Shape;397;p3"/>
            <p:cNvSpPr/>
            <p:nvPr/>
          </p:nvSpPr>
          <p:spPr>
            <a:xfrm>
              <a:off x="1075" y="2448"/>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8" name="Google Shape;398;p3"/>
            <p:cNvSpPr/>
            <p:nvPr/>
          </p:nvSpPr>
          <p:spPr>
            <a:xfrm>
              <a:off x="1076" y="2448"/>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399" name="Google Shape;399;p3"/>
            <p:cNvSpPr/>
            <p:nvPr/>
          </p:nvSpPr>
          <p:spPr>
            <a:xfrm>
              <a:off x="1081" y="2451"/>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0" name="Google Shape;400;p3"/>
            <p:cNvSpPr/>
            <p:nvPr/>
          </p:nvSpPr>
          <p:spPr>
            <a:xfrm>
              <a:off x="1094" y="2475"/>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1" name="Google Shape;401;p3"/>
            <p:cNvSpPr/>
            <p:nvPr/>
          </p:nvSpPr>
          <p:spPr>
            <a:xfrm>
              <a:off x="1316" y="2485"/>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2" name="Google Shape;402;p3"/>
            <p:cNvSpPr/>
            <p:nvPr/>
          </p:nvSpPr>
          <p:spPr>
            <a:xfrm>
              <a:off x="1213" y="2541"/>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3" name="Google Shape;403;p3"/>
            <p:cNvSpPr/>
            <p:nvPr/>
          </p:nvSpPr>
          <p:spPr>
            <a:xfrm>
              <a:off x="1269" y="2545"/>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4" name="Google Shape;404;p3"/>
            <p:cNvSpPr/>
            <p:nvPr/>
          </p:nvSpPr>
          <p:spPr>
            <a:xfrm>
              <a:off x="1218" y="2561"/>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5" name="Google Shape;405;p3"/>
            <p:cNvSpPr/>
            <p:nvPr/>
          </p:nvSpPr>
          <p:spPr>
            <a:xfrm>
              <a:off x="1273" y="2562"/>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6" name="Google Shape;406;p3"/>
            <p:cNvSpPr/>
            <p:nvPr/>
          </p:nvSpPr>
          <p:spPr>
            <a:xfrm>
              <a:off x="1279" y="2565"/>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7" name="Google Shape;407;p3"/>
            <p:cNvSpPr/>
            <p:nvPr/>
          </p:nvSpPr>
          <p:spPr>
            <a:xfrm>
              <a:off x="1199" y="2588"/>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8" name="Google Shape;408;p3"/>
            <p:cNvSpPr/>
            <p:nvPr/>
          </p:nvSpPr>
          <p:spPr>
            <a:xfrm>
              <a:off x="1245" y="2593"/>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09" name="Google Shape;409;p3"/>
            <p:cNvSpPr/>
            <p:nvPr/>
          </p:nvSpPr>
          <p:spPr>
            <a:xfrm>
              <a:off x="1148" y="2622"/>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0" name="Google Shape;410;p3"/>
            <p:cNvSpPr/>
            <p:nvPr/>
          </p:nvSpPr>
          <p:spPr>
            <a:xfrm>
              <a:off x="1240" y="2628"/>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1" name="Google Shape;411;p3"/>
            <p:cNvSpPr/>
            <p:nvPr/>
          </p:nvSpPr>
          <p:spPr>
            <a:xfrm>
              <a:off x="1249" y="2629"/>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2" name="Google Shape;412;p3"/>
            <p:cNvSpPr/>
            <p:nvPr/>
          </p:nvSpPr>
          <p:spPr>
            <a:xfrm>
              <a:off x="1210" y="2686"/>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3" name="Google Shape;413;p3"/>
            <p:cNvSpPr/>
            <p:nvPr/>
          </p:nvSpPr>
          <p:spPr>
            <a:xfrm>
              <a:off x="1241" y="2693"/>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4" name="Google Shape;414;p3"/>
            <p:cNvSpPr/>
            <p:nvPr/>
          </p:nvSpPr>
          <p:spPr>
            <a:xfrm>
              <a:off x="1122" y="2694"/>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5" name="Google Shape;415;p3"/>
            <p:cNvSpPr/>
            <p:nvPr/>
          </p:nvSpPr>
          <p:spPr>
            <a:xfrm>
              <a:off x="1346" y="2754"/>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416" name="Google Shape;416;p3"/>
          <p:cNvGrpSpPr/>
          <p:nvPr/>
        </p:nvGrpSpPr>
        <p:grpSpPr>
          <a:xfrm>
            <a:off x="3014258" y="4429386"/>
            <a:ext cx="410872" cy="459701"/>
            <a:chOff x="1572" y="3000"/>
            <a:chExt cx="345" cy="386"/>
          </a:xfrm>
        </p:grpSpPr>
        <p:sp>
          <p:nvSpPr>
            <p:cNvPr id="417" name="Google Shape;417;p3"/>
            <p:cNvSpPr/>
            <p:nvPr/>
          </p:nvSpPr>
          <p:spPr>
            <a:xfrm>
              <a:off x="1572" y="3000"/>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8" name="Google Shape;418;p3"/>
            <p:cNvSpPr/>
            <p:nvPr/>
          </p:nvSpPr>
          <p:spPr>
            <a:xfrm>
              <a:off x="1573" y="3000"/>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19" name="Google Shape;419;p3"/>
            <p:cNvSpPr/>
            <p:nvPr/>
          </p:nvSpPr>
          <p:spPr>
            <a:xfrm>
              <a:off x="1578" y="3003"/>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0" name="Google Shape;420;p3"/>
            <p:cNvSpPr/>
            <p:nvPr/>
          </p:nvSpPr>
          <p:spPr>
            <a:xfrm>
              <a:off x="1591" y="3027"/>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1" name="Google Shape;421;p3"/>
            <p:cNvSpPr/>
            <p:nvPr/>
          </p:nvSpPr>
          <p:spPr>
            <a:xfrm>
              <a:off x="1813" y="3037"/>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2" name="Google Shape;422;p3"/>
            <p:cNvSpPr/>
            <p:nvPr/>
          </p:nvSpPr>
          <p:spPr>
            <a:xfrm>
              <a:off x="1710" y="3093"/>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3" name="Google Shape;423;p3"/>
            <p:cNvSpPr/>
            <p:nvPr/>
          </p:nvSpPr>
          <p:spPr>
            <a:xfrm>
              <a:off x="1766" y="3097"/>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4" name="Google Shape;424;p3"/>
            <p:cNvSpPr/>
            <p:nvPr/>
          </p:nvSpPr>
          <p:spPr>
            <a:xfrm>
              <a:off x="1715" y="3113"/>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5" name="Google Shape;425;p3"/>
            <p:cNvSpPr/>
            <p:nvPr/>
          </p:nvSpPr>
          <p:spPr>
            <a:xfrm>
              <a:off x="1770" y="3114"/>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6" name="Google Shape;426;p3"/>
            <p:cNvSpPr/>
            <p:nvPr/>
          </p:nvSpPr>
          <p:spPr>
            <a:xfrm>
              <a:off x="1776" y="3117"/>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7" name="Google Shape;427;p3"/>
            <p:cNvSpPr/>
            <p:nvPr/>
          </p:nvSpPr>
          <p:spPr>
            <a:xfrm>
              <a:off x="1696" y="3140"/>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8" name="Google Shape;428;p3"/>
            <p:cNvSpPr/>
            <p:nvPr/>
          </p:nvSpPr>
          <p:spPr>
            <a:xfrm>
              <a:off x="1742" y="3145"/>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29" name="Google Shape;429;p3"/>
            <p:cNvSpPr/>
            <p:nvPr/>
          </p:nvSpPr>
          <p:spPr>
            <a:xfrm>
              <a:off x="1645" y="3174"/>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0" name="Google Shape;430;p3"/>
            <p:cNvSpPr/>
            <p:nvPr/>
          </p:nvSpPr>
          <p:spPr>
            <a:xfrm>
              <a:off x="1737" y="3180"/>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1" name="Google Shape;431;p3"/>
            <p:cNvSpPr/>
            <p:nvPr/>
          </p:nvSpPr>
          <p:spPr>
            <a:xfrm>
              <a:off x="1746" y="3181"/>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2" name="Google Shape;432;p3"/>
            <p:cNvSpPr/>
            <p:nvPr/>
          </p:nvSpPr>
          <p:spPr>
            <a:xfrm>
              <a:off x="1707" y="3238"/>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3" name="Google Shape;433;p3"/>
            <p:cNvSpPr/>
            <p:nvPr/>
          </p:nvSpPr>
          <p:spPr>
            <a:xfrm>
              <a:off x="1738" y="3245"/>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4" name="Google Shape;434;p3"/>
            <p:cNvSpPr/>
            <p:nvPr/>
          </p:nvSpPr>
          <p:spPr>
            <a:xfrm>
              <a:off x="1619" y="3246"/>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5" name="Google Shape;435;p3"/>
            <p:cNvSpPr/>
            <p:nvPr/>
          </p:nvSpPr>
          <p:spPr>
            <a:xfrm>
              <a:off x="1843" y="3306"/>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436" name="Google Shape;436;p3"/>
          <p:cNvGrpSpPr/>
          <p:nvPr/>
        </p:nvGrpSpPr>
        <p:grpSpPr>
          <a:xfrm>
            <a:off x="3541841" y="4429386"/>
            <a:ext cx="410873" cy="459701"/>
            <a:chOff x="2015" y="3000"/>
            <a:chExt cx="345" cy="386"/>
          </a:xfrm>
        </p:grpSpPr>
        <p:sp>
          <p:nvSpPr>
            <p:cNvPr id="437" name="Google Shape;437;p3"/>
            <p:cNvSpPr/>
            <p:nvPr/>
          </p:nvSpPr>
          <p:spPr>
            <a:xfrm>
              <a:off x="2015" y="3000"/>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8" name="Google Shape;438;p3"/>
            <p:cNvSpPr/>
            <p:nvPr/>
          </p:nvSpPr>
          <p:spPr>
            <a:xfrm>
              <a:off x="2016" y="3000"/>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39" name="Google Shape;439;p3"/>
            <p:cNvSpPr/>
            <p:nvPr/>
          </p:nvSpPr>
          <p:spPr>
            <a:xfrm>
              <a:off x="2021" y="3003"/>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0" name="Google Shape;440;p3"/>
            <p:cNvSpPr/>
            <p:nvPr/>
          </p:nvSpPr>
          <p:spPr>
            <a:xfrm>
              <a:off x="2034" y="3027"/>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1" name="Google Shape;441;p3"/>
            <p:cNvSpPr/>
            <p:nvPr/>
          </p:nvSpPr>
          <p:spPr>
            <a:xfrm>
              <a:off x="2256" y="3037"/>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2" name="Google Shape;442;p3"/>
            <p:cNvSpPr/>
            <p:nvPr/>
          </p:nvSpPr>
          <p:spPr>
            <a:xfrm>
              <a:off x="2153" y="3093"/>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3" name="Google Shape;443;p3"/>
            <p:cNvSpPr/>
            <p:nvPr/>
          </p:nvSpPr>
          <p:spPr>
            <a:xfrm>
              <a:off x="2209" y="3097"/>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4" name="Google Shape;444;p3"/>
            <p:cNvSpPr/>
            <p:nvPr/>
          </p:nvSpPr>
          <p:spPr>
            <a:xfrm>
              <a:off x="2158" y="3113"/>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5" name="Google Shape;445;p3"/>
            <p:cNvSpPr/>
            <p:nvPr/>
          </p:nvSpPr>
          <p:spPr>
            <a:xfrm>
              <a:off x="2213" y="3114"/>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6" name="Google Shape;446;p3"/>
            <p:cNvSpPr/>
            <p:nvPr/>
          </p:nvSpPr>
          <p:spPr>
            <a:xfrm>
              <a:off x="2219" y="3117"/>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7" name="Google Shape;447;p3"/>
            <p:cNvSpPr/>
            <p:nvPr/>
          </p:nvSpPr>
          <p:spPr>
            <a:xfrm>
              <a:off x="2139" y="3140"/>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8" name="Google Shape;448;p3"/>
            <p:cNvSpPr/>
            <p:nvPr/>
          </p:nvSpPr>
          <p:spPr>
            <a:xfrm>
              <a:off x="2185" y="3145"/>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49" name="Google Shape;449;p3"/>
            <p:cNvSpPr/>
            <p:nvPr/>
          </p:nvSpPr>
          <p:spPr>
            <a:xfrm>
              <a:off x="2088" y="3174"/>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0" name="Google Shape;450;p3"/>
            <p:cNvSpPr/>
            <p:nvPr/>
          </p:nvSpPr>
          <p:spPr>
            <a:xfrm>
              <a:off x="2180" y="3180"/>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1" name="Google Shape;451;p3"/>
            <p:cNvSpPr/>
            <p:nvPr/>
          </p:nvSpPr>
          <p:spPr>
            <a:xfrm>
              <a:off x="2189" y="3181"/>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2" name="Google Shape;452;p3"/>
            <p:cNvSpPr/>
            <p:nvPr/>
          </p:nvSpPr>
          <p:spPr>
            <a:xfrm>
              <a:off x="2150" y="3238"/>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3" name="Google Shape;453;p3"/>
            <p:cNvSpPr/>
            <p:nvPr/>
          </p:nvSpPr>
          <p:spPr>
            <a:xfrm>
              <a:off x="2181" y="3245"/>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4" name="Google Shape;454;p3"/>
            <p:cNvSpPr/>
            <p:nvPr/>
          </p:nvSpPr>
          <p:spPr>
            <a:xfrm>
              <a:off x="2062" y="3246"/>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5" name="Google Shape;455;p3"/>
            <p:cNvSpPr/>
            <p:nvPr/>
          </p:nvSpPr>
          <p:spPr>
            <a:xfrm>
              <a:off x="2286" y="3306"/>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456" name="Google Shape;456;p3"/>
          <p:cNvGrpSpPr/>
          <p:nvPr/>
        </p:nvGrpSpPr>
        <p:grpSpPr>
          <a:xfrm>
            <a:off x="3007112" y="3771990"/>
            <a:ext cx="410872" cy="459701"/>
            <a:chOff x="1566" y="2448"/>
            <a:chExt cx="345" cy="386"/>
          </a:xfrm>
        </p:grpSpPr>
        <p:sp>
          <p:nvSpPr>
            <p:cNvPr id="457" name="Google Shape;457;p3"/>
            <p:cNvSpPr/>
            <p:nvPr/>
          </p:nvSpPr>
          <p:spPr>
            <a:xfrm>
              <a:off x="1566" y="2448"/>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8" name="Google Shape;458;p3"/>
            <p:cNvSpPr/>
            <p:nvPr/>
          </p:nvSpPr>
          <p:spPr>
            <a:xfrm>
              <a:off x="1567" y="2448"/>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59" name="Google Shape;459;p3"/>
            <p:cNvSpPr/>
            <p:nvPr/>
          </p:nvSpPr>
          <p:spPr>
            <a:xfrm>
              <a:off x="1572" y="2451"/>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0" name="Google Shape;460;p3"/>
            <p:cNvSpPr/>
            <p:nvPr/>
          </p:nvSpPr>
          <p:spPr>
            <a:xfrm>
              <a:off x="1585" y="2475"/>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1" name="Google Shape;461;p3"/>
            <p:cNvSpPr/>
            <p:nvPr/>
          </p:nvSpPr>
          <p:spPr>
            <a:xfrm>
              <a:off x="1807" y="2485"/>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2" name="Google Shape;462;p3"/>
            <p:cNvSpPr/>
            <p:nvPr/>
          </p:nvSpPr>
          <p:spPr>
            <a:xfrm>
              <a:off x="1704" y="2541"/>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3" name="Google Shape;463;p3"/>
            <p:cNvSpPr/>
            <p:nvPr/>
          </p:nvSpPr>
          <p:spPr>
            <a:xfrm>
              <a:off x="1760" y="2545"/>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4" name="Google Shape;464;p3"/>
            <p:cNvSpPr/>
            <p:nvPr/>
          </p:nvSpPr>
          <p:spPr>
            <a:xfrm>
              <a:off x="1709" y="2561"/>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5" name="Google Shape;465;p3"/>
            <p:cNvSpPr/>
            <p:nvPr/>
          </p:nvSpPr>
          <p:spPr>
            <a:xfrm>
              <a:off x="1764" y="2562"/>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6" name="Google Shape;466;p3"/>
            <p:cNvSpPr/>
            <p:nvPr/>
          </p:nvSpPr>
          <p:spPr>
            <a:xfrm>
              <a:off x="1770" y="2565"/>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7" name="Google Shape;467;p3"/>
            <p:cNvSpPr/>
            <p:nvPr/>
          </p:nvSpPr>
          <p:spPr>
            <a:xfrm>
              <a:off x="1690" y="2588"/>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8" name="Google Shape;468;p3"/>
            <p:cNvSpPr/>
            <p:nvPr/>
          </p:nvSpPr>
          <p:spPr>
            <a:xfrm>
              <a:off x="1736" y="2593"/>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69" name="Google Shape;469;p3"/>
            <p:cNvSpPr/>
            <p:nvPr/>
          </p:nvSpPr>
          <p:spPr>
            <a:xfrm>
              <a:off x="1639" y="2622"/>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0" name="Google Shape;470;p3"/>
            <p:cNvSpPr/>
            <p:nvPr/>
          </p:nvSpPr>
          <p:spPr>
            <a:xfrm>
              <a:off x="1731" y="2628"/>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1" name="Google Shape;471;p3"/>
            <p:cNvSpPr/>
            <p:nvPr/>
          </p:nvSpPr>
          <p:spPr>
            <a:xfrm>
              <a:off x="1740" y="2629"/>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2" name="Google Shape;472;p3"/>
            <p:cNvSpPr/>
            <p:nvPr/>
          </p:nvSpPr>
          <p:spPr>
            <a:xfrm>
              <a:off x="1701" y="2686"/>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3" name="Google Shape;473;p3"/>
            <p:cNvSpPr/>
            <p:nvPr/>
          </p:nvSpPr>
          <p:spPr>
            <a:xfrm>
              <a:off x="1732" y="2693"/>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4" name="Google Shape;474;p3"/>
            <p:cNvSpPr/>
            <p:nvPr/>
          </p:nvSpPr>
          <p:spPr>
            <a:xfrm>
              <a:off x="1613" y="2694"/>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5" name="Google Shape;475;p3"/>
            <p:cNvSpPr/>
            <p:nvPr/>
          </p:nvSpPr>
          <p:spPr>
            <a:xfrm>
              <a:off x="1837" y="2754"/>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476" name="Google Shape;476;p3"/>
          <p:cNvGrpSpPr/>
          <p:nvPr/>
        </p:nvGrpSpPr>
        <p:grpSpPr>
          <a:xfrm>
            <a:off x="4105155" y="3771990"/>
            <a:ext cx="410872" cy="459701"/>
            <a:chOff x="2488" y="2448"/>
            <a:chExt cx="345" cy="386"/>
          </a:xfrm>
        </p:grpSpPr>
        <p:sp>
          <p:nvSpPr>
            <p:cNvPr id="477" name="Google Shape;477;p3"/>
            <p:cNvSpPr/>
            <p:nvPr/>
          </p:nvSpPr>
          <p:spPr>
            <a:xfrm>
              <a:off x="2488" y="2448"/>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8" name="Google Shape;478;p3"/>
            <p:cNvSpPr/>
            <p:nvPr/>
          </p:nvSpPr>
          <p:spPr>
            <a:xfrm>
              <a:off x="2489" y="2448"/>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79" name="Google Shape;479;p3"/>
            <p:cNvSpPr/>
            <p:nvPr/>
          </p:nvSpPr>
          <p:spPr>
            <a:xfrm>
              <a:off x="2494" y="2451"/>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0" name="Google Shape;480;p3"/>
            <p:cNvSpPr/>
            <p:nvPr/>
          </p:nvSpPr>
          <p:spPr>
            <a:xfrm>
              <a:off x="2507" y="2475"/>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1" name="Google Shape;481;p3"/>
            <p:cNvSpPr/>
            <p:nvPr/>
          </p:nvSpPr>
          <p:spPr>
            <a:xfrm>
              <a:off x="2729" y="2485"/>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2" name="Google Shape;482;p3"/>
            <p:cNvSpPr/>
            <p:nvPr/>
          </p:nvSpPr>
          <p:spPr>
            <a:xfrm>
              <a:off x="2626" y="2541"/>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3" name="Google Shape;483;p3"/>
            <p:cNvSpPr/>
            <p:nvPr/>
          </p:nvSpPr>
          <p:spPr>
            <a:xfrm>
              <a:off x="2682" y="2545"/>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4" name="Google Shape;484;p3"/>
            <p:cNvSpPr/>
            <p:nvPr/>
          </p:nvSpPr>
          <p:spPr>
            <a:xfrm>
              <a:off x="2631" y="2561"/>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5" name="Google Shape;485;p3"/>
            <p:cNvSpPr/>
            <p:nvPr/>
          </p:nvSpPr>
          <p:spPr>
            <a:xfrm>
              <a:off x="2686" y="2562"/>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6" name="Google Shape;486;p3"/>
            <p:cNvSpPr/>
            <p:nvPr/>
          </p:nvSpPr>
          <p:spPr>
            <a:xfrm>
              <a:off x="2692" y="2565"/>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7" name="Google Shape;487;p3"/>
            <p:cNvSpPr/>
            <p:nvPr/>
          </p:nvSpPr>
          <p:spPr>
            <a:xfrm>
              <a:off x="2612" y="2588"/>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8" name="Google Shape;488;p3"/>
            <p:cNvSpPr/>
            <p:nvPr/>
          </p:nvSpPr>
          <p:spPr>
            <a:xfrm>
              <a:off x="2658" y="2593"/>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89" name="Google Shape;489;p3"/>
            <p:cNvSpPr/>
            <p:nvPr/>
          </p:nvSpPr>
          <p:spPr>
            <a:xfrm>
              <a:off x="2561" y="2622"/>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0" name="Google Shape;490;p3"/>
            <p:cNvSpPr/>
            <p:nvPr/>
          </p:nvSpPr>
          <p:spPr>
            <a:xfrm>
              <a:off x="2653" y="2628"/>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1" name="Google Shape;491;p3"/>
            <p:cNvSpPr/>
            <p:nvPr/>
          </p:nvSpPr>
          <p:spPr>
            <a:xfrm>
              <a:off x="2662" y="2629"/>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2" name="Google Shape;492;p3"/>
            <p:cNvSpPr/>
            <p:nvPr/>
          </p:nvSpPr>
          <p:spPr>
            <a:xfrm>
              <a:off x="2623" y="2686"/>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3" name="Google Shape;493;p3"/>
            <p:cNvSpPr/>
            <p:nvPr/>
          </p:nvSpPr>
          <p:spPr>
            <a:xfrm>
              <a:off x="2654" y="2693"/>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4" name="Google Shape;494;p3"/>
            <p:cNvSpPr/>
            <p:nvPr/>
          </p:nvSpPr>
          <p:spPr>
            <a:xfrm>
              <a:off x="2535" y="2694"/>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5" name="Google Shape;495;p3"/>
            <p:cNvSpPr/>
            <p:nvPr/>
          </p:nvSpPr>
          <p:spPr>
            <a:xfrm>
              <a:off x="2759" y="2754"/>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496" name="Google Shape;496;p3"/>
          <p:cNvGrpSpPr/>
          <p:nvPr/>
        </p:nvGrpSpPr>
        <p:grpSpPr>
          <a:xfrm>
            <a:off x="4112300" y="4397231"/>
            <a:ext cx="410872" cy="459701"/>
            <a:chOff x="2494" y="2973"/>
            <a:chExt cx="345" cy="386"/>
          </a:xfrm>
        </p:grpSpPr>
        <p:sp>
          <p:nvSpPr>
            <p:cNvPr id="497" name="Google Shape;497;p3"/>
            <p:cNvSpPr/>
            <p:nvPr/>
          </p:nvSpPr>
          <p:spPr>
            <a:xfrm>
              <a:off x="2494" y="2973"/>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8" name="Google Shape;498;p3"/>
            <p:cNvSpPr/>
            <p:nvPr/>
          </p:nvSpPr>
          <p:spPr>
            <a:xfrm>
              <a:off x="2495" y="2973"/>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499" name="Google Shape;499;p3"/>
            <p:cNvSpPr/>
            <p:nvPr/>
          </p:nvSpPr>
          <p:spPr>
            <a:xfrm>
              <a:off x="2500" y="2976"/>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0" name="Google Shape;500;p3"/>
            <p:cNvSpPr/>
            <p:nvPr/>
          </p:nvSpPr>
          <p:spPr>
            <a:xfrm>
              <a:off x="2513" y="3000"/>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1" name="Google Shape;501;p3"/>
            <p:cNvSpPr/>
            <p:nvPr/>
          </p:nvSpPr>
          <p:spPr>
            <a:xfrm>
              <a:off x="2735" y="3010"/>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2" name="Google Shape;502;p3"/>
            <p:cNvSpPr/>
            <p:nvPr/>
          </p:nvSpPr>
          <p:spPr>
            <a:xfrm>
              <a:off x="2632" y="3066"/>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3" name="Google Shape;503;p3"/>
            <p:cNvSpPr/>
            <p:nvPr/>
          </p:nvSpPr>
          <p:spPr>
            <a:xfrm>
              <a:off x="2688" y="3070"/>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4" name="Google Shape;504;p3"/>
            <p:cNvSpPr/>
            <p:nvPr/>
          </p:nvSpPr>
          <p:spPr>
            <a:xfrm>
              <a:off x="2637" y="3086"/>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5" name="Google Shape;505;p3"/>
            <p:cNvSpPr/>
            <p:nvPr/>
          </p:nvSpPr>
          <p:spPr>
            <a:xfrm>
              <a:off x="2692" y="3087"/>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6" name="Google Shape;506;p3"/>
            <p:cNvSpPr/>
            <p:nvPr/>
          </p:nvSpPr>
          <p:spPr>
            <a:xfrm>
              <a:off x="2698" y="3090"/>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7" name="Google Shape;507;p3"/>
            <p:cNvSpPr/>
            <p:nvPr/>
          </p:nvSpPr>
          <p:spPr>
            <a:xfrm>
              <a:off x="2618" y="3113"/>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8" name="Google Shape;508;p3"/>
            <p:cNvSpPr/>
            <p:nvPr/>
          </p:nvSpPr>
          <p:spPr>
            <a:xfrm>
              <a:off x="2664" y="3118"/>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09" name="Google Shape;509;p3"/>
            <p:cNvSpPr/>
            <p:nvPr/>
          </p:nvSpPr>
          <p:spPr>
            <a:xfrm>
              <a:off x="2567" y="3147"/>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0" name="Google Shape;510;p3"/>
            <p:cNvSpPr/>
            <p:nvPr/>
          </p:nvSpPr>
          <p:spPr>
            <a:xfrm>
              <a:off x="2659" y="3153"/>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1" name="Google Shape;511;p3"/>
            <p:cNvSpPr/>
            <p:nvPr/>
          </p:nvSpPr>
          <p:spPr>
            <a:xfrm>
              <a:off x="2668" y="3154"/>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2" name="Google Shape;512;p3"/>
            <p:cNvSpPr/>
            <p:nvPr/>
          </p:nvSpPr>
          <p:spPr>
            <a:xfrm>
              <a:off x="2629" y="3211"/>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3" name="Google Shape;513;p3"/>
            <p:cNvSpPr/>
            <p:nvPr/>
          </p:nvSpPr>
          <p:spPr>
            <a:xfrm>
              <a:off x="2660" y="3218"/>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4" name="Google Shape;514;p3"/>
            <p:cNvSpPr/>
            <p:nvPr/>
          </p:nvSpPr>
          <p:spPr>
            <a:xfrm>
              <a:off x="2541" y="3219"/>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5" name="Google Shape;515;p3"/>
            <p:cNvSpPr/>
            <p:nvPr/>
          </p:nvSpPr>
          <p:spPr>
            <a:xfrm>
              <a:off x="2765" y="3279"/>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516" name="Google Shape;516;p3"/>
          <p:cNvGrpSpPr/>
          <p:nvPr/>
        </p:nvGrpSpPr>
        <p:grpSpPr>
          <a:xfrm>
            <a:off x="4158746" y="5036763"/>
            <a:ext cx="410873" cy="459701"/>
            <a:chOff x="2533" y="3510"/>
            <a:chExt cx="345" cy="386"/>
          </a:xfrm>
        </p:grpSpPr>
        <p:sp>
          <p:nvSpPr>
            <p:cNvPr id="517" name="Google Shape;517;p3"/>
            <p:cNvSpPr/>
            <p:nvPr/>
          </p:nvSpPr>
          <p:spPr>
            <a:xfrm>
              <a:off x="2533" y="3510"/>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8" name="Google Shape;518;p3"/>
            <p:cNvSpPr/>
            <p:nvPr/>
          </p:nvSpPr>
          <p:spPr>
            <a:xfrm>
              <a:off x="2534" y="3510"/>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19" name="Google Shape;519;p3"/>
            <p:cNvSpPr/>
            <p:nvPr/>
          </p:nvSpPr>
          <p:spPr>
            <a:xfrm>
              <a:off x="2539" y="3513"/>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0" name="Google Shape;520;p3"/>
            <p:cNvSpPr/>
            <p:nvPr/>
          </p:nvSpPr>
          <p:spPr>
            <a:xfrm>
              <a:off x="2552" y="3537"/>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1" name="Google Shape;521;p3"/>
            <p:cNvSpPr/>
            <p:nvPr/>
          </p:nvSpPr>
          <p:spPr>
            <a:xfrm>
              <a:off x="2774" y="3547"/>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2" name="Google Shape;522;p3"/>
            <p:cNvSpPr/>
            <p:nvPr/>
          </p:nvSpPr>
          <p:spPr>
            <a:xfrm>
              <a:off x="2671" y="3603"/>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3" name="Google Shape;523;p3"/>
            <p:cNvSpPr/>
            <p:nvPr/>
          </p:nvSpPr>
          <p:spPr>
            <a:xfrm>
              <a:off x="2727" y="3607"/>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4" name="Google Shape;524;p3"/>
            <p:cNvSpPr/>
            <p:nvPr/>
          </p:nvSpPr>
          <p:spPr>
            <a:xfrm>
              <a:off x="2676" y="3623"/>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5" name="Google Shape;525;p3"/>
            <p:cNvSpPr/>
            <p:nvPr/>
          </p:nvSpPr>
          <p:spPr>
            <a:xfrm>
              <a:off x="2731" y="3624"/>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6" name="Google Shape;526;p3"/>
            <p:cNvSpPr/>
            <p:nvPr/>
          </p:nvSpPr>
          <p:spPr>
            <a:xfrm>
              <a:off x="2737" y="3627"/>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7" name="Google Shape;527;p3"/>
            <p:cNvSpPr/>
            <p:nvPr/>
          </p:nvSpPr>
          <p:spPr>
            <a:xfrm>
              <a:off x="2657" y="3650"/>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8" name="Google Shape;528;p3"/>
            <p:cNvSpPr/>
            <p:nvPr/>
          </p:nvSpPr>
          <p:spPr>
            <a:xfrm>
              <a:off x="2703" y="3655"/>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29" name="Google Shape;529;p3"/>
            <p:cNvSpPr/>
            <p:nvPr/>
          </p:nvSpPr>
          <p:spPr>
            <a:xfrm>
              <a:off x="2606" y="3684"/>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0" name="Google Shape;530;p3"/>
            <p:cNvSpPr/>
            <p:nvPr/>
          </p:nvSpPr>
          <p:spPr>
            <a:xfrm>
              <a:off x="2698" y="3690"/>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1" name="Google Shape;531;p3"/>
            <p:cNvSpPr/>
            <p:nvPr/>
          </p:nvSpPr>
          <p:spPr>
            <a:xfrm>
              <a:off x="2707" y="3691"/>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2" name="Google Shape;532;p3"/>
            <p:cNvSpPr/>
            <p:nvPr/>
          </p:nvSpPr>
          <p:spPr>
            <a:xfrm>
              <a:off x="2668" y="3748"/>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3" name="Google Shape;533;p3"/>
            <p:cNvSpPr/>
            <p:nvPr/>
          </p:nvSpPr>
          <p:spPr>
            <a:xfrm>
              <a:off x="2699" y="3755"/>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4" name="Google Shape;534;p3"/>
            <p:cNvSpPr/>
            <p:nvPr/>
          </p:nvSpPr>
          <p:spPr>
            <a:xfrm>
              <a:off x="2580" y="3756"/>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5" name="Google Shape;535;p3"/>
            <p:cNvSpPr/>
            <p:nvPr/>
          </p:nvSpPr>
          <p:spPr>
            <a:xfrm>
              <a:off x="2804" y="3816"/>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536" name="Google Shape;536;p3"/>
          <p:cNvGrpSpPr/>
          <p:nvPr/>
        </p:nvGrpSpPr>
        <p:grpSpPr>
          <a:xfrm>
            <a:off x="4682757" y="4397231"/>
            <a:ext cx="410873" cy="459701"/>
            <a:chOff x="2973" y="2973"/>
            <a:chExt cx="345" cy="386"/>
          </a:xfrm>
        </p:grpSpPr>
        <p:sp>
          <p:nvSpPr>
            <p:cNvPr id="537" name="Google Shape;537;p3"/>
            <p:cNvSpPr/>
            <p:nvPr/>
          </p:nvSpPr>
          <p:spPr>
            <a:xfrm>
              <a:off x="2973" y="2973"/>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8" name="Google Shape;538;p3"/>
            <p:cNvSpPr/>
            <p:nvPr/>
          </p:nvSpPr>
          <p:spPr>
            <a:xfrm>
              <a:off x="2974" y="2973"/>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39" name="Google Shape;539;p3"/>
            <p:cNvSpPr/>
            <p:nvPr/>
          </p:nvSpPr>
          <p:spPr>
            <a:xfrm>
              <a:off x="2979" y="2976"/>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0" name="Google Shape;540;p3"/>
            <p:cNvSpPr/>
            <p:nvPr/>
          </p:nvSpPr>
          <p:spPr>
            <a:xfrm>
              <a:off x="2992" y="3000"/>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1" name="Google Shape;541;p3"/>
            <p:cNvSpPr/>
            <p:nvPr/>
          </p:nvSpPr>
          <p:spPr>
            <a:xfrm>
              <a:off x="3214" y="3010"/>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2" name="Google Shape;542;p3"/>
            <p:cNvSpPr/>
            <p:nvPr/>
          </p:nvSpPr>
          <p:spPr>
            <a:xfrm>
              <a:off x="3111" y="3066"/>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3" name="Google Shape;543;p3"/>
            <p:cNvSpPr/>
            <p:nvPr/>
          </p:nvSpPr>
          <p:spPr>
            <a:xfrm>
              <a:off x="3167" y="3070"/>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4" name="Google Shape;544;p3"/>
            <p:cNvSpPr/>
            <p:nvPr/>
          </p:nvSpPr>
          <p:spPr>
            <a:xfrm>
              <a:off x="3116" y="3086"/>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5" name="Google Shape;545;p3"/>
            <p:cNvSpPr/>
            <p:nvPr/>
          </p:nvSpPr>
          <p:spPr>
            <a:xfrm>
              <a:off x="3171" y="3087"/>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6" name="Google Shape;546;p3"/>
            <p:cNvSpPr/>
            <p:nvPr/>
          </p:nvSpPr>
          <p:spPr>
            <a:xfrm>
              <a:off x="3177" y="3090"/>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7" name="Google Shape;547;p3"/>
            <p:cNvSpPr/>
            <p:nvPr/>
          </p:nvSpPr>
          <p:spPr>
            <a:xfrm>
              <a:off x="3097" y="3113"/>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8" name="Google Shape;548;p3"/>
            <p:cNvSpPr/>
            <p:nvPr/>
          </p:nvSpPr>
          <p:spPr>
            <a:xfrm>
              <a:off x="3143" y="3118"/>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49" name="Google Shape;549;p3"/>
            <p:cNvSpPr/>
            <p:nvPr/>
          </p:nvSpPr>
          <p:spPr>
            <a:xfrm>
              <a:off x="3046" y="3147"/>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0" name="Google Shape;550;p3"/>
            <p:cNvSpPr/>
            <p:nvPr/>
          </p:nvSpPr>
          <p:spPr>
            <a:xfrm>
              <a:off x="3138" y="3153"/>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1" name="Google Shape;551;p3"/>
            <p:cNvSpPr/>
            <p:nvPr/>
          </p:nvSpPr>
          <p:spPr>
            <a:xfrm>
              <a:off x="3147" y="3154"/>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2" name="Google Shape;552;p3"/>
            <p:cNvSpPr/>
            <p:nvPr/>
          </p:nvSpPr>
          <p:spPr>
            <a:xfrm>
              <a:off x="3108" y="3211"/>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3" name="Google Shape;553;p3"/>
            <p:cNvSpPr/>
            <p:nvPr/>
          </p:nvSpPr>
          <p:spPr>
            <a:xfrm>
              <a:off x="3139" y="3218"/>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4" name="Google Shape;554;p3"/>
            <p:cNvSpPr/>
            <p:nvPr/>
          </p:nvSpPr>
          <p:spPr>
            <a:xfrm>
              <a:off x="3020" y="3219"/>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5" name="Google Shape;555;p3"/>
            <p:cNvSpPr/>
            <p:nvPr/>
          </p:nvSpPr>
          <p:spPr>
            <a:xfrm>
              <a:off x="3244" y="3279"/>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556" name="Google Shape;556;p3"/>
          <p:cNvGrpSpPr/>
          <p:nvPr/>
        </p:nvGrpSpPr>
        <p:grpSpPr>
          <a:xfrm>
            <a:off x="5223442" y="4397231"/>
            <a:ext cx="410873" cy="459701"/>
            <a:chOff x="3427" y="2973"/>
            <a:chExt cx="345" cy="386"/>
          </a:xfrm>
        </p:grpSpPr>
        <p:sp>
          <p:nvSpPr>
            <p:cNvPr id="557" name="Google Shape;557;p3"/>
            <p:cNvSpPr/>
            <p:nvPr/>
          </p:nvSpPr>
          <p:spPr>
            <a:xfrm>
              <a:off x="3427" y="2973"/>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8" name="Google Shape;558;p3"/>
            <p:cNvSpPr/>
            <p:nvPr/>
          </p:nvSpPr>
          <p:spPr>
            <a:xfrm>
              <a:off x="3428" y="2973"/>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59" name="Google Shape;559;p3"/>
            <p:cNvSpPr/>
            <p:nvPr/>
          </p:nvSpPr>
          <p:spPr>
            <a:xfrm>
              <a:off x="3433" y="2976"/>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0" name="Google Shape;560;p3"/>
            <p:cNvSpPr/>
            <p:nvPr/>
          </p:nvSpPr>
          <p:spPr>
            <a:xfrm>
              <a:off x="3446" y="3000"/>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1" name="Google Shape;561;p3"/>
            <p:cNvSpPr/>
            <p:nvPr/>
          </p:nvSpPr>
          <p:spPr>
            <a:xfrm>
              <a:off x="3668" y="3010"/>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2" name="Google Shape;562;p3"/>
            <p:cNvSpPr/>
            <p:nvPr/>
          </p:nvSpPr>
          <p:spPr>
            <a:xfrm>
              <a:off x="3565" y="3066"/>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3" name="Google Shape;563;p3"/>
            <p:cNvSpPr/>
            <p:nvPr/>
          </p:nvSpPr>
          <p:spPr>
            <a:xfrm>
              <a:off x="3621" y="3070"/>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4" name="Google Shape;564;p3"/>
            <p:cNvSpPr/>
            <p:nvPr/>
          </p:nvSpPr>
          <p:spPr>
            <a:xfrm>
              <a:off x="3570" y="3086"/>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5" name="Google Shape;565;p3"/>
            <p:cNvSpPr/>
            <p:nvPr/>
          </p:nvSpPr>
          <p:spPr>
            <a:xfrm>
              <a:off x="3625" y="3087"/>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6" name="Google Shape;566;p3"/>
            <p:cNvSpPr/>
            <p:nvPr/>
          </p:nvSpPr>
          <p:spPr>
            <a:xfrm>
              <a:off x="3631" y="3090"/>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7" name="Google Shape;567;p3"/>
            <p:cNvSpPr/>
            <p:nvPr/>
          </p:nvSpPr>
          <p:spPr>
            <a:xfrm>
              <a:off x="3551" y="3113"/>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8" name="Google Shape;568;p3"/>
            <p:cNvSpPr/>
            <p:nvPr/>
          </p:nvSpPr>
          <p:spPr>
            <a:xfrm>
              <a:off x="3597" y="3118"/>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69" name="Google Shape;569;p3"/>
            <p:cNvSpPr/>
            <p:nvPr/>
          </p:nvSpPr>
          <p:spPr>
            <a:xfrm>
              <a:off x="3500" y="3147"/>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0" name="Google Shape;570;p3"/>
            <p:cNvSpPr/>
            <p:nvPr/>
          </p:nvSpPr>
          <p:spPr>
            <a:xfrm>
              <a:off x="3592" y="3153"/>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1" name="Google Shape;571;p3"/>
            <p:cNvSpPr/>
            <p:nvPr/>
          </p:nvSpPr>
          <p:spPr>
            <a:xfrm>
              <a:off x="3601" y="3154"/>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2" name="Google Shape;572;p3"/>
            <p:cNvSpPr/>
            <p:nvPr/>
          </p:nvSpPr>
          <p:spPr>
            <a:xfrm>
              <a:off x="3562" y="3211"/>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3" name="Google Shape;573;p3"/>
            <p:cNvSpPr/>
            <p:nvPr/>
          </p:nvSpPr>
          <p:spPr>
            <a:xfrm>
              <a:off x="3593" y="3218"/>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4" name="Google Shape;574;p3"/>
            <p:cNvSpPr/>
            <p:nvPr/>
          </p:nvSpPr>
          <p:spPr>
            <a:xfrm>
              <a:off x="3474" y="3219"/>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5" name="Google Shape;575;p3"/>
            <p:cNvSpPr/>
            <p:nvPr/>
          </p:nvSpPr>
          <p:spPr>
            <a:xfrm>
              <a:off x="3698" y="3279"/>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576" name="Google Shape;576;p3"/>
          <p:cNvGrpSpPr/>
          <p:nvPr/>
        </p:nvGrpSpPr>
        <p:grpSpPr>
          <a:xfrm>
            <a:off x="5895129" y="3758890"/>
            <a:ext cx="410873" cy="459701"/>
            <a:chOff x="3991" y="2437"/>
            <a:chExt cx="345" cy="386"/>
          </a:xfrm>
        </p:grpSpPr>
        <p:sp>
          <p:nvSpPr>
            <p:cNvPr id="577" name="Google Shape;577;p3"/>
            <p:cNvSpPr/>
            <p:nvPr/>
          </p:nvSpPr>
          <p:spPr>
            <a:xfrm>
              <a:off x="3991" y="2437"/>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8" name="Google Shape;578;p3"/>
            <p:cNvSpPr/>
            <p:nvPr/>
          </p:nvSpPr>
          <p:spPr>
            <a:xfrm>
              <a:off x="3992" y="2437"/>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79" name="Google Shape;579;p3"/>
            <p:cNvSpPr/>
            <p:nvPr/>
          </p:nvSpPr>
          <p:spPr>
            <a:xfrm>
              <a:off x="3997" y="2440"/>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0" name="Google Shape;580;p3"/>
            <p:cNvSpPr/>
            <p:nvPr/>
          </p:nvSpPr>
          <p:spPr>
            <a:xfrm>
              <a:off x="4010" y="2464"/>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1" name="Google Shape;581;p3"/>
            <p:cNvSpPr/>
            <p:nvPr/>
          </p:nvSpPr>
          <p:spPr>
            <a:xfrm>
              <a:off x="4232" y="2474"/>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2" name="Google Shape;582;p3"/>
            <p:cNvSpPr/>
            <p:nvPr/>
          </p:nvSpPr>
          <p:spPr>
            <a:xfrm>
              <a:off x="4129" y="2530"/>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3" name="Google Shape;583;p3"/>
            <p:cNvSpPr/>
            <p:nvPr/>
          </p:nvSpPr>
          <p:spPr>
            <a:xfrm>
              <a:off x="4185" y="2534"/>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4" name="Google Shape;584;p3"/>
            <p:cNvSpPr/>
            <p:nvPr/>
          </p:nvSpPr>
          <p:spPr>
            <a:xfrm>
              <a:off x="4134" y="2550"/>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5" name="Google Shape;585;p3"/>
            <p:cNvSpPr/>
            <p:nvPr/>
          </p:nvSpPr>
          <p:spPr>
            <a:xfrm>
              <a:off x="4189" y="2551"/>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6" name="Google Shape;586;p3"/>
            <p:cNvSpPr/>
            <p:nvPr/>
          </p:nvSpPr>
          <p:spPr>
            <a:xfrm>
              <a:off x="4195" y="2554"/>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7" name="Google Shape;587;p3"/>
            <p:cNvSpPr/>
            <p:nvPr/>
          </p:nvSpPr>
          <p:spPr>
            <a:xfrm>
              <a:off x="4115" y="2577"/>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8" name="Google Shape;588;p3"/>
            <p:cNvSpPr/>
            <p:nvPr/>
          </p:nvSpPr>
          <p:spPr>
            <a:xfrm>
              <a:off x="4161" y="2582"/>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89" name="Google Shape;589;p3"/>
            <p:cNvSpPr/>
            <p:nvPr/>
          </p:nvSpPr>
          <p:spPr>
            <a:xfrm>
              <a:off x="4064" y="2611"/>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0" name="Google Shape;590;p3"/>
            <p:cNvSpPr/>
            <p:nvPr/>
          </p:nvSpPr>
          <p:spPr>
            <a:xfrm>
              <a:off x="4156" y="2617"/>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1" name="Google Shape;591;p3"/>
            <p:cNvSpPr/>
            <p:nvPr/>
          </p:nvSpPr>
          <p:spPr>
            <a:xfrm>
              <a:off x="4165" y="2618"/>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2" name="Google Shape;592;p3"/>
            <p:cNvSpPr/>
            <p:nvPr/>
          </p:nvSpPr>
          <p:spPr>
            <a:xfrm>
              <a:off x="4126" y="2675"/>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3" name="Google Shape;593;p3"/>
            <p:cNvSpPr/>
            <p:nvPr/>
          </p:nvSpPr>
          <p:spPr>
            <a:xfrm>
              <a:off x="4157" y="2682"/>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4" name="Google Shape;594;p3"/>
            <p:cNvSpPr/>
            <p:nvPr/>
          </p:nvSpPr>
          <p:spPr>
            <a:xfrm>
              <a:off x="4038" y="2683"/>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5" name="Google Shape;595;p3"/>
            <p:cNvSpPr/>
            <p:nvPr/>
          </p:nvSpPr>
          <p:spPr>
            <a:xfrm>
              <a:off x="4262" y="2743"/>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596" name="Google Shape;596;p3"/>
          <p:cNvGrpSpPr/>
          <p:nvPr/>
        </p:nvGrpSpPr>
        <p:grpSpPr>
          <a:xfrm>
            <a:off x="5902275" y="4384130"/>
            <a:ext cx="410873" cy="459701"/>
            <a:chOff x="3997" y="2962"/>
            <a:chExt cx="345" cy="386"/>
          </a:xfrm>
        </p:grpSpPr>
        <p:sp>
          <p:nvSpPr>
            <p:cNvPr id="597" name="Google Shape;597;p3"/>
            <p:cNvSpPr/>
            <p:nvPr/>
          </p:nvSpPr>
          <p:spPr>
            <a:xfrm>
              <a:off x="3997" y="2962"/>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8" name="Google Shape;598;p3"/>
            <p:cNvSpPr/>
            <p:nvPr/>
          </p:nvSpPr>
          <p:spPr>
            <a:xfrm>
              <a:off x="3998" y="2962"/>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599" name="Google Shape;599;p3"/>
            <p:cNvSpPr/>
            <p:nvPr/>
          </p:nvSpPr>
          <p:spPr>
            <a:xfrm>
              <a:off x="4003" y="2965"/>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0" name="Google Shape;600;p3"/>
            <p:cNvSpPr/>
            <p:nvPr/>
          </p:nvSpPr>
          <p:spPr>
            <a:xfrm>
              <a:off x="4016" y="2989"/>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1" name="Google Shape;601;p3"/>
            <p:cNvSpPr/>
            <p:nvPr/>
          </p:nvSpPr>
          <p:spPr>
            <a:xfrm>
              <a:off x="4238" y="2999"/>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2" name="Google Shape;602;p3"/>
            <p:cNvSpPr/>
            <p:nvPr/>
          </p:nvSpPr>
          <p:spPr>
            <a:xfrm>
              <a:off x="4135" y="3055"/>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3" name="Google Shape;603;p3"/>
            <p:cNvSpPr/>
            <p:nvPr/>
          </p:nvSpPr>
          <p:spPr>
            <a:xfrm>
              <a:off x="4191" y="3059"/>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4" name="Google Shape;604;p3"/>
            <p:cNvSpPr/>
            <p:nvPr/>
          </p:nvSpPr>
          <p:spPr>
            <a:xfrm>
              <a:off x="4140" y="3075"/>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5" name="Google Shape;605;p3"/>
            <p:cNvSpPr/>
            <p:nvPr/>
          </p:nvSpPr>
          <p:spPr>
            <a:xfrm>
              <a:off x="4195" y="3076"/>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6" name="Google Shape;606;p3"/>
            <p:cNvSpPr/>
            <p:nvPr/>
          </p:nvSpPr>
          <p:spPr>
            <a:xfrm>
              <a:off x="4201" y="3079"/>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7" name="Google Shape;607;p3"/>
            <p:cNvSpPr/>
            <p:nvPr/>
          </p:nvSpPr>
          <p:spPr>
            <a:xfrm>
              <a:off x="4121" y="3102"/>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8" name="Google Shape;608;p3"/>
            <p:cNvSpPr/>
            <p:nvPr/>
          </p:nvSpPr>
          <p:spPr>
            <a:xfrm>
              <a:off x="4167" y="3107"/>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09" name="Google Shape;609;p3"/>
            <p:cNvSpPr/>
            <p:nvPr/>
          </p:nvSpPr>
          <p:spPr>
            <a:xfrm>
              <a:off x="4070" y="3136"/>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0" name="Google Shape;610;p3"/>
            <p:cNvSpPr/>
            <p:nvPr/>
          </p:nvSpPr>
          <p:spPr>
            <a:xfrm>
              <a:off x="4162" y="3142"/>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1" name="Google Shape;611;p3"/>
            <p:cNvSpPr/>
            <p:nvPr/>
          </p:nvSpPr>
          <p:spPr>
            <a:xfrm>
              <a:off x="4171" y="3143"/>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2" name="Google Shape;612;p3"/>
            <p:cNvSpPr/>
            <p:nvPr/>
          </p:nvSpPr>
          <p:spPr>
            <a:xfrm>
              <a:off x="4132" y="3200"/>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3" name="Google Shape;613;p3"/>
            <p:cNvSpPr/>
            <p:nvPr/>
          </p:nvSpPr>
          <p:spPr>
            <a:xfrm>
              <a:off x="4163" y="3207"/>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4" name="Google Shape;614;p3"/>
            <p:cNvSpPr/>
            <p:nvPr/>
          </p:nvSpPr>
          <p:spPr>
            <a:xfrm>
              <a:off x="4044" y="3208"/>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5" name="Google Shape;615;p3"/>
            <p:cNvSpPr/>
            <p:nvPr/>
          </p:nvSpPr>
          <p:spPr>
            <a:xfrm>
              <a:off x="4268" y="3268"/>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616" name="Google Shape;616;p3"/>
          <p:cNvGrpSpPr/>
          <p:nvPr/>
        </p:nvGrpSpPr>
        <p:grpSpPr>
          <a:xfrm>
            <a:off x="6448915" y="4384130"/>
            <a:ext cx="410872" cy="459701"/>
            <a:chOff x="4456" y="2962"/>
            <a:chExt cx="345" cy="386"/>
          </a:xfrm>
        </p:grpSpPr>
        <p:sp>
          <p:nvSpPr>
            <p:cNvPr id="617" name="Google Shape;617;p3"/>
            <p:cNvSpPr/>
            <p:nvPr/>
          </p:nvSpPr>
          <p:spPr>
            <a:xfrm>
              <a:off x="4456" y="2962"/>
              <a:ext cx="345" cy="38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8" name="Google Shape;618;p3"/>
            <p:cNvSpPr/>
            <p:nvPr/>
          </p:nvSpPr>
          <p:spPr>
            <a:xfrm>
              <a:off x="4457" y="2962"/>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19" name="Google Shape;619;p3"/>
            <p:cNvSpPr/>
            <p:nvPr/>
          </p:nvSpPr>
          <p:spPr>
            <a:xfrm>
              <a:off x="4462" y="2965"/>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0" name="Google Shape;620;p3"/>
            <p:cNvSpPr/>
            <p:nvPr/>
          </p:nvSpPr>
          <p:spPr>
            <a:xfrm>
              <a:off x="4475" y="2989"/>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1" name="Google Shape;621;p3"/>
            <p:cNvSpPr/>
            <p:nvPr/>
          </p:nvSpPr>
          <p:spPr>
            <a:xfrm>
              <a:off x="4697" y="2999"/>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2" name="Google Shape;622;p3"/>
            <p:cNvSpPr/>
            <p:nvPr/>
          </p:nvSpPr>
          <p:spPr>
            <a:xfrm>
              <a:off x="4594" y="3055"/>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3" name="Google Shape;623;p3"/>
            <p:cNvSpPr/>
            <p:nvPr/>
          </p:nvSpPr>
          <p:spPr>
            <a:xfrm>
              <a:off x="4650" y="3059"/>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4" name="Google Shape;624;p3"/>
            <p:cNvSpPr/>
            <p:nvPr/>
          </p:nvSpPr>
          <p:spPr>
            <a:xfrm>
              <a:off x="4599" y="3075"/>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5" name="Google Shape;625;p3"/>
            <p:cNvSpPr/>
            <p:nvPr/>
          </p:nvSpPr>
          <p:spPr>
            <a:xfrm>
              <a:off x="4654" y="3076"/>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6" name="Google Shape;626;p3"/>
            <p:cNvSpPr/>
            <p:nvPr/>
          </p:nvSpPr>
          <p:spPr>
            <a:xfrm>
              <a:off x="4660" y="3079"/>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7" name="Google Shape;627;p3"/>
            <p:cNvSpPr/>
            <p:nvPr/>
          </p:nvSpPr>
          <p:spPr>
            <a:xfrm>
              <a:off x="4580" y="3102"/>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8" name="Google Shape;628;p3"/>
            <p:cNvSpPr/>
            <p:nvPr/>
          </p:nvSpPr>
          <p:spPr>
            <a:xfrm>
              <a:off x="4626" y="3107"/>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29" name="Google Shape;629;p3"/>
            <p:cNvSpPr/>
            <p:nvPr/>
          </p:nvSpPr>
          <p:spPr>
            <a:xfrm>
              <a:off x="4529" y="3136"/>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0" name="Google Shape;630;p3"/>
            <p:cNvSpPr/>
            <p:nvPr/>
          </p:nvSpPr>
          <p:spPr>
            <a:xfrm>
              <a:off x="4621" y="3142"/>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1" name="Google Shape;631;p3"/>
            <p:cNvSpPr/>
            <p:nvPr/>
          </p:nvSpPr>
          <p:spPr>
            <a:xfrm>
              <a:off x="4630" y="3143"/>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2" name="Google Shape;632;p3"/>
            <p:cNvSpPr/>
            <p:nvPr/>
          </p:nvSpPr>
          <p:spPr>
            <a:xfrm>
              <a:off x="4591" y="3200"/>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3" name="Google Shape;633;p3"/>
            <p:cNvSpPr/>
            <p:nvPr/>
          </p:nvSpPr>
          <p:spPr>
            <a:xfrm>
              <a:off x="4622" y="3207"/>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4" name="Google Shape;634;p3"/>
            <p:cNvSpPr/>
            <p:nvPr/>
          </p:nvSpPr>
          <p:spPr>
            <a:xfrm>
              <a:off x="4503" y="3208"/>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5" name="Google Shape;635;p3"/>
            <p:cNvSpPr/>
            <p:nvPr/>
          </p:nvSpPr>
          <p:spPr>
            <a:xfrm>
              <a:off x="4727" y="3268"/>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636" name="Google Shape;636;p3"/>
          <p:cNvGrpSpPr/>
          <p:nvPr/>
        </p:nvGrpSpPr>
        <p:grpSpPr>
          <a:xfrm>
            <a:off x="6995553" y="4378176"/>
            <a:ext cx="410873" cy="459701"/>
            <a:chOff x="4915" y="2957"/>
            <a:chExt cx="345" cy="386"/>
          </a:xfrm>
        </p:grpSpPr>
        <p:sp>
          <p:nvSpPr>
            <p:cNvPr id="637" name="Google Shape;637;p3"/>
            <p:cNvSpPr/>
            <p:nvPr/>
          </p:nvSpPr>
          <p:spPr>
            <a:xfrm>
              <a:off x="4915" y="2957"/>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8" name="Google Shape;638;p3"/>
            <p:cNvSpPr/>
            <p:nvPr/>
          </p:nvSpPr>
          <p:spPr>
            <a:xfrm>
              <a:off x="4916" y="2957"/>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39" name="Google Shape;639;p3"/>
            <p:cNvSpPr/>
            <p:nvPr/>
          </p:nvSpPr>
          <p:spPr>
            <a:xfrm>
              <a:off x="4921" y="2960"/>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0" name="Google Shape;640;p3"/>
            <p:cNvSpPr/>
            <p:nvPr/>
          </p:nvSpPr>
          <p:spPr>
            <a:xfrm>
              <a:off x="4934" y="2984"/>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1" name="Google Shape;641;p3"/>
            <p:cNvSpPr/>
            <p:nvPr/>
          </p:nvSpPr>
          <p:spPr>
            <a:xfrm>
              <a:off x="5156" y="2994"/>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2" name="Google Shape;642;p3"/>
            <p:cNvSpPr/>
            <p:nvPr/>
          </p:nvSpPr>
          <p:spPr>
            <a:xfrm>
              <a:off x="5053" y="3050"/>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3" name="Google Shape;643;p3"/>
            <p:cNvSpPr/>
            <p:nvPr/>
          </p:nvSpPr>
          <p:spPr>
            <a:xfrm>
              <a:off x="5109" y="3054"/>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4" name="Google Shape;644;p3"/>
            <p:cNvSpPr/>
            <p:nvPr/>
          </p:nvSpPr>
          <p:spPr>
            <a:xfrm>
              <a:off x="5058" y="3070"/>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5" name="Google Shape;645;p3"/>
            <p:cNvSpPr/>
            <p:nvPr/>
          </p:nvSpPr>
          <p:spPr>
            <a:xfrm>
              <a:off x="5113" y="3071"/>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6" name="Google Shape;646;p3"/>
            <p:cNvSpPr/>
            <p:nvPr/>
          </p:nvSpPr>
          <p:spPr>
            <a:xfrm>
              <a:off x="5119" y="3074"/>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7" name="Google Shape;647;p3"/>
            <p:cNvSpPr/>
            <p:nvPr/>
          </p:nvSpPr>
          <p:spPr>
            <a:xfrm>
              <a:off x="5039" y="3097"/>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8" name="Google Shape;648;p3"/>
            <p:cNvSpPr/>
            <p:nvPr/>
          </p:nvSpPr>
          <p:spPr>
            <a:xfrm>
              <a:off x="5085" y="3102"/>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49" name="Google Shape;649;p3"/>
            <p:cNvSpPr/>
            <p:nvPr/>
          </p:nvSpPr>
          <p:spPr>
            <a:xfrm>
              <a:off x="4988" y="3131"/>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0" name="Google Shape;650;p3"/>
            <p:cNvSpPr/>
            <p:nvPr/>
          </p:nvSpPr>
          <p:spPr>
            <a:xfrm>
              <a:off x="5080" y="3137"/>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1" name="Google Shape;651;p3"/>
            <p:cNvSpPr/>
            <p:nvPr/>
          </p:nvSpPr>
          <p:spPr>
            <a:xfrm>
              <a:off x="5089" y="3138"/>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2" name="Google Shape;652;p3"/>
            <p:cNvSpPr/>
            <p:nvPr/>
          </p:nvSpPr>
          <p:spPr>
            <a:xfrm>
              <a:off x="5050" y="3195"/>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3" name="Google Shape;653;p3"/>
            <p:cNvSpPr/>
            <p:nvPr/>
          </p:nvSpPr>
          <p:spPr>
            <a:xfrm>
              <a:off x="5081" y="3202"/>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4" name="Google Shape;654;p3"/>
            <p:cNvSpPr/>
            <p:nvPr/>
          </p:nvSpPr>
          <p:spPr>
            <a:xfrm>
              <a:off x="4962" y="3203"/>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5" name="Google Shape;655;p3"/>
            <p:cNvSpPr/>
            <p:nvPr/>
          </p:nvSpPr>
          <p:spPr>
            <a:xfrm>
              <a:off x="5186" y="3263"/>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656" name="Google Shape;656;p3"/>
          <p:cNvGrpSpPr/>
          <p:nvPr/>
        </p:nvGrpSpPr>
        <p:grpSpPr>
          <a:xfrm>
            <a:off x="7531474" y="4369839"/>
            <a:ext cx="410873" cy="459701"/>
            <a:chOff x="5365" y="2950"/>
            <a:chExt cx="345" cy="386"/>
          </a:xfrm>
        </p:grpSpPr>
        <p:sp>
          <p:nvSpPr>
            <p:cNvPr id="657" name="Google Shape;657;p3"/>
            <p:cNvSpPr/>
            <p:nvPr/>
          </p:nvSpPr>
          <p:spPr>
            <a:xfrm>
              <a:off x="5365" y="2950"/>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8" name="Google Shape;658;p3"/>
            <p:cNvSpPr/>
            <p:nvPr/>
          </p:nvSpPr>
          <p:spPr>
            <a:xfrm>
              <a:off x="5366" y="2950"/>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59" name="Google Shape;659;p3"/>
            <p:cNvSpPr/>
            <p:nvPr/>
          </p:nvSpPr>
          <p:spPr>
            <a:xfrm>
              <a:off x="5371" y="2953"/>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0" name="Google Shape;660;p3"/>
            <p:cNvSpPr/>
            <p:nvPr/>
          </p:nvSpPr>
          <p:spPr>
            <a:xfrm>
              <a:off x="5384" y="2977"/>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1" name="Google Shape;661;p3"/>
            <p:cNvSpPr/>
            <p:nvPr/>
          </p:nvSpPr>
          <p:spPr>
            <a:xfrm>
              <a:off x="5606" y="2987"/>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2" name="Google Shape;662;p3"/>
            <p:cNvSpPr/>
            <p:nvPr/>
          </p:nvSpPr>
          <p:spPr>
            <a:xfrm>
              <a:off x="5503" y="3043"/>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3" name="Google Shape;663;p3"/>
            <p:cNvSpPr/>
            <p:nvPr/>
          </p:nvSpPr>
          <p:spPr>
            <a:xfrm>
              <a:off x="5559" y="3047"/>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4" name="Google Shape;664;p3"/>
            <p:cNvSpPr/>
            <p:nvPr/>
          </p:nvSpPr>
          <p:spPr>
            <a:xfrm>
              <a:off x="5508" y="3063"/>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5" name="Google Shape;665;p3"/>
            <p:cNvSpPr/>
            <p:nvPr/>
          </p:nvSpPr>
          <p:spPr>
            <a:xfrm>
              <a:off x="5563" y="3064"/>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6" name="Google Shape;666;p3"/>
            <p:cNvSpPr/>
            <p:nvPr/>
          </p:nvSpPr>
          <p:spPr>
            <a:xfrm>
              <a:off x="5569" y="3067"/>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7" name="Google Shape;667;p3"/>
            <p:cNvSpPr/>
            <p:nvPr/>
          </p:nvSpPr>
          <p:spPr>
            <a:xfrm>
              <a:off x="5489" y="3090"/>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8" name="Google Shape;668;p3"/>
            <p:cNvSpPr/>
            <p:nvPr/>
          </p:nvSpPr>
          <p:spPr>
            <a:xfrm>
              <a:off x="5535" y="3095"/>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69" name="Google Shape;669;p3"/>
            <p:cNvSpPr/>
            <p:nvPr/>
          </p:nvSpPr>
          <p:spPr>
            <a:xfrm>
              <a:off x="5438" y="3124"/>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0" name="Google Shape;670;p3"/>
            <p:cNvSpPr/>
            <p:nvPr/>
          </p:nvSpPr>
          <p:spPr>
            <a:xfrm>
              <a:off x="5530" y="3130"/>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1" name="Google Shape;671;p3"/>
            <p:cNvSpPr/>
            <p:nvPr/>
          </p:nvSpPr>
          <p:spPr>
            <a:xfrm>
              <a:off x="5539" y="3131"/>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2" name="Google Shape;672;p3"/>
            <p:cNvSpPr/>
            <p:nvPr/>
          </p:nvSpPr>
          <p:spPr>
            <a:xfrm>
              <a:off x="5500" y="3188"/>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3" name="Google Shape;673;p3"/>
            <p:cNvSpPr/>
            <p:nvPr/>
          </p:nvSpPr>
          <p:spPr>
            <a:xfrm>
              <a:off x="5531" y="3195"/>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4" name="Google Shape;674;p3"/>
            <p:cNvSpPr/>
            <p:nvPr/>
          </p:nvSpPr>
          <p:spPr>
            <a:xfrm>
              <a:off x="5412" y="3196"/>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5" name="Google Shape;675;p3"/>
            <p:cNvSpPr/>
            <p:nvPr/>
          </p:nvSpPr>
          <p:spPr>
            <a:xfrm>
              <a:off x="5636" y="3256"/>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676" name="Google Shape;676;p3"/>
          <p:cNvGrpSpPr/>
          <p:nvPr/>
        </p:nvGrpSpPr>
        <p:grpSpPr>
          <a:xfrm>
            <a:off x="5948722" y="5023663"/>
            <a:ext cx="410872" cy="459701"/>
            <a:chOff x="4036" y="3499"/>
            <a:chExt cx="345" cy="386"/>
          </a:xfrm>
        </p:grpSpPr>
        <p:sp>
          <p:nvSpPr>
            <p:cNvPr id="677" name="Google Shape;677;p3"/>
            <p:cNvSpPr/>
            <p:nvPr/>
          </p:nvSpPr>
          <p:spPr>
            <a:xfrm>
              <a:off x="4036" y="3499"/>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8" name="Google Shape;678;p3"/>
            <p:cNvSpPr/>
            <p:nvPr/>
          </p:nvSpPr>
          <p:spPr>
            <a:xfrm>
              <a:off x="4037" y="3499"/>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79" name="Google Shape;679;p3"/>
            <p:cNvSpPr/>
            <p:nvPr/>
          </p:nvSpPr>
          <p:spPr>
            <a:xfrm>
              <a:off x="4042" y="3502"/>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0" name="Google Shape;680;p3"/>
            <p:cNvSpPr/>
            <p:nvPr/>
          </p:nvSpPr>
          <p:spPr>
            <a:xfrm>
              <a:off x="4055" y="3526"/>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1" name="Google Shape;681;p3"/>
            <p:cNvSpPr/>
            <p:nvPr/>
          </p:nvSpPr>
          <p:spPr>
            <a:xfrm>
              <a:off x="4277" y="3536"/>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2" name="Google Shape;682;p3"/>
            <p:cNvSpPr/>
            <p:nvPr/>
          </p:nvSpPr>
          <p:spPr>
            <a:xfrm>
              <a:off x="4174" y="3592"/>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3" name="Google Shape;683;p3"/>
            <p:cNvSpPr/>
            <p:nvPr/>
          </p:nvSpPr>
          <p:spPr>
            <a:xfrm>
              <a:off x="4230" y="3596"/>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4" name="Google Shape;684;p3"/>
            <p:cNvSpPr/>
            <p:nvPr/>
          </p:nvSpPr>
          <p:spPr>
            <a:xfrm>
              <a:off x="4179" y="3612"/>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5" name="Google Shape;685;p3"/>
            <p:cNvSpPr/>
            <p:nvPr/>
          </p:nvSpPr>
          <p:spPr>
            <a:xfrm>
              <a:off x="4234" y="3613"/>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6" name="Google Shape;686;p3"/>
            <p:cNvSpPr/>
            <p:nvPr/>
          </p:nvSpPr>
          <p:spPr>
            <a:xfrm>
              <a:off x="4240" y="3616"/>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7" name="Google Shape;687;p3"/>
            <p:cNvSpPr/>
            <p:nvPr/>
          </p:nvSpPr>
          <p:spPr>
            <a:xfrm>
              <a:off x="4160" y="3639"/>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8" name="Google Shape;688;p3"/>
            <p:cNvSpPr/>
            <p:nvPr/>
          </p:nvSpPr>
          <p:spPr>
            <a:xfrm>
              <a:off x="4206" y="3644"/>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89" name="Google Shape;689;p3"/>
            <p:cNvSpPr/>
            <p:nvPr/>
          </p:nvSpPr>
          <p:spPr>
            <a:xfrm>
              <a:off x="4109" y="3673"/>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0" name="Google Shape;690;p3"/>
            <p:cNvSpPr/>
            <p:nvPr/>
          </p:nvSpPr>
          <p:spPr>
            <a:xfrm>
              <a:off x="4201" y="3679"/>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1" name="Google Shape;691;p3"/>
            <p:cNvSpPr/>
            <p:nvPr/>
          </p:nvSpPr>
          <p:spPr>
            <a:xfrm>
              <a:off x="4210" y="3680"/>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2" name="Google Shape;692;p3"/>
            <p:cNvSpPr/>
            <p:nvPr/>
          </p:nvSpPr>
          <p:spPr>
            <a:xfrm>
              <a:off x="4171" y="3737"/>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3" name="Google Shape;693;p3"/>
            <p:cNvSpPr/>
            <p:nvPr/>
          </p:nvSpPr>
          <p:spPr>
            <a:xfrm>
              <a:off x="4202" y="3744"/>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4" name="Google Shape;694;p3"/>
            <p:cNvSpPr/>
            <p:nvPr/>
          </p:nvSpPr>
          <p:spPr>
            <a:xfrm>
              <a:off x="4083" y="3745"/>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5" name="Google Shape;695;p3"/>
            <p:cNvSpPr/>
            <p:nvPr/>
          </p:nvSpPr>
          <p:spPr>
            <a:xfrm>
              <a:off x="4307" y="3805"/>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696" name="Google Shape;696;p3"/>
          <p:cNvGrpSpPr/>
          <p:nvPr/>
        </p:nvGrpSpPr>
        <p:grpSpPr>
          <a:xfrm>
            <a:off x="6506080" y="5011754"/>
            <a:ext cx="410872" cy="459701"/>
            <a:chOff x="4504" y="3489"/>
            <a:chExt cx="345" cy="386"/>
          </a:xfrm>
        </p:grpSpPr>
        <p:sp>
          <p:nvSpPr>
            <p:cNvPr id="697" name="Google Shape;697;p3"/>
            <p:cNvSpPr/>
            <p:nvPr/>
          </p:nvSpPr>
          <p:spPr>
            <a:xfrm>
              <a:off x="4504" y="3489"/>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8" name="Google Shape;698;p3"/>
            <p:cNvSpPr/>
            <p:nvPr/>
          </p:nvSpPr>
          <p:spPr>
            <a:xfrm>
              <a:off x="4505" y="3489"/>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699" name="Google Shape;699;p3"/>
            <p:cNvSpPr/>
            <p:nvPr/>
          </p:nvSpPr>
          <p:spPr>
            <a:xfrm>
              <a:off x="4510" y="3492"/>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0" name="Google Shape;700;p3"/>
            <p:cNvSpPr/>
            <p:nvPr/>
          </p:nvSpPr>
          <p:spPr>
            <a:xfrm>
              <a:off x="4523" y="3516"/>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1" name="Google Shape;701;p3"/>
            <p:cNvSpPr/>
            <p:nvPr/>
          </p:nvSpPr>
          <p:spPr>
            <a:xfrm>
              <a:off x="4745" y="3526"/>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2" name="Google Shape;702;p3"/>
            <p:cNvSpPr/>
            <p:nvPr/>
          </p:nvSpPr>
          <p:spPr>
            <a:xfrm>
              <a:off x="4642" y="3582"/>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3" name="Google Shape;703;p3"/>
            <p:cNvSpPr/>
            <p:nvPr/>
          </p:nvSpPr>
          <p:spPr>
            <a:xfrm>
              <a:off x="4698" y="3586"/>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4" name="Google Shape;704;p3"/>
            <p:cNvSpPr/>
            <p:nvPr/>
          </p:nvSpPr>
          <p:spPr>
            <a:xfrm>
              <a:off x="4647" y="3602"/>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5" name="Google Shape;705;p3"/>
            <p:cNvSpPr/>
            <p:nvPr/>
          </p:nvSpPr>
          <p:spPr>
            <a:xfrm>
              <a:off x="4702" y="3603"/>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6" name="Google Shape;706;p3"/>
            <p:cNvSpPr/>
            <p:nvPr/>
          </p:nvSpPr>
          <p:spPr>
            <a:xfrm>
              <a:off x="4708" y="3606"/>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7" name="Google Shape;707;p3"/>
            <p:cNvSpPr/>
            <p:nvPr/>
          </p:nvSpPr>
          <p:spPr>
            <a:xfrm>
              <a:off x="4628" y="3629"/>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8" name="Google Shape;708;p3"/>
            <p:cNvSpPr/>
            <p:nvPr/>
          </p:nvSpPr>
          <p:spPr>
            <a:xfrm>
              <a:off x="4674" y="3634"/>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09" name="Google Shape;709;p3"/>
            <p:cNvSpPr/>
            <p:nvPr/>
          </p:nvSpPr>
          <p:spPr>
            <a:xfrm>
              <a:off x="4577" y="3663"/>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0" name="Google Shape;710;p3"/>
            <p:cNvSpPr/>
            <p:nvPr/>
          </p:nvSpPr>
          <p:spPr>
            <a:xfrm>
              <a:off x="4669" y="3669"/>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1" name="Google Shape;711;p3"/>
            <p:cNvSpPr/>
            <p:nvPr/>
          </p:nvSpPr>
          <p:spPr>
            <a:xfrm>
              <a:off x="4678" y="3670"/>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2" name="Google Shape;712;p3"/>
            <p:cNvSpPr/>
            <p:nvPr/>
          </p:nvSpPr>
          <p:spPr>
            <a:xfrm>
              <a:off x="4639" y="3727"/>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3" name="Google Shape;713;p3"/>
            <p:cNvSpPr/>
            <p:nvPr/>
          </p:nvSpPr>
          <p:spPr>
            <a:xfrm>
              <a:off x="4670" y="3734"/>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4" name="Google Shape;714;p3"/>
            <p:cNvSpPr/>
            <p:nvPr/>
          </p:nvSpPr>
          <p:spPr>
            <a:xfrm>
              <a:off x="4551" y="3735"/>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5" name="Google Shape;715;p3"/>
            <p:cNvSpPr/>
            <p:nvPr/>
          </p:nvSpPr>
          <p:spPr>
            <a:xfrm>
              <a:off x="4775" y="3795"/>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grpSp>
        <p:nvGrpSpPr>
          <p:cNvPr id="716" name="Google Shape;716;p3"/>
          <p:cNvGrpSpPr/>
          <p:nvPr/>
        </p:nvGrpSpPr>
        <p:grpSpPr>
          <a:xfrm>
            <a:off x="7025328" y="5011754"/>
            <a:ext cx="410872" cy="459701"/>
            <a:chOff x="4940" y="3489"/>
            <a:chExt cx="345" cy="386"/>
          </a:xfrm>
        </p:grpSpPr>
        <p:sp>
          <p:nvSpPr>
            <p:cNvPr id="717" name="Google Shape;717;p3"/>
            <p:cNvSpPr/>
            <p:nvPr/>
          </p:nvSpPr>
          <p:spPr>
            <a:xfrm>
              <a:off x="4940" y="3489"/>
              <a:ext cx="345" cy="386"/>
            </a:xfrm>
            <a:prstGeom prst="rect">
              <a:avLst/>
            </a:prstGeom>
            <a:solidFill>
              <a:srgbClr val="00009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8" name="Google Shape;718;p3"/>
            <p:cNvSpPr/>
            <p:nvPr/>
          </p:nvSpPr>
          <p:spPr>
            <a:xfrm>
              <a:off x="4941" y="3489"/>
              <a:ext cx="344" cy="385"/>
            </a:xfrm>
            <a:custGeom>
              <a:avLst/>
              <a:gdLst/>
              <a:ahLst/>
              <a:cxnLst/>
              <a:rect l="l" t="t" r="r" b="b"/>
              <a:pathLst>
                <a:path w="2752" h="3082" extrusionOk="0">
                  <a:moveTo>
                    <a:pt x="1558" y="99"/>
                  </a:moveTo>
                  <a:lnTo>
                    <a:pt x="1565" y="127"/>
                  </a:lnTo>
                  <a:lnTo>
                    <a:pt x="1571" y="156"/>
                  </a:lnTo>
                  <a:lnTo>
                    <a:pt x="1578" y="184"/>
                  </a:lnTo>
                  <a:lnTo>
                    <a:pt x="1582" y="214"/>
                  </a:lnTo>
                  <a:lnTo>
                    <a:pt x="1585" y="243"/>
                  </a:lnTo>
                  <a:lnTo>
                    <a:pt x="1586" y="272"/>
                  </a:lnTo>
                  <a:lnTo>
                    <a:pt x="1585" y="302"/>
                  </a:lnTo>
                  <a:lnTo>
                    <a:pt x="1582" y="333"/>
                  </a:lnTo>
                  <a:lnTo>
                    <a:pt x="1588" y="365"/>
                  </a:lnTo>
                  <a:lnTo>
                    <a:pt x="1585" y="397"/>
                  </a:lnTo>
                  <a:lnTo>
                    <a:pt x="1581" y="430"/>
                  </a:lnTo>
                  <a:lnTo>
                    <a:pt x="1582" y="462"/>
                  </a:lnTo>
                  <a:lnTo>
                    <a:pt x="1583" y="489"/>
                  </a:lnTo>
                  <a:lnTo>
                    <a:pt x="1585" y="515"/>
                  </a:lnTo>
                  <a:lnTo>
                    <a:pt x="1586" y="544"/>
                  </a:lnTo>
                  <a:lnTo>
                    <a:pt x="1589" y="571"/>
                  </a:lnTo>
                  <a:lnTo>
                    <a:pt x="1593" y="600"/>
                  </a:lnTo>
                  <a:lnTo>
                    <a:pt x="1601" y="627"/>
                  </a:lnTo>
                  <a:lnTo>
                    <a:pt x="1612" y="654"/>
                  </a:lnTo>
                  <a:lnTo>
                    <a:pt x="1627" y="678"/>
                  </a:lnTo>
                  <a:lnTo>
                    <a:pt x="1653" y="673"/>
                  </a:lnTo>
                  <a:lnTo>
                    <a:pt x="1676" y="665"/>
                  </a:lnTo>
                  <a:lnTo>
                    <a:pt x="1697" y="656"/>
                  </a:lnTo>
                  <a:lnTo>
                    <a:pt x="1718" y="643"/>
                  </a:lnTo>
                  <a:lnTo>
                    <a:pt x="1737" y="629"/>
                  </a:lnTo>
                  <a:lnTo>
                    <a:pt x="1756" y="615"/>
                  </a:lnTo>
                  <a:lnTo>
                    <a:pt x="1773" y="598"/>
                  </a:lnTo>
                  <a:lnTo>
                    <a:pt x="1791" y="580"/>
                  </a:lnTo>
                  <a:lnTo>
                    <a:pt x="1808" y="562"/>
                  </a:lnTo>
                  <a:lnTo>
                    <a:pt x="1825" y="544"/>
                  </a:lnTo>
                  <a:lnTo>
                    <a:pt x="1841" y="525"/>
                  </a:lnTo>
                  <a:lnTo>
                    <a:pt x="1858" y="507"/>
                  </a:lnTo>
                  <a:lnTo>
                    <a:pt x="1876" y="489"/>
                  </a:lnTo>
                  <a:lnTo>
                    <a:pt x="1893" y="472"/>
                  </a:lnTo>
                  <a:lnTo>
                    <a:pt x="1912" y="456"/>
                  </a:lnTo>
                  <a:lnTo>
                    <a:pt x="1931" y="441"/>
                  </a:lnTo>
                  <a:lnTo>
                    <a:pt x="1947" y="423"/>
                  </a:lnTo>
                  <a:lnTo>
                    <a:pt x="1962" y="405"/>
                  </a:lnTo>
                  <a:lnTo>
                    <a:pt x="1978" y="387"/>
                  </a:lnTo>
                  <a:lnTo>
                    <a:pt x="1994" y="370"/>
                  </a:lnTo>
                  <a:lnTo>
                    <a:pt x="2010" y="353"/>
                  </a:lnTo>
                  <a:lnTo>
                    <a:pt x="2027" y="337"/>
                  </a:lnTo>
                  <a:lnTo>
                    <a:pt x="2043" y="320"/>
                  </a:lnTo>
                  <a:lnTo>
                    <a:pt x="2060" y="304"/>
                  </a:lnTo>
                  <a:lnTo>
                    <a:pt x="2075" y="287"/>
                  </a:lnTo>
                  <a:lnTo>
                    <a:pt x="2092" y="271"/>
                  </a:lnTo>
                  <a:lnTo>
                    <a:pt x="2109" y="255"/>
                  </a:lnTo>
                  <a:lnTo>
                    <a:pt x="2126" y="239"/>
                  </a:lnTo>
                  <a:lnTo>
                    <a:pt x="2143" y="223"/>
                  </a:lnTo>
                  <a:lnTo>
                    <a:pt x="2160" y="207"/>
                  </a:lnTo>
                  <a:lnTo>
                    <a:pt x="2178" y="191"/>
                  </a:lnTo>
                  <a:lnTo>
                    <a:pt x="2195" y="174"/>
                  </a:lnTo>
                  <a:lnTo>
                    <a:pt x="2208" y="166"/>
                  </a:lnTo>
                  <a:lnTo>
                    <a:pt x="2220" y="158"/>
                  </a:lnTo>
                  <a:lnTo>
                    <a:pt x="2234" y="148"/>
                  </a:lnTo>
                  <a:lnTo>
                    <a:pt x="2247" y="139"/>
                  </a:lnTo>
                  <a:lnTo>
                    <a:pt x="2262" y="130"/>
                  </a:lnTo>
                  <a:lnTo>
                    <a:pt x="2275" y="121"/>
                  </a:lnTo>
                  <a:lnTo>
                    <a:pt x="2290" y="112"/>
                  </a:lnTo>
                  <a:lnTo>
                    <a:pt x="2305" y="105"/>
                  </a:lnTo>
                  <a:lnTo>
                    <a:pt x="2320" y="100"/>
                  </a:lnTo>
                  <a:lnTo>
                    <a:pt x="2336" y="94"/>
                  </a:lnTo>
                  <a:lnTo>
                    <a:pt x="2350" y="91"/>
                  </a:lnTo>
                  <a:lnTo>
                    <a:pt x="2366" y="91"/>
                  </a:lnTo>
                  <a:lnTo>
                    <a:pt x="2382" y="92"/>
                  </a:lnTo>
                  <a:lnTo>
                    <a:pt x="2398" y="96"/>
                  </a:lnTo>
                  <a:lnTo>
                    <a:pt x="2415" y="103"/>
                  </a:lnTo>
                  <a:lnTo>
                    <a:pt x="2431" y="113"/>
                  </a:lnTo>
                  <a:lnTo>
                    <a:pt x="2449" y="127"/>
                  </a:lnTo>
                  <a:lnTo>
                    <a:pt x="2464" y="144"/>
                  </a:lnTo>
                  <a:lnTo>
                    <a:pt x="2479" y="162"/>
                  </a:lnTo>
                  <a:lnTo>
                    <a:pt x="2492" y="182"/>
                  </a:lnTo>
                  <a:lnTo>
                    <a:pt x="2505" y="202"/>
                  </a:lnTo>
                  <a:lnTo>
                    <a:pt x="2515" y="224"/>
                  </a:lnTo>
                  <a:lnTo>
                    <a:pt x="2526" y="245"/>
                  </a:lnTo>
                  <a:lnTo>
                    <a:pt x="2536" y="265"/>
                  </a:lnTo>
                  <a:lnTo>
                    <a:pt x="2544" y="295"/>
                  </a:lnTo>
                  <a:lnTo>
                    <a:pt x="2553" y="323"/>
                  </a:lnTo>
                  <a:lnTo>
                    <a:pt x="2564" y="352"/>
                  </a:lnTo>
                  <a:lnTo>
                    <a:pt x="2577" y="380"/>
                  </a:lnTo>
                  <a:lnTo>
                    <a:pt x="2589" y="408"/>
                  </a:lnTo>
                  <a:lnTo>
                    <a:pt x="2603" y="434"/>
                  </a:lnTo>
                  <a:lnTo>
                    <a:pt x="2617" y="462"/>
                  </a:lnTo>
                  <a:lnTo>
                    <a:pt x="2631" y="489"/>
                  </a:lnTo>
                  <a:lnTo>
                    <a:pt x="2646" y="516"/>
                  </a:lnTo>
                  <a:lnTo>
                    <a:pt x="2661" y="543"/>
                  </a:lnTo>
                  <a:lnTo>
                    <a:pt x="2676" y="570"/>
                  </a:lnTo>
                  <a:lnTo>
                    <a:pt x="2690" y="597"/>
                  </a:lnTo>
                  <a:lnTo>
                    <a:pt x="2703" y="624"/>
                  </a:lnTo>
                  <a:lnTo>
                    <a:pt x="2716" y="652"/>
                  </a:lnTo>
                  <a:lnTo>
                    <a:pt x="2728" y="680"/>
                  </a:lnTo>
                  <a:lnTo>
                    <a:pt x="2738" y="709"/>
                  </a:lnTo>
                  <a:lnTo>
                    <a:pt x="2740" y="760"/>
                  </a:lnTo>
                  <a:lnTo>
                    <a:pt x="2720" y="759"/>
                  </a:lnTo>
                  <a:lnTo>
                    <a:pt x="2701" y="756"/>
                  </a:lnTo>
                  <a:lnTo>
                    <a:pt x="2683" y="750"/>
                  </a:lnTo>
                  <a:lnTo>
                    <a:pt x="2665" y="745"/>
                  </a:lnTo>
                  <a:lnTo>
                    <a:pt x="2648" y="738"/>
                  </a:lnTo>
                  <a:lnTo>
                    <a:pt x="2631" y="729"/>
                  </a:lnTo>
                  <a:lnTo>
                    <a:pt x="2616" y="721"/>
                  </a:lnTo>
                  <a:lnTo>
                    <a:pt x="2600" y="710"/>
                  </a:lnTo>
                  <a:lnTo>
                    <a:pt x="2584" y="699"/>
                  </a:lnTo>
                  <a:lnTo>
                    <a:pt x="2568" y="689"/>
                  </a:lnTo>
                  <a:lnTo>
                    <a:pt x="2553" y="677"/>
                  </a:lnTo>
                  <a:lnTo>
                    <a:pt x="2537" y="665"/>
                  </a:lnTo>
                  <a:lnTo>
                    <a:pt x="2522" y="655"/>
                  </a:lnTo>
                  <a:lnTo>
                    <a:pt x="2506" y="643"/>
                  </a:lnTo>
                  <a:lnTo>
                    <a:pt x="2490" y="632"/>
                  </a:lnTo>
                  <a:lnTo>
                    <a:pt x="2474" y="621"/>
                  </a:lnTo>
                  <a:lnTo>
                    <a:pt x="2461" y="617"/>
                  </a:lnTo>
                  <a:lnTo>
                    <a:pt x="2449" y="611"/>
                  </a:lnTo>
                  <a:lnTo>
                    <a:pt x="2436" y="606"/>
                  </a:lnTo>
                  <a:lnTo>
                    <a:pt x="2423" y="601"/>
                  </a:lnTo>
                  <a:lnTo>
                    <a:pt x="2411" y="596"/>
                  </a:lnTo>
                  <a:lnTo>
                    <a:pt x="2398" y="589"/>
                  </a:lnTo>
                  <a:lnTo>
                    <a:pt x="2386" y="584"/>
                  </a:lnTo>
                  <a:lnTo>
                    <a:pt x="2374" y="578"/>
                  </a:lnTo>
                  <a:lnTo>
                    <a:pt x="2362" y="571"/>
                  </a:lnTo>
                  <a:lnTo>
                    <a:pt x="2349" y="566"/>
                  </a:lnTo>
                  <a:lnTo>
                    <a:pt x="2337" y="560"/>
                  </a:lnTo>
                  <a:lnTo>
                    <a:pt x="2324" y="554"/>
                  </a:lnTo>
                  <a:lnTo>
                    <a:pt x="2311" y="548"/>
                  </a:lnTo>
                  <a:lnTo>
                    <a:pt x="2299" y="543"/>
                  </a:lnTo>
                  <a:lnTo>
                    <a:pt x="2286" y="537"/>
                  </a:lnTo>
                  <a:lnTo>
                    <a:pt x="2272" y="533"/>
                  </a:lnTo>
                  <a:lnTo>
                    <a:pt x="2247" y="525"/>
                  </a:lnTo>
                  <a:lnTo>
                    <a:pt x="2221" y="518"/>
                  </a:lnTo>
                  <a:lnTo>
                    <a:pt x="2196" y="515"/>
                  </a:lnTo>
                  <a:lnTo>
                    <a:pt x="2171" y="513"/>
                  </a:lnTo>
                  <a:lnTo>
                    <a:pt x="2145" y="513"/>
                  </a:lnTo>
                  <a:lnTo>
                    <a:pt x="2120" y="515"/>
                  </a:lnTo>
                  <a:lnTo>
                    <a:pt x="2096" y="518"/>
                  </a:lnTo>
                  <a:lnTo>
                    <a:pt x="2071" y="525"/>
                  </a:lnTo>
                  <a:lnTo>
                    <a:pt x="2047" y="531"/>
                  </a:lnTo>
                  <a:lnTo>
                    <a:pt x="2024" y="540"/>
                  </a:lnTo>
                  <a:lnTo>
                    <a:pt x="2000" y="550"/>
                  </a:lnTo>
                  <a:lnTo>
                    <a:pt x="1979" y="562"/>
                  </a:lnTo>
                  <a:lnTo>
                    <a:pt x="1957" y="575"/>
                  </a:lnTo>
                  <a:lnTo>
                    <a:pt x="1937" y="589"/>
                  </a:lnTo>
                  <a:lnTo>
                    <a:pt x="1918" y="605"/>
                  </a:lnTo>
                  <a:lnTo>
                    <a:pt x="1899" y="621"/>
                  </a:lnTo>
                  <a:lnTo>
                    <a:pt x="1886" y="643"/>
                  </a:lnTo>
                  <a:lnTo>
                    <a:pt x="1873" y="665"/>
                  </a:lnTo>
                  <a:lnTo>
                    <a:pt x="1860" y="688"/>
                  </a:lnTo>
                  <a:lnTo>
                    <a:pt x="1848" y="710"/>
                  </a:lnTo>
                  <a:lnTo>
                    <a:pt x="1840" y="733"/>
                  </a:lnTo>
                  <a:lnTo>
                    <a:pt x="1834" y="757"/>
                  </a:lnTo>
                  <a:lnTo>
                    <a:pt x="1834" y="782"/>
                  </a:lnTo>
                  <a:lnTo>
                    <a:pt x="1840" y="810"/>
                  </a:lnTo>
                  <a:lnTo>
                    <a:pt x="1845" y="826"/>
                  </a:lnTo>
                  <a:lnTo>
                    <a:pt x="1851" y="839"/>
                  </a:lnTo>
                  <a:lnTo>
                    <a:pt x="1860" y="853"/>
                  </a:lnTo>
                  <a:lnTo>
                    <a:pt x="1868" y="867"/>
                  </a:lnTo>
                  <a:lnTo>
                    <a:pt x="1879" y="879"/>
                  </a:lnTo>
                  <a:lnTo>
                    <a:pt x="1890" y="891"/>
                  </a:lnTo>
                  <a:lnTo>
                    <a:pt x="1902" y="902"/>
                  </a:lnTo>
                  <a:lnTo>
                    <a:pt x="1915" y="913"/>
                  </a:lnTo>
                  <a:lnTo>
                    <a:pt x="1927" y="924"/>
                  </a:lnTo>
                  <a:lnTo>
                    <a:pt x="1941" y="934"/>
                  </a:lnTo>
                  <a:lnTo>
                    <a:pt x="1955" y="944"/>
                  </a:lnTo>
                  <a:lnTo>
                    <a:pt x="1969" y="954"/>
                  </a:lnTo>
                  <a:lnTo>
                    <a:pt x="1982" y="963"/>
                  </a:lnTo>
                  <a:lnTo>
                    <a:pt x="1996" y="973"/>
                  </a:lnTo>
                  <a:lnTo>
                    <a:pt x="2010" y="982"/>
                  </a:lnTo>
                  <a:lnTo>
                    <a:pt x="2023" y="992"/>
                  </a:lnTo>
                  <a:lnTo>
                    <a:pt x="2034" y="997"/>
                  </a:lnTo>
                  <a:lnTo>
                    <a:pt x="2047" y="1004"/>
                  </a:lnTo>
                  <a:lnTo>
                    <a:pt x="2059" y="1010"/>
                  </a:lnTo>
                  <a:lnTo>
                    <a:pt x="2069" y="1016"/>
                  </a:lnTo>
                  <a:lnTo>
                    <a:pt x="2081" y="1024"/>
                  </a:lnTo>
                  <a:lnTo>
                    <a:pt x="2092" y="1032"/>
                  </a:lnTo>
                  <a:lnTo>
                    <a:pt x="2103" y="1041"/>
                  </a:lnTo>
                  <a:lnTo>
                    <a:pt x="2114" y="1049"/>
                  </a:lnTo>
                  <a:lnTo>
                    <a:pt x="2124" y="1058"/>
                  </a:lnTo>
                  <a:lnTo>
                    <a:pt x="2135" y="1067"/>
                  </a:lnTo>
                  <a:lnTo>
                    <a:pt x="2145" y="1077"/>
                  </a:lnTo>
                  <a:lnTo>
                    <a:pt x="2156" y="1087"/>
                  </a:lnTo>
                  <a:lnTo>
                    <a:pt x="2165" y="1097"/>
                  </a:lnTo>
                  <a:lnTo>
                    <a:pt x="2176" y="1107"/>
                  </a:lnTo>
                  <a:lnTo>
                    <a:pt x="2185" y="1117"/>
                  </a:lnTo>
                  <a:lnTo>
                    <a:pt x="2195" y="1128"/>
                  </a:lnTo>
                  <a:lnTo>
                    <a:pt x="2214" y="1124"/>
                  </a:lnTo>
                  <a:lnTo>
                    <a:pt x="2234" y="1120"/>
                  </a:lnTo>
                  <a:lnTo>
                    <a:pt x="2253" y="1117"/>
                  </a:lnTo>
                  <a:lnTo>
                    <a:pt x="2273" y="1113"/>
                  </a:lnTo>
                  <a:lnTo>
                    <a:pt x="2292" y="1108"/>
                  </a:lnTo>
                  <a:lnTo>
                    <a:pt x="2312" y="1104"/>
                  </a:lnTo>
                  <a:lnTo>
                    <a:pt x="2331" y="1100"/>
                  </a:lnTo>
                  <a:lnTo>
                    <a:pt x="2350" y="1097"/>
                  </a:lnTo>
                  <a:lnTo>
                    <a:pt x="2370" y="1093"/>
                  </a:lnTo>
                  <a:lnTo>
                    <a:pt x="2389" y="1089"/>
                  </a:lnTo>
                  <a:lnTo>
                    <a:pt x="2410" y="1086"/>
                  </a:lnTo>
                  <a:lnTo>
                    <a:pt x="2429" y="1084"/>
                  </a:lnTo>
                  <a:lnTo>
                    <a:pt x="2448" y="1082"/>
                  </a:lnTo>
                  <a:lnTo>
                    <a:pt x="2468" y="1081"/>
                  </a:lnTo>
                  <a:lnTo>
                    <a:pt x="2487" y="1080"/>
                  </a:lnTo>
                  <a:lnTo>
                    <a:pt x="2506" y="1080"/>
                  </a:lnTo>
                  <a:lnTo>
                    <a:pt x="2498" y="1095"/>
                  </a:lnTo>
                  <a:lnTo>
                    <a:pt x="2486" y="1094"/>
                  </a:lnTo>
                  <a:lnTo>
                    <a:pt x="2473" y="1094"/>
                  </a:lnTo>
                  <a:lnTo>
                    <a:pt x="2460" y="1094"/>
                  </a:lnTo>
                  <a:lnTo>
                    <a:pt x="2448" y="1095"/>
                  </a:lnTo>
                  <a:lnTo>
                    <a:pt x="2435" y="1095"/>
                  </a:lnTo>
                  <a:lnTo>
                    <a:pt x="2423" y="1096"/>
                  </a:lnTo>
                  <a:lnTo>
                    <a:pt x="2411" y="1097"/>
                  </a:lnTo>
                  <a:lnTo>
                    <a:pt x="2398" y="1099"/>
                  </a:lnTo>
                  <a:lnTo>
                    <a:pt x="2385" y="1100"/>
                  </a:lnTo>
                  <a:lnTo>
                    <a:pt x="2373" y="1101"/>
                  </a:lnTo>
                  <a:lnTo>
                    <a:pt x="2361" y="1103"/>
                  </a:lnTo>
                  <a:lnTo>
                    <a:pt x="2348" y="1104"/>
                  </a:lnTo>
                  <a:lnTo>
                    <a:pt x="2336" y="1106"/>
                  </a:lnTo>
                  <a:lnTo>
                    <a:pt x="2323" y="1107"/>
                  </a:lnTo>
                  <a:lnTo>
                    <a:pt x="2310" y="1108"/>
                  </a:lnTo>
                  <a:lnTo>
                    <a:pt x="2297" y="1110"/>
                  </a:lnTo>
                  <a:lnTo>
                    <a:pt x="2290" y="1113"/>
                  </a:lnTo>
                  <a:lnTo>
                    <a:pt x="2284" y="1115"/>
                  </a:lnTo>
                  <a:lnTo>
                    <a:pt x="2276" y="1116"/>
                  </a:lnTo>
                  <a:lnTo>
                    <a:pt x="2268" y="1118"/>
                  </a:lnTo>
                  <a:lnTo>
                    <a:pt x="2260" y="1119"/>
                  </a:lnTo>
                  <a:lnTo>
                    <a:pt x="2253" y="1120"/>
                  </a:lnTo>
                  <a:lnTo>
                    <a:pt x="2245" y="1121"/>
                  </a:lnTo>
                  <a:lnTo>
                    <a:pt x="2237" y="1123"/>
                  </a:lnTo>
                  <a:lnTo>
                    <a:pt x="2207" y="1133"/>
                  </a:lnTo>
                  <a:lnTo>
                    <a:pt x="2213" y="1146"/>
                  </a:lnTo>
                  <a:lnTo>
                    <a:pt x="2220" y="1158"/>
                  </a:lnTo>
                  <a:lnTo>
                    <a:pt x="2228" y="1171"/>
                  </a:lnTo>
                  <a:lnTo>
                    <a:pt x="2235" y="1184"/>
                  </a:lnTo>
                  <a:lnTo>
                    <a:pt x="2240" y="1197"/>
                  </a:lnTo>
                  <a:lnTo>
                    <a:pt x="2245" y="1210"/>
                  </a:lnTo>
                  <a:lnTo>
                    <a:pt x="2246" y="1224"/>
                  </a:lnTo>
                  <a:lnTo>
                    <a:pt x="2245" y="1239"/>
                  </a:lnTo>
                  <a:lnTo>
                    <a:pt x="2252" y="1246"/>
                  </a:lnTo>
                  <a:lnTo>
                    <a:pt x="2272" y="1247"/>
                  </a:lnTo>
                  <a:lnTo>
                    <a:pt x="2293" y="1248"/>
                  </a:lnTo>
                  <a:lnTo>
                    <a:pt x="2313" y="1249"/>
                  </a:lnTo>
                  <a:lnTo>
                    <a:pt x="2333" y="1249"/>
                  </a:lnTo>
                  <a:lnTo>
                    <a:pt x="2353" y="1250"/>
                  </a:lnTo>
                  <a:lnTo>
                    <a:pt x="2373" y="1250"/>
                  </a:lnTo>
                  <a:lnTo>
                    <a:pt x="2393" y="1250"/>
                  </a:lnTo>
                  <a:lnTo>
                    <a:pt x="2413" y="1252"/>
                  </a:lnTo>
                  <a:lnTo>
                    <a:pt x="2433" y="1253"/>
                  </a:lnTo>
                  <a:lnTo>
                    <a:pt x="2452" y="1254"/>
                  </a:lnTo>
                  <a:lnTo>
                    <a:pt x="2472" y="1255"/>
                  </a:lnTo>
                  <a:lnTo>
                    <a:pt x="2492" y="1256"/>
                  </a:lnTo>
                  <a:lnTo>
                    <a:pt x="2512" y="1258"/>
                  </a:lnTo>
                  <a:lnTo>
                    <a:pt x="2532" y="1261"/>
                  </a:lnTo>
                  <a:lnTo>
                    <a:pt x="2552" y="1264"/>
                  </a:lnTo>
                  <a:lnTo>
                    <a:pt x="2572" y="1268"/>
                  </a:lnTo>
                  <a:lnTo>
                    <a:pt x="2563" y="1272"/>
                  </a:lnTo>
                  <a:lnTo>
                    <a:pt x="2553" y="1273"/>
                  </a:lnTo>
                  <a:lnTo>
                    <a:pt x="2543" y="1272"/>
                  </a:lnTo>
                  <a:lnTo>
                    <a:pt x="2533" y="1268"/>
                  </a:lnTo>
                  <a:lnTo>
                    <a:pt x="2523" y="1266"/>
                  </a:lnTo>
                  <a:lnTo>
                    <a:pt x="2512" y="1263"/>
                  </a:lnTo>
                  <a:lnTo>
                    <a:pt x="2501" y="1263"/>
                  </a:lnTo>
                  <a:lnTo>
                    <a:pt x="2491" y="1264"/>
                  </a:lnTo>
                  <a:lnTo>
                    <a:pt x="2474" y="1263"/>
                  </a:lnTo>
                  <a:lnTo>
                    <a:pt x="2457" y="1261"/>
                  </a:lnTo>
                  <a:lnTo>
                    <a:pt x="2441" y="1260"/>
                  </a:lnTo>
                  <a:lnTo>
                    <a:pt x="2425" y="1260"/>
                  </a:lnTo>
                  <a:lnTo>
                    <a:pt x="2411" y="1259"/>
                  </a:lnTo>
                  <a:lnTo>
                    <a:pt x="2396" y="1259"/>
                  </a:lnTo>
                  <a:lnTo>
                    <a:pt x="2381" y="1258"/>
                  </a:lnTo>
                  <a:lnTo>
                    <a:pt x="2366" y="1258"/>
                  </a:lnTo>
                  <a:lnTo>
                    <a:pt x="2352" y="1258"/>
                  </a:lnTo>
                  <a:lnTo>
                    <a:pt x="2338" y="1258"/>
                  </a:lnTo>
                  <a:lnTo>
                    <a:pt x="2323" y="1257"/>
                  </a:lnTo>
                  <a:lnTo>
                    <a:pt x="2308" y="1257"/>
                  </a:lnTo>
                  <a:lnTo>
                    <a:pt x="2293" y="1257"/>
                  </a:lnTo>
                  <a:lnTo>
                    <a:pt x="2277" y="1257"/>
                  </a:lnTo>
                  <a:lnTo>
                    <a:pt x="2262" y="1257"/>
                  </a:lnTo>
                  <a:lnTo>
                    <a:pt x="2245" y="1257"/>
                  </a:lnTo>
                  <a:lnTo>
                    <a:pt x="2242" y="1275"/>
                  </a:lnTo>
                  <a:lnTo>
                    <a:pt x="2237" y="1291"/>
                  </a:lnTo>
                  <a:lnTo>
                    <a:pt x="2230" y="1306"/>
                  </a:lnTo>
                  <a:lnTo>
                    <a:pt x="2220" y="1318"/>
                  </a:lnTo>
                  <a:lnTo>
                    <a:pt x="2210" y="1331"/>
                  </a:lnTo>
                  <a:lnTo>
                    <a:pt x="2198" y="1343"/>
                  </a:lnTo>
                  <a:lnTo>
                    <a:pt x="2186" y="1356"/>
                  </a:lnTo>
                  <a:lnTo>
                    <a:pt x="2174" y="1370"/>
                  </a:lnTo>
                  <a:lnTo>
                    <a:pt x="2188" y="1385"/>
                  </a:lnTo>
                  <a:lnTo>
                    <a:pt x="2201" y="1400"/>
                  </a:lnTo>
                  <a:lnTo>
                    <a:pt x="2217" y="1414"/>
                  </a:lnTo>
                  <a:lnTo>
                    <a:pt x="2233" y="1426"/>
                  </a:lnTo>
                  <a:lnTo>
                    <a:pt x="2250" y="1440"/>
                  </a:lnTo>
                  <a:lnTo>
                    <a:pt x="2266" y="1454"/>
                  </a:lnTo>
                  <a:lnTo>
                    <a:pt x="2282" y="1469"/>
                  </a:lnTo>
                  <a:lnTo>
                    <a:pt x="2297" y="1484"/>
                  </a:lnTo>
                  <a:lnTo>
                    <a:pt x="2316" y="1505"/>
                  </a:lnTo>
                  <a:lnTo>
                    <a:pt x="2336" y="1527"/>
                  </a:lnTo>
                  <a:lnTo>
                    <a:pt x="2353" y="1548"/>
                  </a:lnTo>
                  <a:lnTo>
                    <a:pt x="2371" y="1570"/>
                  </a:lnTo>
                  <a:lnTo>
                    <a:pt x="2388" y="1594"/>
                  </a:lnTo>
                  <a:lnTo>
                    <a:pt x="2403" y="1617"/>
                  </a:lnTo>
                  <a:lnTo>
                    <a:pt x="2417" y="1643"/>
                  </a:lnTo>
                  <a:lnTo>
                    <a:pt x="2427" y="1670"/>
                  </a:lnTo>
                  <a:lnTo>
                    <a:pt x="2435" y="1687"/>
                  </a:lnTo>
                  <a:lnTo>
                    <a:pt x="2442" y="1704"/>
                  </a:lnTo>
                  <a:lnTo>
                    <a:pt x="2450" y="1721"/>
                  </a:lnTo>
                  <a:lnTo>
                    <a:pt x="2457" y="1739"/>
                  </a:lnTo>
                  <a:lnTo>
                    <a:pt x="2464" y="1757"/>
                  </a:lnTo>
                  <a:lnTo>
                    <a:pt x="2472" y="1775"/>
                  </a:lnTo>
                  <a:lnTo>
                    <a:pt x="2479" y="1792"/>
                  </a:lnTo>
                  <a:lnTo>
                    <a:pt x="2488" y="1809"/>
                  </a:lnTo>
                  <a:lnTo>
                    <a:pt x="2499" y="1852"/>
                  </a:lnTo>
                  <a:lnTo>
                    <a:pt x="2510" y="1898"/>
                  </a:lnTo>
                  <a:lnTo>
                    <a:pt x="2518" y="1944"/>
                  </a:lnTo>
                  <a:lnTo>
                    <a:pt x="2524" y="1991"/>
                  </a:lnTo>
                  <a:lnTo>
                    <a:pt x="2527" y="2038"/>
                  </a:lnTo>
                  <a:lnTo>
                    <a:pt x="2526" y="2086"/>
                  </a:lnTo>
                  <a:lnTo>
                    <a:pt x="2522" y="2133"/>
                  </a:lnTo>
                  <a:lnTo>
                    <a:pt x="2512" y="2180"/>
                  </a:lnTo>
                  <a:lnTo>
                    <a:pt x="2503" y="2212"/>
                  </a:lnTo>
                  <a:lnTo>
                    <a:pt x="2493" y="2243"/>
                  </a:lnTo>
                  <a:lnTo>
                    <a:pt x="2485" y="2274"/>
                  </a:lnTo>
                  <a:lnTo>
                    <a:pt x="2475" y="2306"/>
                  </a:lnTo>
                  <a:lnTo>
                    <a:pt x="2464" y="2337"/>
                  </a:lnTo>
                  <a:lnTo>
                    <a:pt x="2453" y="2367"/>
                  </a:lnTo>
                  <a:lnTo>
                    <a:pt x="2439" y="2398"/>
                  </a:lnTo>
                  <a:lnTo>
                    <a:pt x="2423" y="2427"/>
                  </a:lnTo>
                  <a:lnTo>
                    <a:pt x="2437" y="2425"/>
                  </a:lnTo>
                  <a:lnTo>
                    <a:pt x="2452" y="2420"/>
                  </a:lnTo>
                  <a:lnTo>
                    <a:pt x="2468" y="2414"/>
                  </a:lnTo>
                  <a:lnTo>
                    <a:pt x="2484" y="2409"/>
                  </a:lnTo>
                  <a:lnTo>
                    <a:pt x="2498" y="2406"/>
                  </a:lnTo>
                  <a:lnTo>
                    <a:pt x="2512" y="2407"/>
                  </a:lnTo>
                  <a:lnTo>
                    <a:pt x="2524" y="2413"/>
                  </a:lnTo>
                  <a:lnTo>
                    <a:pt x="2533" y="2427"/>
                  </a:lnTo>
                  <a:lnTo>
                    <a:pt x="2531" y="2436"/>
                  </a:lnTo>
                  <a:lnTo>
                    <a:pt x="2528" y="2447"/>
                  </a:lnTo>
                  <a:lnTo>
                    <a:pt x="2525" y="2455"/>
                  </a:lnTo>
                  <a:lnTo>
                    <a:pt x="2519" y="2462"/>
                  </a:lnTo>
                  <a:lnTo>
                    <a:pt x="2533" y="2464"/>
                  </a:lnTo>
                  <a:lnTo>
                    <a:pt x="2549" y="2466"/>
                  </a:lnTo>
                  <a:lnTo>
                    <a:pt x="2564" y="2466"/>
                  </a:lnTo>
                  <a:lnTo>
                    <a:pt x="2581" y="2466"/>
                  </a:lnTo>
                  <a:lnTo>
                    <a:pt x="2597" y="2465"/>
                  </a:lnTo>
                  <a:lnTo>
                    <a:pt x="2614" y="2465"/>
                  </a:lnTo>
                  <a:lnTo>
                    <a:pt x="2630" y="2464"/>
                  </a:lnTo>
                  <a:lnTo>
                    <a:pt x="2647" y="2464"/>
                  </a:lnTo>
                  <a:lnTo>
                    <a:pt x="2663" y="2465"/>
                  </a:lnTo>
                  <a:lnTo>
                    <a:pt x="2679" y="2467"/>
                  </a:lnTo>
                  <a:lnTo>
                    <a:pt x="2694" y="2470"/>
                  </a:lnTo>
                  <a:lnTo>
                    <a:pt x="2708" y="2475"/>
                  </a:lnTo>
                  <a:lnTo>
                    <a:pt x="2720" y="2482"/>
                  </a:lnTo>
                  <a:lnTo>
                    <a:pt x="2733" y="2491"/>
                  </a:lnTo>
                  <a:lnTo>
                    <a:pt x="2744" y="2503"/>
                  </a:lnTo>
                  <a:lnTo>
                    <a:pt x="2752" y="2518"/>
                  </a:lnTo>
                  <a:lnTo>
                    <a:pt x="2745" y="2531"/>
                  </a:lnTo>
                  <a:lnTo>
                    <a:pt x="2736" y="2542"/>
                  </a:lnTo>
                  <a:lnTo>
                    <a:pt x="2727" y="2553"/>
                  </a:lnTo>
                  <a:lnTo>
                    <a:pt x="2716" y="2561"/>
                  </a:lnTo>
                  <a:lnTo>
                    <a:pt x="2705" y="2569"/>
                  </a:lnTo>
                  <a:lnTo>
                    <a:pt x="2693" y="2575"/>
                  </a:lnTo>
                  <a:lnTo>
                    <a:pt x="2680" y="2581"/>
                  </a:lnTo>
                  <a:lnTo>
                    <a:pt x="2666" y="2587"/>
                  </a:lnTo>
                  <a:lnTo>
                    <a:pt x="2653" y="2591"/>
                  </a:lnTo>
                  <a:lnTo>
                    <a:pt x="2639" y="2595"/>
                  </a:lnTo>
                  <a:lnTo>
                    <a:pt x="2625" y="2599"/>
                  </a:lnTo>
                  <a:lnTo>
                    <a:pt x="2611" y="2604"/>
                  </a:lnTo>
                  <a:lnTo>
                    <a:pt x="2598" y="2608"/>
                  </a:lnTo>
                  <a:lnTo>
                    <a:pt x="2584" y="2612"/>
                  </a:lnTo>
                  <a:lnTo>
                    <a:pt x="2571" y="2617"/>
                  </a:lnTo>
                  <a:lnTo>
                    <a:pt x="2559" y="2624"/>
                  </a:lnTo>
                  <a:lnTo>
                    <a:pt x="2551" y="2622"/>
                  </a:lnTo>
                  <a:lnTo>
                    <a:pt x="2544" y="2623"/>
                  </a:lnTo>
                  <a:lnTo>
                    <a:pt x="2536" y="2625"/>
                  </a:lnTo>
                  <a:lnTo>
                    <a:pt x="2531" y="2627"/>
                  </a:lnTo>
                  <a:lnTo>
                    <a:pt x="2525" y="2630"/>
                  </a:lnTo>
                  <a:lnTo>
                    <a:pt x="2518" y="2634"/>
                  </a:lnTo>
                  <a:lnTo>
                    <a:pt x="2512" y="2637"/>
                  </a:lnTo>
                  <a:lnTo>
                    <a:pt x="2506" y="2639"/>
                  </a:lnTo>
                  <a:lnTo>
                    <a:pt x="2513" y="2643"/>
                  </a:lnTo>
                  <a:lnTo>
                    <a:pt x="2522" y="2647"/>
                  </a:lnTo>
                  <a:lnTo>
                    <a:pt x="2530" y="2650"/>
                  </a:lnTo>
                  <a:lnTo>
                    <a:pt x="2537" y="2655"/>
                  </a:lnTo>
                  <a:lnTo>
                    <a:pt x="2546" y="2658"/>
                  </a:lnTo>
                  <a:lnTo>
                    <a:pt x="2554" y="2663"/>
                  </a:lnTo>
                  <a:lnTo>
                    <a:pt x="2562" y="2667"/>
                  </a:lnTo>
                  <a:lnTo>
                    <a:pt x="2569" y="2674"/>
                  </a:lnTo>
                  <a:lnTo>
                    <a:pt x="2578" y="2690"/>
                  </a:lnTo>
                  <a:lnTo>
                    <a:pt x="2581" y="2705"/>
                  </a:lnTo>
                  <a:lnTo>
                    <a:pt x="2578" y="2722"/>
                  </a:lnTo>
                  <a:lnTo>
                    <a:pt x="2569" y="2737"/>
                  </a:lnTo>
                  <a:lnTo>
                    <a:pt x="2552" y="2754"/>
                  </a:lnTo>
                  <a:lnTo>
                    <a:pt x="2534" y="2767"/>
                  </a:lnTo>
                  <a:lnTo>
                    <a:pt x="2515" y="2775"/>
                  </a:lnTo>
                  <a:lnTo>
                    <a:pt x="2494" y="2781"/>
                  </a:lnTo>
                  <a:lnTo>
                    <a:pt x="2473" y="2785"/>
                  </a:lnTo>
                  <a:lnTo>
                    <a:pt x="2452" y="2789"/>
                  </a:lnTo>
                  <a:lnTo>
                    <a:pt x="2430" y="2794"/>
                  </a:lnTo>
                  <a:lnTo>
                    <a:pt x="2406" y="2801"/>
                  </a:lnTo>
                  <a:lnTo>
                    <a:pt x="2387" y="2803"/>
                  </a:lnTo>
                  <a:lnTo>
                    <a:pt x="2368" y="2803"/>
                  </a:lnTo>
                  <a:lnTo>
                    <a:pt x="2349" y="2803"/>
                  </a:lnTo>
                  <a:lnTo>
                    <a:pt x="2329" y="2803"/>
                  </a:lnTo>
                  <a:lnTo>
                    <a:pt x="2310" y="2802"/>
                  </a:lnTo>
                  <a:lnTo>
                    <a:pt x="2291" y="2800"/>
                  </a:lnTo>
                  <a:lnTo>
                    <a:pt x="2271" y="2798"/>
                  </a:lnTo>
                  <a:lnTo>
                    <a:pt x="2252" y="2794"/>
                  </a:lnTo>
                  <a:lnTo>
                    <a:pt x="2233" y="2790"/>
                  </a:lnTo>
                  <a:lnTo>
                    <a:pt x="2214" y="2787"/>
                  </a:lnTo>
                  <a:lnTo>
                    <a:pt x="2196" y="2782"/>
                  </a:lnTo>
                  <a:lnTo>
                    <a:pt x="2177" y="2776"/>
                  </a:lnTo>
                  <a:lnTo>
                    <a:pt x="2159" y="2771"/>
                  </a:lnTo>
                  <a:lnTo>
                    <a:pt x="2141" y="2765"/>
                  </a:lnTo>
                  <a:lnTo>
                    <a:pt x="2123" y="2758"/>
                  </a:lnTo>
                  <a:lnTo>
                    <a:pt x="2106" y="2752"/>
                  </a:lnTo>
                  <a:lnTo>
                    <a:pt x="2097" y="2754"/>
                  </a:lnTo>
                  <a:lnTo>
                    <a:pt x="2086" y="2757"/>
                  </a:lnTo>
                  <a:lnTo>
                    <a:pt x="2078" y="2763"/>
                  </a:lnTo>
                  <a:lnTo>
                    <a:pt x="2068" y="2768"/>
                  </a:lnTo>
                  <a:lnTo>
                    <a:pt x="2060" y="2774"/>
                  </a:lnTo>
                  <a:lnTo>
                    <a:pt x="2052" y="2782"/>
                  </a:lnTo>
                  <a:lnTo>
                    <a:pt x="2046" y="2789"/>
                  </a:lnTo>
                  <a:lnTo>
                    <a:pt x="2041" y="2798"/>
                  </a:lnTo>
                  <a:lnTo>
                    <a:pt x="2038" y="2819"/>
                  </a:lnTo>
                  <a:lnTo>
                    <a:pt x="2045" y="2842"/>
                  </a:lnTo>
                  <a:lnTo>
                    <a:pt x="2053" y="2865"/>
                  </a:lnTo>
                  <a:lnTo>
                    <a:pt x="2063" y="2889"/>
                  </a:lnTo>
                  <a:lnTo>
                    <a:pt x="2068" y="2911"/>
                  </a:lnTo>
                  <a:lnTo>
                    <a:pt x="2066" y="2929"/>
                  </a:lnTo>
                  <a:lnTo>
                    <a:pt x="2052" y="2944"/>
                  </a:lnTo>
                  <a:lnTo>
                    <a:pt x="2023" y="2952"/>
                  </a:lnTo>
                  <a:lnTo>
                    <a:pt x="2004" y="2956"/>
                  </a:lnTo>
                  <a:lnTo>
                    <a:pt x="1985" y="2959"/>
                  </a:lnTo>
                  <a:lnTo>
                    <a:pt x="1966" y="2963"/>
                  </a:lnTo>
                  <a:lnTo>
                    <a:pt x="1945" y="2966"/>
                  </a:lnTo>
                  <a:lnTo>
                    <a:pt x="1926" y="2969"/>
                  </a:lnTo>
                  <a:lnTo>
                    <a:pt x="1907" y="2972"/>
                  </a:lnTo>
                  <a:lnTo>
                    <a:pt x="1888" y="2976"/>
                  </a:lnTo>
                  <a:lnTo>
                    <a:pt x="1869" y="2978"/>
                  </a:lnTo>
                  <a:lnTo>
                    <a:pt x="1850" y="2981"/>
                  </a:lnTo>
                  <a:lnTo>
                    <a:pt x="1832" y="2983"/>
                  </a:lnTo>
                  <a:lnTo>
                    <a:pt x="1813" y="2985"/>
                  </a:lnTo>
                  <a:lnTo>
                    <a:pt x="1794" y="2986"/>
                  </a:lnTo>
                  <a:lnTo>
                    <a:pt x="1775" y="2987"/>
                  </a:lnTo>
                  <a:lnTo>
                    <a:pt x="1756" y="2987"/>
                  </a:lnTo>
                  <a:lnTo>
                    <a:pt x="1738" y="2987"/>
                  </a:lnTo>
                  <a:lnTo>
                    <a:pt x="1719" y="2987"/>
                  </a:lnTo>
                  <a:lnTo>
                    <a:pt x="1706" y="2993"/>
                  </a:lnTo>
                  <a:lnTo>
                    <a:pt x="1691" y="2996"/>
                  </a:lnTo>
                  <a:lnTo>
                    <a:pt x="1676" y="2998"/>
                  </a:lnTo>
                  <a:lnTo>
                    <a:pt x="1661" y="2999"/>
                  </a:lnTo>
                  <a:lnTo>
                    <a:pt x="1645" y="3000"/>
                  </a:lnTo>
                  <a:lnTo>
                    <a:pt x="1630" y="3000"/>
                  </a:lnTo>
                  <a:lnTo>
                    <a:pt x="1615" y="3001"/>
                  </a:lnTo>
                  <a:lnTo>
                    <a:pt x="1600" y="3002"/>
                  </a:lnTo>
                  <a:lnTo>
                    <a:pt x="1583" y="3004"/>
                  </a:lnTo>
                  <a:lnTo>
                    <a:pt x="1565" y="3005"/>
                  </a:lnTo>
                  <a:lnTo>
                    <a:pt x="1547" y="3006"/>
                  </a:lnTo>
                  <a:lnTo>
                    <a:pt x="1528" y="3006"/>
                  </a:lnTo>
                  <a:lnTo>
                    <a:pt x="1509" y="3006"/>
                  </a:lnTo>
                  <a:lnTo>
                    <a:pt x="1489" y="3005"/>
                  </a:lnTo>
                  <a:lnTo>
                    <a:pt x="1470" y="3004"/>
                  </a:lnTo>
                  <a:lnTo>
                    <a:pt x="1450" y="3003"/>
                  </a:lnTo>
                  <a:lnTo>
                    <a:pt x="1430" y="3003"/>
                  </a:lnTo>
                  <a:lnTo>
                    <a:pt x="1410" y="3003"/>
                  </a:lnTo>
                  <a:lnTo>
                    <a:pt x="1389" y="3003"/>
                  </a:lnTo>
                  <a:lnTo>
                    <a:pt x="1369" y="3004"/>
                  </a:lnTo>
                  <a:lnTo>
                    <a:pt x="1350" y="3005"/>
                  </a:lnTo>
                  <a:lnTo>
                    <a:pt x="1332" y="3009"/>
                  </a:lnTo>
                  <a:lnTo>
                    <a:pt x="1313" y="3012"/>
                  </a:lnTo>
                  <a:lnTo>
                    <a:pt x="1296" y="3017"/>
                  </a:lnTo>
                  <a:lnTo>
                    <a:pt x="1280" y="3018"/>
                  </a:lnTo>
                  <a:lnTo>
                    <a:pt x="1262" y="3019"/>
                  </a:lnTo>
                  <a:lnTo>
                    <a:pt x="1245" y="3020"/>
                  </a:lnTo>
                  <a:lnTo>
                    <a:pt x="1228" y="3021"/>
                  </a:lnTo>
                  <a:lnTo>
                    <a:pt x="1211" y="3022"/>
                  </a:lnTo>
                  <a:lnTo>
                    <a:pt x="1195" y="3024"/>
                  </a:lnTo>
                  <a:lnTo>
                    <a:pt x="1178" y="3027"/>
                  </a:lnTo>
                  <a:lnTo>
                    <a:pt x="1161" y="3028"/>
                  </a:lnTo>
                  <a:lnTo>
                    <a:pt x="1144" y="3030"/>
                  </a:lnTo>
                  <a:lnTo>
                    <a:pt x="1127" y="3032"/>
                  </a:lnTo>
                  <a:lnTo>
                    <a:pt x="1111" y="3034"/>
                  </a:lnTo>
                  <a:lnTo>
                    <a:pt x="1095" y="3037"/>
                  </a:lnTo>
                  <a:lnTo>
                    <a:pt x="1078" y="3039"/>
                  </a:lnTo>
                  <a:lnTo>
                    <a:pt x="1061" y="3042"/>
                  </a:lnTo>
                  <a:lnTo>
                    <a:pt x="1043" y="3045"/>
                  </a:lnTo>
                  <a:lnTo>
                    <a:pt x="1026" y="3048"/>
                  </a:lnTo>
                  <a:lnTo>
                    <a:pt x="1009" y="3050"/>
                  </a:lnTo>
                  <a:lnTo>
                    <a:pt x="993" y="3052"/>
                  </a:lnTo>
                  <a:lnTo>
                    <a:pt x="976" y="3054"/>
                  </a:lnTo>
                  <a:lnTo>
                    <a:pt x="960" y="3057"/>
                  </a:lnTo>
                  <a:lnTo>
                    <a:pt x="943" y="3060"/>
                  </a:lnTo>
                  <a:lnTo>
                    <a:pt x="926" y="3064"/>
                  </a:lnTo>
                  <a:lnTo>
                    <a:pt x="911" y="3067"/>
                  </a:lnTo>
                  <a:lnTo>
                    <a:pt x="894" y="3070"/>
                  </a:lnTo>
                  <a:lnTo>
                    <a:pt x="877" y="3073"/>
                  </a:lnTo>
                  <a:lnTo>
                    <a:pt x="860" y="3075"/>
                  </a:lnTo>
                  <a:lnTo>
                    <a:pt x="843" y="3077"/>
                  </a:lnTo>
                  <a:lnTo>
                    <a:pt x="825" y="3080"/>
                  </a:lnTo>
                  <a:lnTo>
                    <a:pt x="808" y="3081"/>
                  </a:lnTo>
                  <a:lnTo>
                    <a:pt x="790" y="3082"/>
                  </a:lnTo>
                  <a:lnTo>
                    <a:pt x="772" y="3082"/>
                  </a:lnTo>
                  <a:lnTo>
                    <a:pt x="754" y="3081"/>
                  </a:lnTo>
                  <a:lnTo>
                    <a:pt x="746" y="3073"/>
                  </a:lnTo>
                  <a:lnTo>
                    <a:pt x="736" y="3070"/>
                  </a:lnTo>
                  <a:lnTo>
                    <a:pt x="727" y="3070"/>
                  </a:lnTo>
                  <a:lnTo>
                    <a:pt x="716" y="3071"/>
                  </a:lnTo>
                  <a:lnTo>
                    <a:pt x="707" y="3073"/>
                  </a:lnTo>
                  <a:lnTo>
                    <a:pt x="696" y="3074"/>
                  </a:lnTo>
                  <a:lnTo>
                    <a:pt x="686" y="3073"/>
                  </a:lnTo>
                  <a:lnTo>
                    <a:pt x="677" y="3070"/>
                  </a:lnTo>
                  <a:lnTo>
                    <a:pt x="671" y="3065"/>
                  </a:lnTo>
                  <a:lnTo>
                    <a:pt x="666" y="3059"/>
                  </a:lnTo>
                  <a:lnTo>
                    <a:pt x="661" y="3054"/>
                  </a:lnTo>
                  <a:lnTo>
                    <a:pt x="658" y="3049"/>
                  </a:lnTo>
                  <a:lnTo>
                    <a:pt x="654" y="3045"/>
                  </a:lnTo>
                  <a:lnTo>
                    <a:pt x="651" y="3039"/>
                  </a:lnTo>
                  <a:lnTo>
                    <a:pt x="647" y="3034"/>
                  </a:lnTo>
                  <a:lnTo>
                    <a:pt x="644" y="3028"/>
                  </a:lnTo>
                  <a:lnTo>
                    <a:pt x="638" y="3031"/>
                  </a:lnTo>
                  <a:lnTo>
                    <a:pt x="632" y="3033"/>
                  </a:lnTo>
                  <a:lnTo>
                    <a:pt x="624" y="3035"/>
                  </a:lnTo>
                  <a:lnTo>
                    <a:pt x="617" y="3037"/>
                  </a:lnTo>
                  <a:lnTo>
                    <a:pt x="609" y="3037"/>
                  </a:lnTo>
                  <a:lnTo>
                    <a:pt x="602" y="3038"/>
                  </a:lnTo>
                  <a:lnTo>
                    <a:pt x="593" y="3038"/>
                  </a:lnTo>
                  <a:lnTo>
                    <a:pt x="585" y="3037"/>
                  </a:lnTo>
                  <a:lnTo>
                    <a:pt x="580" y="3031"/>
                  </a:lnTo>
                  <a:lnTo>
                    <a:pt x="572" y="3023"/>
                  </a:lnTo>
                  <a:lnTo>
                    <a:pt x="565" y="3017"/>
                  </a:lnTo>
                  <a:lnTo>
                    <a:pt x="558" y="3010"/>
                  </a:lnTo>
                  <a:lnTo>
                    <a:pt x="551" y="3002"/>
                  </a:lnTo>
                  <a:lnTo>
                    <a:pt x="548" y="2994"/>
                  </a:lnTo>
                  <a:lnTo>
                    <a:pt x="547" y="2983"/>
                  </a:lnTo>
                  <a:lnTo>
                    <a:pt x="550" y="2970"/>
                  </a:lnTo>
                  <a:lnTo>
                    <a:pt x="544" y="2965"/>
                  </a:lnTo>
                  <a:lnTo>
                    <a:pt x="537" y="2964"/>
                  </a:lnTo>
                  <a:lnTo>
                    <a:pt x="530" y="2964"/>
                  </a:lnTo>
                  <a:lnTo>
                    <a:pt x="524" y="2967"/>
                  </a:lnTo>
                  <a:lnTo>
                    <a:pt x="517" y="2970"/>
                  </a:lnTo>
                  <a:lnTo>
                    <a:pt x="511" y="2974"/>
                  </a:lnTo>
                  <a:lnTo>
                    <a:pt x="505" y="2975"/>
                  </a:lnTo>
                  <a:lnTo>
                    <a:pt x="497" y="2975"/>
                  </a:lnTo>
                  <a:lnTo>
                    <a:pt x="484" y="2976"/>
                  </a:lnTo>
                  <a:lnTo>
                    <a:pt x="472" y="2974"/>
                  </a:lnTo>
                  <a:lnTo>
                    <a:pt x="461" y="2969"/>
                  </a:lnTo>
                  <a:lnTo>
                    <a:pt x="451" y="2965"/>
                  </a:lnTo>
                  <a:lnTo>
                    <a:pt x="440" y="2961"/>
                  </a:lnTo>
                  <a:lnTo>
                    <a:pt x="430" y="2960"/>
                  </a:lnTo>
                  <a:lnTo>
                    <a:pt x="418" y="2961"/>
                  </a:lnTo>
                  <a:lnTo>
                    <a:pt x="405" y="2967"/>
                  </a:lnTo>
                  <a:lnTo>
                    <a:pt x="393" y="2967"/>
                  </a:lnTo>
                  <a:lnTo>
                    <a:pt x="383" y="2962"/>
                  </a:lnTo>
                  <a:lnTo>
                    <a:pt x="376" y="2953"/>
                  </a:lnTo>
                  <a:lnTo>
                    <a:pt x="370" y="2944"/>
                  </a:lnTo>
                  <a:lnTo>
                    <a:pt x="365" y="2932"/>
                  </a:lnTo>
                  <a:lnTo>
                    <a:pt x="359" y="2923"/>
                  </a:lnTo>
                  <a:lnTo>
                    <a:pt x="351" y="2915"/>
                  </a:lnTo>
                  <a:lnTo>
                    <a:pt x="342" y="2911"/>
                  </a:lnTo>
                  <a:lnTo>
                    <a:pt x="337" y="2899"/>
                  </a:lnTo>
                  <a:lnTo>
                    <a:pt x="331" y="2887"/>
                  </a:lnTo>
                  <a:lnTo>
                    <a:pt x="326" y="2875"/>
                  </a:lnTo>
                  <a:lnTo>
                    <a:pt x="322" y="2861"/>
                  </a:lnTo>
                  <a:lnTo>
                    <a:pt x="319" y="2849"/>
                  </a:lnTo>
                  <a:lnTo>
                    <a:pt x="317" y="2835"/>
                  </a:lnTo>
                  <a:lnTo>
                    <a:pt x="318" y="2820"/>
                  </a:lnTo>
                  <a:lnTo>
                    <a:pt x="321" y="2805"/>
                  </a:lnTo>
                  <a:lnTo>
                    <a:pt x="331" y="2786"/>
                  </a:lnTo>
                  <a:lnTo>
                    <a:pt x="342" y="2767"/>
                  </a:lnTo>
                  <a:lnTo>
                    <a:pt x="354" y="2750"/>
                  </a:lnTo>
                  <a:lnTo>
                    <a:pt x="366" y="2733"/>
                  </a:lnTo>
                  <a:lnTo>
                    <a:pt x="380" y="2718"/>
                  </a:lnTo>
                  <a:lnTo>
                    <a:pt x="394" y="2703"/>
                  </a:lnTo>
                  <a:lnTo>
                    <a:pt x="408" y="2690"/>
                  </a:lnTo>
                  <a:lnTo>
                    <a:pt x="424" y="2677"/>
                  </a:lnTo>
                  <a:lnTo>
                    <a:pt x="440" y="2664"/>
                  </a:lnTo>
                  <a:lnTo>
                    <a:pt x="457" y="2652"/>
                  </a:lnTo>
                  <a:lnTo>
                    <a:pt x="474" y="2642"/>
                  </a:lnTo>
                  <a:lnTo>
                    <a:pt x="493" y="2631"/>
                  </a:lnTo>
                  <a:lnTo>
                    <a:pt x="511" y="2622"/>
                  </a:lnTo>
                  <a:lnTo>
                    <a:pt x="531" y="2613"/>
                  </a:lnTo>
                  <a:lnTo>
                    <a:pt x="551" y="2605"/>
                  </a:lnTo>
                  <a:lnTo>
                    <a:pt x="571" y="2596"/>
                  </a:lnTo>
                  <a:lnTo>
                    <a:pt x="605" y="2589"/>
                  </a:lnTo>
                  <a:lnTo>
                    <a:pt x="639" y="2584"/>
                  </a:lnTo>
                  <a:lnTo>
                    <a:pt x="673" y="2580"/>
                  </a:lnTo>
                  <a:lnTo>
                    <a:pt x="707" y="2577"/>
                  </a:lnTo>
                  <a:lnTo>
                    <a:pt x="741" y="2576"/>
                  </a:lnTo>
                  <a:lnTo>
                    <a:pt x="776" y="2575"/>
                  </a:lnTo>
                  <a:lnTo>
                    <a:pt x="811" y="2575"/>
                  </a:lnTo>
                  <a:lnTo>
                    <a:pt x="846" y="2575"/>
                  </a:lnTo>
                  <a:lnTo>
                    <a:pt x="880" y="2575"/>
                  </a:lnTo>
                  <a:lnTo>
                    <a:pt x="915" y="2575"/>
                  </a:lnTo>
                  <a:lnTo>
                    <a:pt x="949" y="2575"/>
                  </a:lnTo>
                  <a:lnTo>
                    <a:pt x="984" y="2574"/>
                  </a:lnTo>
                  <a:lnTo>
                    <a:pt x="1017" y="2573"/>
                  </a:lnTo>
                  <a:lnTo>
                    <a:pt x="1051" y="2570"/>
                  </a:lnTo>
                  <a:lnTo>
                    <a:pt x="1084" y="2567"/>
                  </a:lnTo>
                  <a:lnTo>
                    <a:pt x="1117" y="2561"/>
                  </a:lnTo>
                  <a:lnTo>
                    <a:pt x="1124" y="2556"/>
                  </a:lnTo>
                  <a:lnTo>
                    <a:pt x="1132" y="2551"/>
                  </a:lnTo>
                  <a:lnTo>
                    <a:pt x="1137" y="2544"/>
                  </a:lnTo>
                  <a:lnTo>
                    <a:pt x="1142" y="2536"/>
                  </a:lnTo>
                  <a:lnTo>
                    <a:pt x="1143" y="2516"/>
                  </a:lnTo>
                  <a:lnTo>
                    <a:pt x="1139" y="2497"/>
                  </a:lnTo>
                  <a:lnTo>
                    <a:pt x="1132" y="2480"/>
                  </a:lnTo>
                  <a:lnTo>
                    <a:pt x="1127" y="2462"/>
                  </a:lnTo>
                  <a:lnTo>
                    <a:pt x="1120" y="2449"/>
                  </a:lnTo>
                  <a:lnTo>
                    <a:pt x="1114" y="2435"/>
                  </a:lnTo>
                  <a:lnTo>
                    <a:pt x="1108" y="2420"/>
                  </a:lnTo>
                  <a:lnTo>
                    <a:pt x="1102" y="2407"/>
                  </a:lnTo>
                  <a:lnTo>
                    <a:pt x="1096" y="2393"/>
                  </a:lnTo>
                  <a:lnTo>
                    <a:pt x="1088" y="2380"/>
                  </a:lnTo>
                  <a:lnTo>
                    <a:pt x="1079" y="2368"/>
                  </a:lnTo>
                  <a:lnTo>
                    <a:pt x="1067" y="2359"/>
                  </a:lnTo>
                  <a:lnTo>
                    <a:pt x="1054" y="2341"/>
                  </a:lnTo>
                  <a:lnTo>
                    <a:pt x="1043" y="2323"/>
                  </a:lnTo>
                  <a:lnTo>
                    <a:pt x="1031" y="2305"/>
                  </a:lnTo>
                  <a:lnTo>
                    <a:pt x="1019" y="2286"/>
                  </a:lnTo>
                  <a:lnTo>
                    <a:pt x="1008" y="2268"/>
                  </a:lnTo>
                  <a:lnTo>
                    <a:pt x="996" y="2249"/>
                  </a:lnTo>
                  <a:lnTo>
                    <a:pt x="985" y="2231"/>
                  </a:lnTo>
                  <a:lnTo>
                    <a:pt x="973" y="2212"/>
                  </a:lnTo>
                  <a:lnTo>
                    <a:pt x="961" y="2193"/>
                  </a:lnTo>
                  <a:lnTo>
                    <a:pt x="949" y="2175"/>
                  </a:lnTo>
                  <a:lnTo>
                    <a:pt x="937" y="2155"/>
                  </a:lnTo>
                  <a:lnTo>
                    <a:pt x="924" y="2137"/>
                  </a:lnTo>
                  <a:lnTo>
                    <a:pt x="911" y="2119"/>
                  </a:lnTo>
                  <a:lnTo>
                    <a:pt x="897" y="2101"/>
                  </a:lnTo>
                  <a:lnTo>
                    <a:pt x="882" y="2083"/>
                  </a:lnTo>
                  <a:lnTo>
                    <a:pt x="867" y="2066"/>
                  </a:lnTo>
                  <a:lnTo>
                    <a:pt x="852" y="2021"/>
                  </a:lnTo>
                  <a:lnTo>
                    <a:pt x="842" y="2024"/>
                  </a:lnTo>
                  <a:lnTo>
                    <a:pt x="831" y="2026"/>
                  </a:lnTo>
                  <a:lnTo>
                    <a:pt x="821" y="2027"/>
                  </a:lnTo>
                  <a:lnTo>
                    <a:pt x="810" y="2028"/>
                  </a:lnTo>
                  <a:lnTo>
                    <a:pt x="799" y="2028"/>
                  </a:lnTo>
                  <a:lnTo>
                    <a:pt x="788" y="2028"/>
                  </a:lnTo>
                  <a:lnTo>
                    <a:pt x="776" y="2027"/>
                  </a:lnTo>
                  <a:lnTo>
                    <a:pt x="766" y="2026"/>
                  </a:lnTo>
                  <a:lnTo>
                    <a:pt x="754" y="2024"/>
                  </a:lnTo>
                  <a:lnTo>
                    <a:pt x="744" y="2022"/>
                  </a:lnTo>
                  <a:lnTo>
                    <a:pt x="733" y="2019"/>
                  </a:lnTo>
                  <a:lnTo>
                    <a:pt x="722" y="2016"/>
                  </a:lnTo>
                  <a:lnTo>
                    <a:pt x="712" y="2012"/>
                  </a:lnTo>
                  <a:lnTo>
                    <a:pt x="702" y="2008"/>
                  </a:lnTo>
                  <a:lnTo>
                    <a:pt x="693" y="2004"/>
                  </a:lnTo>
                  <a:lnTo>
                    <a:pt x="683" y="1999"/>
                  </a:lnTo>
                  <a:lnTo>
                    <a:pt x="669" y="1983"/>
                  </a:lnTo>
                  <a:lnTo>
                    <a:pt x="662" y="1967"/>
                  </a:lnTo>
                  <a:lnTo>
                    <a:pt x="662" y="1951"/>
                  </a:lnTo>
                  <a:lnTo>
                    <a:pt x="667" y="1934"/>
                  </a:lnTo>
                  <a:lnTo>
                    <a:pt x="676" y="1918"/>
                  </a:lnTo>
                  <a:lnTo>
                    <a:pt x="684" y="1901"/>
                  </a:lnTo>
                  <a:lnTo>
                    <a:pt x="692" y="1885"/>
                  </a:lnTo>
                  <a:lnTo>
                    <a:pt x="697" y="1869"/>
                  </a:lnTo>
                  <a:lnTo>
                    <a:pt x="710" y="1848"/>
                  </a:lnTo>
                  <a:lnTo>
                    <a:pt x="723" y="1829"/>
                  </a:lnTo>
                  <a:lnTo>
                    <a:pt x="738" y="1813"/>
                  </a:lnTo>
                  <a:lnTo>
                    <a:pt x="754" y="1798"/>
                  </a:lnTo>
                  <a:lnTo>
                    <a:pt x="771" y="1783"/>
                  </a:lnTo>
                  <a:lnTo>
                    <a:pt x="788" y="1770"/>
                  </a:lnTo>
                  <a:lnTo>
                    <a:pt x="806" y="1755"/>
                  </a:lnTo>
                  <a:lnTo>
                    <a:pt x="825" y="1738"/>
                  </a:lnTo>
                  <a:lnTo>
                    <a:pt x="803" y="1737"/>
                  </a:lnTo>
                  <a:lnTo>
                    <a:pt x="780" y="1736"/>
                  </a:lnTo>
                  <a:lnTo>
                    <a:pt x="757" y="1734"/>
                  </a:lnTo>
                  <a:lnTo>
                    <a:pt x="735" y="1732"/>
                  </a:lnTo>
                  <a:lnTo>
                    <a:pt x="714" y="1726"/>
                  </a:lnTo>
                  <a:lnTo>
                    <a:pt x="695" y="1718"/>
                  </a:lnTo>
                  <a:lnTo>
                    <a:pt x="679" y="1705"/>
                  </a:lnTo>
                  <a:lnTo>
                    <a:pt x="666" y="1688"/>
                  </a:lnTo>
                  <a:lnTo>
                    <a:pt x="669" y="1671"/>
                  </a:lnTo>
                  <a:lnTo>
                    <a:pt x="673" y="1655"/>
                  </a:lnTo>
                  <a:lnTo>
                    <a:pt x="678" y="1640"/>
                  </a:lnTo>
                  <a:lnTo>
                    <a:pt x="685" y="1628"/>
                  </a:lnTo>
                  <a:lnTo>
                    <a:pt x="695" y="1615"/>
                  </a:lnTo>
                  <a:lnTo>
                    <a:pt x="706" y="1604"/>
                  </a:lnTo>
                  <a:lnTo>
                    <a:pt x="716" y="1594"/>
                  </a:lnTo>
                  <a:lnTo>
                    <a:pt x="729" y="1584"/>
                  </a:lnTo>
                  <a:lnTo>
                    <a:pt x="741" y="1575"/>
                  </a:lnTo>
                  <a:lnTo>
                    <a:pt x="755" y="1566"/>
                  </a:lnTo>
                  <a:lnTo>
                    <a:pt x="769" y="1559"/>
                  </a:lnTo>
                  <a:lnTo>
                    <a:pt x="783" y="1550"/>
                  </a:lnTo>
                  <a:lnTo>
                    <a:pt x="796" y="1544"/>
                  </a:lnTo>
                  <a:lnTo>
                    <a:pt x="810" y="1537"/>
                  </a:lnTo>
                  <a:lnTo>
                    <a:pt x="823" y="1529"/>
                  </a:lnTo>
                  <a:lnTo>
                    <a:pt x="836" y="1522"/>
                  </a:lnTo>
                  <a:lnTo>
                    <a:pt x="840" y="1522"/>
                  </a:lnTo>
                  <a:lnTo>
                    <a:pt x="845" y="1520"/>
                  </a:lnTo>
                  <a:lnTo>
                    <a:pt x="849" y="1519"/>
                  </a:lnTo>
                  <a:lnTo>
                    <a:pt x="854" y="1516"/>
                  </a:lnTo>
                  <a:lnTo>
                    <a:pt x="858" y="1513"/>
                  </a:lnTo>
                  <a:lnTo>
                    <a:pt x="862" y="1511"/>
                  </a:lnTo>
                  <a:lnTo>
                    <a:pt x="866" y="1509"/>
                  </a:lnTo>
                  <a:lnTo>
                    <a:pt x="870" y="1508"/>
                  </a:lnTo>
                  <a:lnTo>
                    <a:pt x="861" y="1499"/>
                  </a:lnTo>
                  <a:lnTo>
                    <a:pt x="850" y="1492"/>
                  </a:lnTo>
                  <a:lnTo>
                    <a:pt x="840" y="1485"/>
                  </a:lnTo>
                  <a:lnTo>
                    <a:pt x="829" y="1477"/>
                  </a:lnTo>
                  <a:lnTo>
                    <a:pt x="819" y="1470"/>
                  </a:lnTo>
                  <a:lnTo>
                    <a:pt x="808" y="1463"/>
                  </a:lnTo>
                  <a:lnTo>
                    <a:pt x="796" y="1456"/>
                  </a:lnTo>
                  <a:lnTo>
                    <a:pt x="786" y="1450"/>
                  </a:lnTo>
                  <a:lnTo>
                    <a:pt x="774" y="1443"/>
                  </a:lnTo>
                  <a:lnTo>
                    <a:pt x="764" y="1437"/>
                  </a:lnTo>
                  <a:lnTo>
                    <a:pt x="752" y="1431"/>
                  </a:lnTo>
                  <a:lnTo>
                    <a:pt x="741" y="1425"/>
                  </a:lnTo>
                  <a:lnTo>
                    <a:pt x="730" y="1419"/>
                  </a:lnTo>
                  <a:lnTo>
                    <a:pt x="719" y="1414"/>
                  </a:lnTo>
                  <a:lnTo>
                    <a:pt x="708" y="1407"/>
                  </a:lnTo>
                  <a:lnTo>
                    <a:pt x="697" y="1402"/>
                  </a:lnTo>
                  <a:lnTo>
                    <a:pt x="684" y="1391"/>
                  </a:lnTo>
                  <a:lnTo>
                    <a:pt x="673" y="1379"/>
                  </a:lnTo>
                  <a:lnTo>
                    <a:pt x="662" y="1366"/>
                  </a:lnTo>
                  <a:lnTo>
                    <a:pt x="653" y="1351"/>
                  </a:lnTo>
                  <a:lnTo>
                    <a:pt x="646" y="1335"/>
                  </a:lnTo>
                  <a:lnTo>
                    <a:pt x="643" y="1318"/>
                  </a:lnTo>
                  <a:lnTo>
                    <a:pt x="643" y="1299"/>
                  </a:lnTo>
                  <a:lnTo>
                    <a:pt x="648" y="1279"/>
                  </a:lnTo>
                  <a:lnTo>
                    <a:pt x="657" y="1261"/>
                  </a:lnTo>
                  <a:lnTo>
                    <a:pt x="666" y="1244"/>
                  </a:lnTo>
                  <a:lnTo>
                    <a:pt x="677" y="1228"/>
                  </a:lnTo>
                  <a:lnTo>
                    <a:pt x="688" y="1213"/>
                  </a:lnTo>
                  <a:lnTo>
                    <a:pt x="699" y="1199"/>
                  </a:lnTo>
                  <a:lnTo>
                    <a:pt x="712" y="1185"/>
                  </a:lnTo>
                  <a:lnTo>
                    <a:pt x="723" y="1170"/>
                  </a:lnTo>
                  <a:lnTo>
                    <a:pt x="736" y="1155"/>
                  </a:lnTo>
                  <a:lnTo>
                    <a:pt x="727" y="1151"/>
                  </a:lnTo>
                  <a:lnTo>
                    <a:pt x="717" y="1149"/>
                  </a:lnTo>
                  <a:lnTo>
                    <a:pt x="707" y="1148"/>
                  </a:lnTo>
                  <a:lnTo>
                    <a:pt x="696" y="1148"/>
                  </a:lnTo>
                  <a:lnTo>
                    <a:pt x="685" y="1148"/>
                  </a:lnTo>
                  <a:lnTo>
                    <a:pt x="675" y="1148"/>
                  </a:lnTo>
                  <a:lnTo>
                    <a:pt x="665" y="1147"/>
                  </a:lnTo>
                  <a:lnTo>
                    <a:pt x="656" y="1144"/>
                  </a:lnTo>
                  <a:lnTo>
                    <a:pt x="643" y="1143"/>
                  </a:lnTo>
                  <a:lnTo>
                    <a:pt x="630" y="1143"/>
                  </a:lnTo>
                  <a:lnTo>
                    <a:pt x="617" y="1143"/>
                  </a:lnTo>
                  <a:lnTo>
                    <a:pt x="603" y="1143"/>
                  </a:lnTo>
                  <a:lnTo>
                    <a:pt x="589" y="1143"/>
                  </a:lnTo>
                  <a:lnTo>
                    <a:pt x="576" y="1144"/>
                  </a:lnTo>
                  <a:lnTo>
                    <a:pt x="563" y="1146"/>
                  </a:lnTo>
                  <a:lnTo>
                    <a:pt x="550" y="1148"/>
                  </a:lnTo>
                  <a:lnTo>
                    <a:pt x="550" y="1144"/>
                  </a:lnTo>
                  <a:lnTo>
                    <a:pt x="548" y="1141"/>
                  </a:lnTo>
                  <a:lnTo>
                    <a:pt x="546" y="1139"/>
                  </a:lnTo>
                  <a:lnTo>
                    <a:pt x="543" y="1137"/>
                  </a:lnTo>
                  <a:lnTo>
                    <a:pt x="556" y="1135"/>
                  </a:lnTo>
                  <a:lnTo>
                    <a:pt x="569" y="1133"/>
                  </a:lnTo>
                  <a:lnTo>
                    <a:pt x="583" y="1132"/>
                  </a:lnTo>
                  <a:lnTo>
                    <a:pt x="596" y="1131"/>
                  </a:lnTo>
                  <a:lnTo>
                    <a:pt x="607" y="1131"/>
                  </a:lnTo>
                  <a:lnTo>
                    <a:pt x="620" y="1132"/>
                  </a:lnTo>
                  <a:lnTo>
                    <a:pt x="632" y="1133"/>
                  </a:lnTo>
                  <a:lnTo>
                    <a:pt x="644" y="1134"/>
                  </a:lnTo>
                  <a:lnTo>
                    <a:pt x="656" y="1135"/>
                  </a:lnTo>
                  <a:lnTo>
                    <a:pt x="669" y="1136"/>
                  </a:lnTo>
                  <a:lnTo>
                    <a:pt x="680" y="1137"/>
                  </a:lnTo>
                  <a:lnTo>
                    <a:pt x="693" y="1138"/>
                  </a:lnTo>
                  <a:lnTo>
                    <a:pt x="706" y="1139"/>
                  </a:lnTo>
                  <a:lnTo>
                    <a:pt x="719" y="1140"/>
                  </a:lnTo>
                  <a:lnTo>
                    <a:pt x="733" y="1140"/>
                  </a:lnTo>
                  <a:lnTo>
                    <a:pt x="747" y="1140"/>
                  </a:lnTo>
                  <a:lnTo>
                    <a:pt x="758" y="1136"/>
                  </a:lnTo>
                  <a:lnTo>
                    <a:pt x="768" y="1130"/>
                  </a:lnTo>
                  <a:lnTo>
                    <a:pt x="777" y="1121"/>
                  </a:lnTo>
                  <a:lnTo>
                    <a:pt x="786" y="1113"/>
                  </a:lnTo>
                  <a:lnTo>
                    <a:pt x="794" y="1104"/>
                  </a:lnTo>
                  <a:lnTo>
                    <a:pt x="804" y="1096"/>
                  </a:lnTo>
                  <a:lnTo>
                    <a:pt x="813" y="1089"/>
                  </a:lnTo>
                  <a:lnTo>
                    <a:pt x="825" y="1084"/>
                  </a:lnTo>
                  <a:lnTo>
                    <a:pt x="821" y="1073"/>
                  </a:lnTo>
                  <a:lnTo>
                    <a:pt x="814" y="1067"/>
                  </a:lnTo>
                  <a:lnTo>
                    <a:pt x="805" y="1062"/>
                  </a:lnTo>
                  <a:lnTo>
                    <a:pt x="794" y="1060"/>
                  </a:lnTo>
                  <a:lnTo>
                    <a:pt x="783" y="1058"/>
                  </a:lnTo>
                  <a:lnTo>
                    <a:pt x="771" y="1055"/>
                  </a:lnTo>
                  <a:lnTo>
                    <a:pt x="760" y="1053"/>
                  </a:lnTo>
                  <a:lnTo>
                    <a:pt x="750" y="1049"/>
                  </a:lnTo>
                  <a:lnTo>
                    <a:pt x="739" y="1045"/>
                  </a:lnTo>
                  <a:lnTo>
                    <a:pt x="729" y="1041"/>
                  </a:lnTo>
                  <a:lnTo>
                    <a:pt x="718" y="1037"/>
                  </a:lnTo>
                  <a:lnTo>
                    <a:pt x="708" y="1034"/>
                  </a:lnTo>
                  <a:lnTo>
                    <a:pt x="697" y="1032"/>
                  </a:lnTo>
                  <a:lnTo>
                    <a:pt x="686" y="1030"/>
                  </a:lnTo>
                  <a:lnTo>
                    <a:pt x="676" y="1028"/>
                  </a:lnTo>
                  <a:lnTo>
                    <a:pt x="665" y="1026"/>
                  </a:lnTo>
                  <a:lnTo>
                    <a:pt x="655" y="1024"/>
                  </a:lnTo>
                  <a:lnTo>
                    <a:pt x="644" y="1023"/>
                  </a:lnTo>
                  <a:lnTo>
                    <a:pt x="634" y="1021"/>
                  </a:lnTo>
                  <a:lnTo>
                    <a:pt x="623" y="1017"/>
                  </a:lnTo>
                  <a:lnTo>
                    <a:pt x="612" y="1015"/>
                  </a:lnTo>
                  <a:lnTo>
                    <a:pt x="602" y="1012"/>
                  </a:lnTo>
                  <a:lnTo>
                    <a:pt x="591" y="1008"/>
                  </a:lnTo>
                  <a:lnTo>
                    <a:pt x="581" y="1004"/>
                  </a:lnTo>
                  <a:lnTo>
                    <a:pt x="598" y="1001"/>
                  </a:lnTo>
                  <a:lnTo>
                    <a:pt x="614" y="1002"/>
                  </a:lnTo>
                  <a:lnTo>
                    <a:pt x="629" y="1006"/>
                  </a:lnTo>
                  <a:lnTo>
                    <a:pt x="645" y="1011"/>
                  </a:lnTo>
                  <a:lnTo>
                    <a:pt x="661" y="1015"/>
                  </a:lnTo>
                  <a:lnTo>
                    <a:pt x="678" y="1021"/>
                  </a:lnTo>
                  <a:lnTo>
                    <a:pt x="695" y="1024"/>
                  </a:lnTo>
                  <a:lnTo>
                    <a:pt x="712" y="1025"/>
                  </a:lnTo>
                  <a:lnTo>
                    <a:pt x="726" y="1030"/>
                  </a:lnTo>
                  <a:lnTo>
                    <a:pt x="740" y="1034"/>
                  </a:lnTo>
                  <a:lnTo>
                    <a:pt x="755" y="1039"/>
                  </a:lnTo>
                  <a:lnTo>
                    <a:pt x="770" y="1043"/>
                  </a:lnTo>
                  <a:lnTo>
                    <a:pt x="784" y="1048"/>
                  </a:lnTo>
                  <a:lnTo>
                    <a:pt x="799" y="1053"/>
                  </a:lnTo>
                  <a:lnTo>
                    <a:pt x="812" y="1060"/>
                  </a:lnTo>
                  <a:lnTo>
                    <a:pt x="825" y="1067"/>
                  </a:lnTo>
                  <a:lnTo>
                    <a:pt x="837" y="1067"/>
                  </a:lnTo>
                  <a:lnTo>
                    <a:pt x="847" y="1063"/>
                  </a:lnTo>
                  <a:lnTo>
                    <a:pt x="857" y="1057"/>
                  </a:lnTo>
                  <a:lnTo>
                    <a:pt x="866" y="1049"/>
                  </a:lnTo>
                  <a:lnTo>
                    <a:pt x="876" y="1041"/>
                  </a:lnTo>
                  <a:lnTo>
                    <a:pt x="885" y="1032"/>
                  </a:lnTo>
                  <a:lnTo>
                    <a:pt x="895" y="1026"/>
                  </a:lnTo>
                  <a:lnTo>
                    <a:pt x="905" y="1022"/>
                  </a:lnTo>
                  <a:lnTo>
                    <a:pt x="938" y="997"/>
                  </a:lnTo>
                  <a:lnTo>
                    <a:pt x="971" y="974"/>
                  </a:lnTo>
                  <a:lnTo>
                    <a:pt x="1003" y="951"/>
                  </a:lnTo>
                  <a:lnTo>
                    <a:pt x="1034" y="927"/>
                  </a:lnTo>
                  <a:lnTo>
                    <a:pt x="1066" y="905"/>
                  </a:lnTo>
                  <a:lnTo>
                    <a:pt x="1098" y="883"/>
                  </a:lnTo>
                  <a:lnTo>
                    <a:pt x="1128" y="859"/>
                  </a:lnTo>
                  <a:lnTo>
                    <a:pt x="1159" y="837"/>
                  </a:lnTo>
                  <a:lnTo>
                    <a:pt x="1190" y="814"/>
                  </a:lnTo>
                  <a:lnTo>
                    <a:pt x="1219" y="789"/>
                  </a:lnTo>
                  <a:lnTo>
                    <a:pt x="1248" y="765"/>
                  </a:lnTo>
                  <a:lnTo>
                    <a:pt x="1276" y="740"/>
                  </a:lnTo>
                  <a:lnTo>
                    <a:pt x="1305" y="713"/>
                  </a:lnTo>
                  <a:lnTo>
                    <a:pt x="1332" y="685"/>
                  </a:lnTo>
                  <a:lnTo>
                    <a:pt x="1359" y="656"/>
                  </a:lnTo>
                  <a:lnTo>
                    <a:pt x="1384" y="625"/>
                  </a:lnTo>
                  <a:lnTo>
                    <a:pt x="1394" y="610"/>
                  </a:lnTo>
                  <a:lnTo>
                    <a:pt x="1401" y="594"/>
                  </a:lnTo>
                  <a:lnTo>
                    <a:pt x="1407" y="578"/>
                  </a:lnTo>
                  <a:lnTo>
                    <a:pt x="1413" y="560"/>
                  </a:lnTo>
                  <a:lnTo>
                    <a:pt x="1416" y="542"/>
                  </a:lnTo>
                  <a:lnTo>
                    <a:pt x="1417" y="522"/>
                  </a:lnTo>
                  <a:lnTo>
                    <a:pt x="1416" y="503"/>
                  </a:lnTo>
                  <a:lnTo>
                    <a:pt x="1414" y="484"/>
                  </a:lnTo>
                  <a:lnTo>
                    <a:pt x="1398" y="465"/>
                  </a:lnTo>
                  <a:lnTo>
                    <a:pt x="1380" y="449"/>
                  </a:lnTo>
                  <a:lnTo>
                    <a:pt x="1361" y="437"/>
                  </a:lnTo>
                  <a:lnTo>
                    <a:pt x="1340" y="426"/>
                  </a:lnTo>
                  <a:lnTo>
                    <a:pt x="1318" y="418"/>
                  </a:lnTo>
                  <a:lnTo>
                    <a:pt x="1293" y="412"/>
                  </a:lnTo>
                  <a:lnTo>
                    <a:pt x="1269" y="408"/>
                  </a:lnTo>
                  <a:lnTo>
                    <a:pt x="1245" y="406"/>
                  </a:lnTo>
                  <a:lnTo>
                    <a:pt x="1218" y="405"/>
                  </a:lnTo>
                  <a:lnTo>
                    <a:pt x="1193" y="406"/>
                  </a:lnTo>
                  <a:lnTo>
                    <a:pt x="1167" y="407"/>
                  </a:lnTo>
                  <a:lnTo>
                    <a:pt x="1142" y="410"/>
                  </a:lnTo>
                  <a:lnTo>
                    <a:pt x="1118" y="413"/>
                  </a:lnTo>
                  <a:lnTo>
                    <a:pt x="1093" y="416"/>
                  </a:lnTo>
                  <a:lnTo>
                    <a:pt x="1071" y="421"/>
                  </a:lnTo>
                  <a:lnTo>
                    <a:pt x="1049" y="424"/>
                  </a:lnTo>
                  <a:lnTo>
                    <a:pt x="1025" y="431"/>
                  </a:lnTo>
                  <a:lnTo>
                    <a:pt x="1001" y="438"/>
                  </a:lnTo>
                  <a:lnTo>
                    <a:pt x="977" y="444"/>
                  </a:lnTo>
                  <a:lnTo>
                    <a:pt x="953" y="451"/>
                  </a:lnTo>
                  <a:lnTo>
                    <a:pt x="930" y="458"/>
                  </a:lnTo>
                  <a:lnTo>
                    <a:pt x="905" y="465"/>
                  </a:lnTo>
                  <a:lnTo>
                    <a:pt x="882" y="473"/>
                  </a:lnTo>
                  <a:lnTo>
                    <a:pt x="859" y="480"/>
                  </a:lnTo>
                  <a:lnTo>
                    <a:pt x="834" y="487"/>
                  </a:lnTo>
                  <a:lnTo>
                    <a:pt x="811" y="496"/>
                  </a:lnTo>
                  <a:lnTo>
                    <a:pt x="789" y="504"/>
                  </a:lnTo>
                  <a:lnTo>
                    <a:pt x="766" y="514"/>
                  </a:lnTo>
                  <a:lnTo>
                    <a:pt x="744" y="523"/>
                  </a:lnTo>
                  <a:lnTo>
                    <a:pt x="720" y="534"/>
                  </a:lnTo>
                  <a:lnTo>
                    <a:pt x="699" y="546"/>
                  </a:lnTo>
                  <a:lnTo>
                    <a:pt x="677" y="557"/>
                  </a:lnTo>
                  <a:lnTo>
                    <a:pt x="657" y="573"/>
                  </a:lnTo>
                  <a:lnTo>
                    <a:pt x="636" y="589"/>
                  </a:lnTo>
                  <a:lnTo>
                    <a:pt x="616" y="603"/>
                  </a:lnTo>
                  <a:lnTo>
                    <a:pt x="595" y="618"/>
                  </a:lnTo>
                  <a:lnTo>
                    <a:pt x="574" y="632"/>
                  </a:lnTo>
                  <a:lnTo>
                    <a:pt x="554" y="644"/>
                  </a:lnTo>
                  <a:lnTo>
                    <a:pt x="534" y="658"/>
                  </a:lnTo>
                  <a:lnTo>
                    <a:pt x="514" y="672"/>
                  </a:lnTo>
                  <a:lnTo>
                    <a:pt x="495" y="686"/>
                  </a:lnTo>
                  <a:lnTo>
                    <a:pt x="477" y="700"/>
                  </a:lnTo>
                  <a:lnTo>
                    <a:pt x="459" y="716"/>
                  </a:lnTo>
                  <a:lnTo>
                    <a:pt x="442" y="732"/>
                  </a:lnTo>
                  <a:lnTo>
                    <a:pt x="425" y="749"/>
                  </a:lnTo>
                  <a:lnTo>
                    <a:pt x="411" y="768"/>
                  </a:lnTo>
                  <a:lnTo>
                    <a:pt x="397" y="788"/>
                  </a:lnTo>
                  <a:lnTo>
                    <a:pt x="384" y="810"/>
                  </a:lnTo>
                  <a:lnTo>
                    <a:pt x="383" y="830"/>
                  </a:lnTo>
                  <a:lnTo>
                    <a:pt x="386" y="849"/>
                  </a:lnTo>
                  <a:lnTo>
                    <a:pt x="393" y="867"/>
                  </a:lnTo>
                  <a:lnTo>
                    <a:pt x="401" y="884"/>
                  </a:lnTo>
                  <a:lnTo>
                    <a:pt x="408" y="901"/>
                  </a:lnTo>
                  <a:lnTo>
                    <a:pt x="415" y="919"/>
                  </a:lnTo>
                  <a:lnTo>
                    <a:pt x="417" y="937"/>
                  </a:lnTo>
                  <a:lnTo>
                    <a:pt x="415" y="957"/>
                  </a:lnTo>
                  <a:lnTo>
                    <a:pt x="414" y="979"/>
                  </a:lnTo>
                  <a:lnTo>
                    <a:pt x="410" y="999"/>
                  </a:lnTo>
                  <a:lnTo>
                    <a:pt x="403" y="1017"/>
                  </a:lnTo>
                  <a:lnTo>
                    <a:pt x="396" y="1034"/>
                  </a:lnTo>
                  <a:lnTo>
                    <a:pt x="385" y="1049"/>
                  </a:lnTo>
                  <a:lnTo>
                    <a:pt x="375" y="1063"/>
                  </a:lnTo>
                  <a:lnTo>
                    <a:pt x="361" y="1076"/>
                  </a:lnTo>
                  <a:lnTo>
                    <a:pt x="347" y="1087"/>
                  </a:lnTo>
                  <a:lnTo>
                    <a:pt x="332" y="1098"/>
                  </a:lnTo>
                  <a:lnTo>
                    <a:pt x="315" y="1107"/>
                  </a:lnTo>
                  <a:lnTo>
                    <a:pt x="300" y="1117"/>
                  </a:lnTo>
                  <a:lnTo>
                    <a:pt x="283" y="1125"/>
                  </a:lnTo>
                  <a:lnTo>
                    <a:pt x="266" y="1134"/>
                  </a:lnTo>
                  <a:lnTo>
                    <a:pt x="248" y="1142"/>
                  </a:lnTo>
                  <a:lnTo>
                    <a:pt x="231" y="1150"/>
                  </a:lnTo>
                  <a:lnTo>
                    <a:pt x="215" y="1158"/>
                  </a:lnTo>
                  <a:lnTo>
                    <a:pt x="203" y="1159"/>
                  </a:lnTo>
                  <a:lnTo>
                    <a:pt x="192" y="1159"/>
                  </a:lnTo>
                  <a:lnTo>
                    <a:pt x="180" y="1159"/>
                  </a:lnTo>
                  <a:lnTo>
                    <a:pt x="169" y="1159"/>
                  </a:lnTo>
                  <a:lnTo>
                    <a:pt x="157" y="1158"/>
                  </a:lnTo>
                  <a:lnTo>
                    <a:pt x="145" y="1157"/>
                  </a:lnTo>
                  <a:lnTo>
                    <a:pt x="134" y="1156"/>
                  </a:lnTo>
                  <a:lnTo>
                    <a:pt x="122" y="1154"/>
                  </a:lnTo>
                  <a:lnTo>
                    <a:pt x="110" y="1152"/>
                  </a:lnTo>
                  <a:lnTo>
                    <a:pt x="100" y="1150"/>
                  </a:lnTo>
                  <a:lnTo>
                    <a:pt x="89" y="1147"/>
                  </a:lnTo>
                  <a:lnTo>
                    <a:pt x="79" y="1142"/>
                  </a:lnTo>
                  <a:lnTo>
                    <a:pt x="68" y="1139"/>
                  </a:lnTo>
                  <a:lnTo>
                    <a:pt x="59" y="1134"/>
                  </a:lnTo>
                  <a:lnTo>
                    <a:pt x="50" y="1129"/>
                  </a:lnTo>
                  <a:lnTo>
                    <a:pt x="42" y="1123"/>
                  </a:lnTo>
                  <a:lnTo>
                    <a:pt x="27" y="1103"/>
                  </a:lnTo>
                  <a:lnTo>
                    <a:pt x="16" y="1081"/>
                  </a:lnTo>
                  <a:lnTo>
                    <a:pt x="8" y="1058"/>
                  </a:lnTo>
                  <a:lnTo>
                    <a:pt x="3" y="1032"/>
                  </a:lnTo>
                  <a:lnTo>
                    <a:pt x="0" y="1007"/>
                  </a:lnTo>
                  <a:lnTo>
                    <a:pt x="2" y="981"/>
                  </a:lnTo>
                  <a:lnTo>
                    <a:pt x="5" y="956"/>
                  </a:lnTo>
                  <a:lnTo>
                    <a:pt x="10" y="933"/>
                  </a:lnTo>
                  <a:lnTo>
                    <a:pt x="14" y="917"/>
                  </a:lnTo>
                  <a:lnTo>
                    <a:pt x="21" y="901"/>
                  </a:lnTo>
                  <a:lnTo>
                    <a:pt x="26" y="884"/>
                  </a:lnTo>
                  <a:lnTo>
                    <a:pt x="33" y="868"/>
                  </a:lnTo>
                  <a:lnTo>
                    <a:pt x="40" y="852"/>
                  </a:lnTo>
                  <a:lnTo>
                    <a:pt x="47" y="836"/>
                  </a:lnTo>
                  <a:lnTo>
                    <a:pt x="55" y="820"/>
                  </a:lnTo>
                  <a:lnTo>
                    <a:pt x="63" y="805"/>
                  </a:lnTo>
                  <a:lnTo>
                    <a:pt x="84" y="780"/>
                  </a:lnTo>
                  <a:lnTo>
                    <a:pt x="105" y="755"/>
                  </a:lnTo>
                  <a:lnTo>
                    <a:pt x="126" y="728"/>
                  </a:lnTo>
                  <a:lnTo>
                    <a:pt x="148" y="702"/>
                  </a:lnTo>
                  <a:lnTo>
                    <a:pt x="171" y="675"/>
                  </a:lnTo>
                  <a:lnTo>
                    <a:pt x="193" y="649"/>
                  </a:lnTo>
                  <a:lnTo>
                    <a:pt x="215" y="622"/>
                  </a:lnTo>
                  <a:lnTo>
                    <a:pt x="238" y="596"/>
                  </a:lnTo>
                  <a:lnTo>
                    <a:pt x="263" y="569"/>
                  </a:lnTo>
                  <a:lnTo>
                    <a:pt x="286" y="544"/>
                  </a:lnTo>
                  <a:lnTo>
                    <a:pt x="311" y="518"/>
                  </a:lnTo>
                  <a:lnTo>
                    <a:pt x="337" y="494"/>
                  </a:lnTo>
                  <a:lnTo>
                    <a:pt x="362" y="471"/>
                  </a:lnTo>
                  <a:lnTo>
                    <a:pt x="388" y="447"/>
                  </a:lnTo>
                  <a:lnTo>
                    <a:pt x="416" y="426"/>
                  </a:lnTo>
                  <a:lnTo>
                    <a:pt x="444" y="406"/>
                  </a:lnTo>
                  <a:lnTo>
                    <a:pt x="448" y="401"/>
                  </a:lnTo>
                  <a:lnTo>
                    <a:pt x="452" y="396"/>
                  </a:lnTo>
                  <a:lnTo>
                    <a:pt x="457" y="393"/>
                  </a:lnTo>
                  <a:lnTo>
                    <a:pt x="463" y="389"/>
                  </a:lnTo>
                  <a:lnTo>
                    <a:pt x="470" y="386"/>
                  </a:lnTo>
                  <a:lnTo>
                    <a:pt x="476" y="383"/>
                  </a:lnTo>
                  <a:lnTo>
                    <a:pt x="481" y="378"/>
                  </a:lnTo>
                  <a:lnTo>
                    <a:pt x="486" y="374"/>
                  </a:lnTo>
                  <a:lnTo>
                    <a:pt x="497" y="365"/>
                  </a:lnTo>
                  <a:lnTo>
                    <a:pt x="509" y="355"/>
                  </a:lnTo>
                  <a:lnTo>
                    <a:pt x="522" y="347"/>
                  </a:lnTo>
                  <a:lnTo>
                    <a:pt x="534" y="337"/>
                  </a:lnTo>
                  <a:lnTo>
                    <a:pt x="548" y="327"/>
                  </a:lnTo>
                  <a:lnTo>
                    <a:pt x="561" y="319"/>
                  </a:lnTo>
                  <a:lnTo>
                    <a:pt x="574" y="310"/>
                  </a:lnTo>
                  <a:lnTo>
                    <a:pt x="587" y="302"/>
                  </a:lnTo>
                  <a:lnTo>
                    <a:pt x="601" y="294"/>
                  </a:lnTo>
                  <a:lnTo>
                    <a:pt x="615" y="285"/>
                  </a:lnTo>
                  <a:lnTo>
                    <a:pt x="628" y="277"/>
                  </a:lnTo>
                  <a:lnTo>
                    <a:pt x="641" y="268"/>
                  </a:lnTo>
                  <a:lnTo>
                    <a:pt x="655" y="260"/>
                  </a:lnTo>
                  <a:lnTo>
                    <a:pt x="669" y="252"/>
                  </a:lnTo>
                  <a:lnTo>
                    <a:pt x="681" y="244"/>
                  </a:lnTo>
                  <a:lnTo>
                    <a:pt x="694" y="236"/>
                  </a:lnTo>
                  <a:lnTo>
                    <a:pt x="730" y="214"/>
                  </a:lnTo>
                  <a:lnTo>
                    <a:pt x="766" y="193"/>
                  </a:lnTo>
                  <a:lnTo>
                    <a:pt x="802" y="173"/>
                  </a:lnTo>
                  <a:lnTo>
                    <a:pt x="840" y="153"/>
                  </a:lnTo>
                  <a:lnTo>
                    <a:pt x="877" y="134"/>
                  </a:lnTo>
                  <a:lnTo>
                    <a:pt x="916" y="114"/>
                  </a:lnTo>
                  <a:lnTo>
                    <a:pt x="955" y="97"/>
                  </a:lnTo>
                  <a:lnTo>
                    <a:pt x="994" y="81"/>
                  </a:lnTo>
                  <a:lnTo>
                    <a:pt x="1034" y="66"/>
                  </a:lnTo>
                  <a:lnTo>
                    <a:pt x="1075" y="52"/>
                  </a:lnTo>
                  <a:lnTo>
                    <a:pt x="1116" y="39"/>
                  </a:lnTo>
                  <a:lnTo>
                    <a:pt x="1158" y="28"/>
                  </a:lnTo>
                  <a:lnTo>
                    <a:pt x="1199" y="18"/>
                  </a:lnTo>
                  <a:lnTo>
                    <a:pt x="1243" y="11"/>
                  </a:lnTo>
                  <a:lnTo>
                    <a:pt x="1285" y="4"/>
                  </a:lnTo>
                  <a:lnTo>
                    <a:pt x="1328" y="0"/>
                  </a:lnTo>
                  <a:lnTo>
                    <a:pt x="1344" y="3"/>
                  </a:lnTo>
                  <a:lnTo>
                    <a:pt x="1360" y="5"/>
                  </a:lnTo>
                  <a:lnTo>
                    <a:pt x="1377" y="7"/>
                  </a:lnTo>
                  <a:lnTo>
                    <a:pt x="1394" y="10"/>
                  </a:lnTo>
                  <a:lnTo>
                    <a:pt x="1412" y="13"/>
                  </a:lnTo>
                  <a:lnTo>
                    <a:pt x="1429" y="16"/>
                  </a:lnTo>
                  <a:lnTo>
                    <a:pt x="1445" y="19"/>
                  </a:lnTo>
                  <a:lnTo>
                    <a:pt x="1461" y="23"/>
                  </a:lnTo>
                  <a:lnTo>
                    <a:pt x="1477" y="28"/>
                  </a:lnTo>
                  <a:lnTo>
                    <a:pt x="1492" y="34"/>
                  </a:lnTo>
                  <a:lnTo>
                    <a:pt x="1507" y="41"/>
                  </a:lnTo>
                  <a:lnTo>
                    <a:pt x="1519" y="49"/>
                  </a:lnTo>
                  <a:lnTo>
                    <a:pt x="1531" y="59"/>
                  </a:lnTo>
                  <a:lnTo>
                    <a:pt x="1542" y="70"/>
                  </a:lnTo>
                  <a:lnTo>
                    <a:pt x="1550" y="84"/>
                  </a:lnTo>
                  <a:lnTo>
                    <a:pt x="1558" y="9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19" name="Google Shape;719;p3"/>
            <p:cNvSpPr/>
            <p:nvPr/>
          </p:nvSpPr>
          <p:spPr>
            <a:xfrm>
              <a:off x="4946" y="3492"/>
              <a:ext cx="330" cy="197"/>
            </a:xfrm>
            <a:custGeom>
              <a:avLst/>
              <a:gdLst/>
              <a:ahLst/>
              <a:cxnLst/>
              <a:rect l="l" t="t" r="r" b="b"/>
              <a:pathLst>
                <a:path w="2646" h="1573" extrusionOk="0">
                  <a:moveTo>
                    <a:pt x="1475" y="75"/>
                  </a:moveTo>
                  <a:lnTo>
                    <a:pt x="1489" y="138"/>
                  </a:lnTo>
                  <a:lnTo>
                    <a:pt x="1498" y="202"/>
                  </a:lnTo>
                  <a:lnTo>
                    <a:pt x="1505" y="265"/>
                  </a:lnTo>
                  <a:lnTo>
                    <a:pt x="1509" y="329"/>
                  </a:lnTo>
                  <a:lnTo>
                    <a:pt x="1511" y="394"/>
                  </a:lnTo>
                  <a:lnTo>
                    <a:pt x="1514" y="457"/>
                  </a:lnTo>
                  <a:lnTo>
                    <a:pt x="1518" y="521"/>
                  </a:lnTo>
                  <a:lnTo>
                    <a:pt x="1524" y="583"/>
                  </a:lnTo>
                  <a:lnTo>
                    <a:pt x="1526" y="598"/>
                  </a:lnTo>
                  <a:lnTo>
                    <a:pt x="1529" y="612"/>
                  </a:lnTo>
                  <a:lnTo>
                    <a:pt x="1532" y="626"/>
                  </a:lnTo>
                  <a:lnTo>
                    <a:pt x="1535" y="639"/>
                  </a:lnTo>
                  <a:lnTo>
                    <a:pt x="1540" y="653"/>
                  </a:lnTo>
                  <a:lnTo>
                    <a:pt x="1545" y="667"/>
                  </a:lnTo>
                  <a:lnTo>
                    <a:pt x="1550" y="680"/>
                  </a:lnTo>
                  <a:lnTo>
                    <a:pt x="1555" y="692"/>
                  </a:lnTo>
                  <a:lnTo>
                    <a:pt x="1568" y="700"/>
                  </a:lnTo>
                  <a:lnTo>
                    <a:pt x="1583" y="705"/>
                  </a:lnTo>
                  <a:lnTo>
                    <a:pt x="1597" y="707"/>
                  </a:lnTo>
                  <a:lnTo>
                    <a:pt x="1611" y="708"/>
                  </a:lnTo>
                  <a:lnTo>
                    <a:pt x="1626" y="706"/>
                  </a:lnTo>
                  <a:lnTo>
                    <a:pt x="1641" y="703"/>
                  </a:lnTo>
                  <a:lnTo>
                    <a:pt x="1655" y="699"/>
                  </a:lnTo>
                  <a:lnTo>
                    <a:pt x="1669" y="692"/>
                  </a:lnTo>
                  <a:lnTo>
                    <a:pt x="1694" y="670"/>
                  </a:lnTo>
                  <a:lnTo>
                    <a:pt x="1719" y="647"/>
                  </a:lnTo>
                  <a:lnTo>
                    <a:pt x="1744" y="623"/>
                  </a:lnTo>
                  <a:lnTo>
                    <a:pt x="1767" y="600"/>
                  </a:lnTo>
                  <a:lnTo>
                    <a:pt x="1789" y="576"/>
                  </a:lnTo>
                  <a:lnTo>
                    <a:pt x="1811" y="551"/>
                  </a:lnTo>
                  <a:lnTo>
                    <a:pt x="1833" y="527"/>
                  </a:lnTo>
                  <a:lnTo>
                    <a:pt x="1855" y="503"/>
                  </a:lnTo>
                  <a:lnTo>
                    <a:pt x="1877" y="478"/>
                  </a:lnTo>
                  <a:lnTo>
                    <a:pt x="1898" y="453"/>
                  </a:lnTo>
                  <a:lnTo>
                    <a:pt x="1920" y="428"/>
                  </a:lnTo>
                  <a:lnTo>
                    <a:pt x="1942" y="405"/>
                  </a:lnTo>
                  <a:lnTo>
                    <a:pt x="1966" y="381"/>
                  </a:lnTo>
                  <a:lnTo>
                    <a:pt x="1989" y="357"/>
                  </a:lnTo>
                  <a:lnTo>
                    <a:pt x="2013" y="334"/>
                  </a:lnTo>
                  <a:lnTo>
                    <a:pt x="2038" y="311"/>
                  </a:lnTo>
                  <a:lnTo>
                    <a:pt x="2050" y="299"/>
                  </a:lnTo>
                  <a:lnTo>
                    <a:pt x="2063" y="288"/>
                  </a:lnTo>
                  <a:lnTo>
                    <a:pt x="2074" y="276"/>
                  </a:lnTo>
                  <a:lnTo>
                    <a:pt x="2087" y="265"/>
                  </a:lnTo>
                  <a:lnTo>
                    <a:pt x="2099" y="254"/>
                  </a:lnTo>
                  <a:lnTo>
                    <a:pt x="2111" y="243"/>
                  </a:lnTo>
                  <a:lnTo>
                    <a:pt x="2123" y="232"/>
                  </a:lnTo>
                  <a:lnTo>
                    <a:pt x="2136" y="222"/>
                  </a:lnTo>
                  <a:lnTo>
                    <a:pt x="2148" y="211"/>
                  </a:lnTo>
                  <a:lnTo>
                    <a:pt x="2161" y="201"/>
                  </a:lnTo>
                  <a:lnTo>
                    <a:pt x="2174" y="190"/>
                  </a:lnTo>
                  <a:lnTo>
                    <a:pt x="2188" y="181"/>
                  </a:lnTo>
                  <a:lnTo>
                    <a:pt x="2200" y="171"/>
                  </a:lnTo>
                  <a:lnTo>
                    <a:pt x="2214" y="161"/>
                  </a:lnTo>
                  <a:lnTo>
                    <a:pt x="2228" y="152"/>
                  </a:lnTo>
                  <a:lnTo>
                    <a:pt x="2242" y="142"/>
                  </a:lnTo>
                  <a:lnTo>
                    <a:pt x="2254" y="137"/>
                  </a:lnTo>
                  <a:lnTo>
                    <a:pt x="2266" y="132"/>
                  </a:lnTo>
                  <a:lnTo>
                    <a:pt x="2277" y="128"/>
                  </a:lnTo>
                  <a:lnTo>
                    <a:pt x="2290" y="123"/>
                  </a:lnTo>
                  <a:lnTo>
                    <a:pt x="2302" y="121"/>
                  </a:lnTo>
                  <a:lnTo>
                    <a:pt x="2314" y="120"/>
                  </a:lnTo>
                  <a:lnTo>
                    <a:pt x="2328" y="121"/>
                  </a:lnTo>
                  <a:lnTo>
                    <a:pt x="2341" y="124"/>
                  </a:lnTo>
                  <a:lnTo>
                    <a:pt x="2358" y="136"/>
                  </a:lnTo>
                  <a:lnTo>
                    <a:pt x="2374" y="148"/>
                  </a:lnTo>
                  <a:lnTo>
                    <a:pt x="2387" y="161"/>
                  </a:lnTo>
                  <a:lnTo>
                    <a:pt x="2401" y="176"/>
                  </a:lnTo>
                  <a:lnTo>
                    <a:pt x="2414" y="191"/>
                  </a:lnTo>
                  <a:lnTo>
                    <a:pt x="2425" y="207"/>
                  </a:lnTo>
                  <a:lnTo>
                    <a:pt x="2437" y="224"/>
                  </a:lnTo>
                  <a:lnTo>
                    <a:pt x="2448" y="241"/>
                  </a:lnTo>
                  <a:lnTo>
                    <a:pt x="2457" y="258"/>
                  </a:lnTo>
                  <a:lnTo>
                    <a:pt x="2467" y="276"/>
                  </a:lnTo>
                  <a:lnTo>
                    <a:pt x="2476" y="294"/>
                  </a:lnTo>
                  <a:lnTo>
                    <a:pt x="2486" y="312"/>
                  </a:lnTo>
                  <a:lnTo>
                    <a:pt x="2495" y="330"/>
                  </a:lnTo>
                  <a:lnTo>
                    <a:pt x="2505" y="347"/>
                  </a:lnTo>
                  <a:lnTo>
                    <a:pt x="2514" y="365"/>
                  </a:lnTo>
                  <a:lnTo>
                    <a:pt x="2525" y="382"/>
                  </a:lnTo>
                  <a:lnTo>
                    <a:pt x="2532" y="397"/>
                  </a:lnTo>
                  <a:lnTo>
                    <a:pt x="2538" y="414"/>
                  </a:lnTo>
                  <a:lnTo>
                    <a:pt x="2543" y="431"/>
                  </a:lnTo>
                  <a:lnTo>
                    <a:pt x="2545" y="445"/>
                  </a:lnTo>
                  <a:lnTo>
                    <a:pt x="2547" y="448"/>
                  </a:lnTo>
                  <a:lnTo>
                    <a:pt x="2550" y="449"/>
                  </a:lnTo>
                  <a:lnTo>
                    <a:pt x="2553" y="450"/>
                  </a:lnTo>
                  <a:lnTo>
                    <a:pt x="2556" y="450"/>
                  </a:lnTo>
                  <a:lnTo>
                    <a:pt x="2561" y="460"/>
                  </a:lnTo>
                  <a:lnTo>
                    <a:pt x="2564" y="471"/>
                  </a:lnTo>
                  <a:lnTo>
                    <a:pt x="2569" y="481"/>
                  </a:lnTo>
                  <a:lnTo>
                    <a:pt x="2573" y="492"/>
                  </a:lnTo>
                  <a:lnTo>
                    <a:pt x="2579" y="503"/>
                  </a:lnTo>
                  <a:lnTo>
                    <a:pt x="2585" y="512"/>
                  </a:lnTo>
                  <a:lnTo>
                    <a:pt x="2591" y="522"/>
                  </a:lnTo>
                  <a:lnTo>
                    <a:pt x="2598" y="530"/>
                  </a:lnTo>
                  <a:lnTo>
                    <a:pt x="2605" y="545"/>
                  </a:lnTo>
                  <a:lnTo>
                    <a:pt x="2614" y="560"/>
                  </a:lnTo>
                  <a:lnTo>
                    <a:pt x="2623" y="575"/>
                  </a:lnTo>
                  <a:lnTo>
                    <a:pt x="2631" y="589"/>
                  </a:lnTo>
                  <a:lnTo>
                    <a:pt x="2639" y="604"/>
                  </a:lnTo>
                  <a:lnTo>
                    <a:pt x="2644" y="620"/>
                  </a:lnTo>
                  <a:lnTo>
                    <a:pt x="2646" y="636"/>
                  </a:lnTo>
                  <a:lnTo>
                    <a:pt x="2645" y="654"/>
                  </a:lnTo>
                  <a:lnTo>
                    <a:pt x="2631" y="658"/>
                  </a:lnTo>
                  <a:lnTo>
                    <a:pt x="2619" y="660"/>
                  </a:lnTo>
                  <a:lnTo>
                    <a:pt x="2606" y="660"/>
                  </a:lnTo>
                  <a:lnTo>
                    <a:pt x="2594" y="657"/>
                  </a:lnTo>
                  <a:lnTo>
                    <a:pt x="2583" y="653"/>
                  </a:lnTo>
                  <a:lnTo>
                    <a:pt x="2572" y="649"/>
                  </a:lnTo>
                  <a:lnTo>
                    <a:pt x="2562" y="643"/>
                  </a:lnTo>
                  <a:lnTo>
                    <a:pt x="2551" y="635"/>
                  </a:lnTo>
                  <a:lnTo>
                    <a:pt x="2542" y="629"/>
                  </a:lnTo>
                  <a:lnTo>
                    <a:pt x="2531" y="620"/>
                  </a:lnTo>
                  <a:lnTo>
                    <a:pt x="2522" y="613"/>
                  </a:lnTo>
                  <a:lnTo>
                    <a:pt x="2511" y="604"/>
                  </a:lnTo>
                  <a:lnTo>
                    <a:pt x="2501" y="597"/>
                  </a:lnTo>
                  <a:lnTo>
                    <a:pt x="2491" y="591"/>
                  </a:lnTo>
                  <a:lnTo>
                    <a:pt x="2480" y="584"/>
                  </a:lnTo>
                  <a:lnTo>
                    <a:pt x="2469" y="579"/>
                  </a:lnTo>
                  <a:lnTo>
                    <a:pt x="2442" y="566"/>
                  </a:lnTo>
                  <a:lnTo>
                    <a:pt x="2415" y="554"/>
                  </a:lnTo>
                  <a:lnTo>
                    <a:pt x="2387" y="540"/>
                  </a:lnTo>
                  <a:lnTo>
                    <a:pt x="2359" y="527"/>
                  </a:lnTo>
                  <a:lnTo>
                    <a:pt x="2329" y="513"/>
                  </a:lnTo>
                  <a:lnTo>
                    <a:pt x="2301" y="501"/>
                  </a:lnTo>
                  <a:lnTo>
                    <a:pt x="2270" y="489"/>
                  </a:lnTo>
                  <a:lnTo>
                    <a:pt x="2240" y="478"/>
                  </a:lnTo>
                  <a:lnTo>
                    <a:pt x="2210" y="470"/>
                  </a:lnTo>
                  <a:lnTo>
                    <a:pt x="2179" y="463"/>
                  </a:lnTo>
                  <a:lnTo>
                    <a:pt x="2147" y="459"/>
                  </a:lnTo>
                  <a:lnTo>
                    <a:pt x="2117" y="457"/>
                  </a:lnTo>
                  <a:lnTo>
                    <a:pt x="2085" y="458"/>
                  </a:lnTo>
                  <a:lnTo>
                    <a:pt x="2053" y="463"/>
                  </a:lnTo>
                  <a:lnTo>
                    <a:pt x="2021" y="472"/>
                  </a:lnTo>
                  <a:lnTo>
                    <a:pt x="1989" y="485"/>
                  </a:lnTo>
                  <a:lnTo>
                    <a:pt x="1971" y="491"/>
                  </a:lnTo>
                  <a:lnTo>
                    <a:pt x="1954" y="499"/>
                  </a:lnTo>
                  <a:lnTo>
                    <a:pt x="1937" y="508"/>
                  </a:lnTo>
                  <a:lnTo>
                    <a:pt x="1921" y="518"/>
                  </a:lnTo>
                  <a:lnTo>
                    <a:pt x="1905" y="528"/>
                  </a:lnTo>
                  <a:lnTo>
                    <a:pt x="1889" y="539"/>
                  </a:lnTo>
                  <a:lnTo>
                    <a:pt x="1875" y="551"/>
                  </a:lnTo>
                  <a:lnTo>
                    <a:pt x="1861" y="564"/>
                  </a:lnTo>
                  <a:lnTo>
                    <a:pt x="1847" y="578"/>
                  </a:lnTo>
                  <a:lnTo>
                    <a:pt x="1834" y="592"/>
                  </a:lnTo>
                  <a:lnTo>
                    <a:pt x="1823" y="607"/>
                  </a:lnTo>
                  <a:lnTo>
                    <a:pt x="1811" y="622"/>
                  </a:lnTo>
                  <a:lnTo>
                    <a:pt x="1801" y="638"/>
                  </a:lnTo>
                  <a:lnTo>
                    <a:pt x="1791" y="655"/>
                  </a:lnTo>
                  <a:lnTo>
                    <a:pt x="1783" y="672"/>
                  </a:lnTo>
                  <a:lnTo>
                    <a:pt x="1774" y="689"/>
                  </a:lnTo>
                  <a:lnTo>
                    <a:pt x="1769" y="731"/>
                  </a:lnTo>
                  <a:lnTo>
                    <a:pt x="1771" y="768"/>
                  </a:lnTo>
                  <a:lnTo>
                    <a:pt x="1781" y="803"/>
                  </a:lnTo>
                  <a:lnTo>
                    <a:pt x="1796" y="834"/>
                  </a:lnTo>
                  <a:lnTo>
                    <a:pt x="1818" y="864"/>
                  </a:lnTo>
                  <a:lnTo>
                    <a:pt x="1842" y="891"/>
                  </a:lnTo>
                  <a:lnTo>
                    <a:pt x="1870" y="915"/>
                  </a:lnTo>
                  <a:lnTo>
                    <a:pt x="1901" y="937"/>
                  </a:lnTo>
                  <a:lnTo>
                    <a:pt x="1901" y="945"/>
                  </a:lnTo>
                  <a:lnTo>
                    <a:pt x="1914" y="956"/>
                  </a:lnTo>
                  <a:lnTo>
                    <a:pt x="1927" y="966"/>
                  </a:lnTo>
                  <a:lnTo>
                    <a:pt x="1941" y="976"/>
                  </a:lnTo>
                  <a:lnTo>
                    <a:pt x="1956" y="986"/>
                  </a:lnTo>
                  <a:lnTo>
                    <a:pt x="1970" y="994"/>
                  </a:lnTo>
                  <a:lnTo>
                    <a:pt x="1985" y="1003"/>
                  </a:lnTo>
                  <a:lnTo>
                    <a:pt x="1999" y="1012"/>
                  </a:lnTo>
                  <a:lnTo>
                    <a:pt x="2014" y="1021"/>
                  </a:lnTo>
                  <a:lnTo>
                    <a:pt x="2028" y="1029"/>
                  </a:lnTo>
                  <a:lnTo>
                    <a:pt x="2042" y="1039"/>
                  </a:lnTo>
                  <a:lnTo>
                    <a:pt x="2055" y="1048"/>
                  </a:lnTo>
                  <a:lnTo>
                    <a:pt x="2069" y="1058"/>
                  </a:lnTo>
                  <a:lnTo>
                    <a:pt x="2082" y="1069"/>
                  </a:lnTo>
                  <a:lnTo>
                    <a:pt x="2095" y="1080"/>
                  </a:lnTo>
                  <a:lnTo>
                    <a:pt x="2106" y="1093"/>
                  </a:lnTo>
                  <a:lnTo>
                    <a:pt x="2117" y="1106"/>
                  </a:lnTo>
                  <a:lnTo>
                    <a:pt x="2091" y="1113"/>
                  </a:lnTo>
                  <a:lnTo>
                    <a:pt x="2065" y="1120"/>
                  </a:lnTo>
                  <a:lnTo>
                    <a:pt x="2037" y="1128"/>
                  </a:lnTo>
                  <a:lnTo>
                    <a:pt x="2011" y="1134"/>
                  </a:lnTo>
                  <a:lnTo>
                    <a:pt x="1982" y="1142"/>
                  </a:lnTo>
                  <a:lnTo>
                    <a:pt x="1955" y="1147"/>
                  </a:lnTo>
                  <a:lnTo>
                    <a:pt x="1926" y="1153"/>
                  </a:lnTo>
                  <a:lnTo>
                    <a:pt x="1898" y="1160"/>
                  </a:lnTo>
                  <a:lnTo>
                    <a:pt x="1869" y="1166"/>
                  </a:lnTo>
                  <a:lnTo>
                    <a:pt x="1842" y="1172"/>
                  </a:lnTo>
                  <a:lnTo>
                    <a:pt x="1813" y="1180"/>
                  </a:lnTo>
                  <a:lnTo>
                    <a:pt x="1785" y="1186"/>
                  </a:lnTo>
                  <a:lnTo>
                    <a:pt x="1757" y="1194"/>
                  </a:lnTo>
                  <a:lnTo>
                    <a:pt x="1730" y="1202"/>
                  </a:lnTo>
                  <a:lnTo>
                    <a:pt x="1702" y="1211"/>
                  </a:lnTo>
                  <a:lnTo>
                    <a:pt x="1676" y="1219"/>
                  </a:lnTo>
                  <a:lnTo>
                    <a:pt x="1667" y="1219"/>
                  </a:lnTo>
                  <a:lnTo>
                    <a:pt x="1660" y="1219"/>
                  </a:lnTo>
                  <a:lnTo>
                    <a:pt x="1653" y="1219"/>
                  </a:lnTo>
                  <a:lnTo>
                    <a:pt x="1646" y="1222"/>
                  </a:lnTo>
                  <a:lnTo>
                    <a:pt x="1646" y="1230"/>
                  </a:lnTo>
                  <a:lnTo>
                    <a:pt x="1651" y="1233"/>
                  </a:lnTo>
                  <a:lnTo>
                    <a:pt x="1657" y="1235"/>
                  </a:lnTo>
                  <a:lnTo>
                    <a:pt x="1661" y="1237"/>
                  </a:lnTo>
                  <a:lnTo>
                    <a:pt x="1690" y="1229"/>
                  </a:lnTo>
                  <a:lnTo>
                    <a:pt x="1719" y="1220"/>
                  </a:lnTo>
                  <a:lnTo>
                    <a:pt x="1749" y="1213"/>
                  </a:lnTo>
                  <a:lnTo>
                    <a:pt x="1777" y="1204"/>
                  </a:lnTo>
                  <a:lnTo>
                    <a:pt x="1807" y="1197"/>
                  </a:lnTo>
                  <a:lnTo>
                    <a:pt x="1837" y="1189"/>
                  </a:lnTo>
                  <a:lnTo>
                    <a:pt x="1865" y="1182"/>
                  </a:lnTo>
                  <a:lnTo>
                    <a:pt x="1895" y="1175"/>
                  </a:lnTo>
                  <a:lnTo>
                    <a:pt x="1924" y="1167"/>
                  </a:lnTo>
                  <a:lnTo>
                    <a:pt x="1954" y="1161"/>
                  </a:lnTo>
                  <a:lnTo>
                    <a:pt x="1984" y="1153"/>
                  </a:lnTo>
                  <a:lnTo>
                    <a:pt x="2012" y="1147"/>
                  </a:lnTo>
                  <a:lnTo>
                    <a:pt x="2042" y="1141"/>
                  </a:lnTo>
                  <a:lnTo>
                    <a:pt x="2071" y="1135"/>
                  </a:lnTo>
                  <a:lnTo>
                    <a:pt x="2100" y="1129"/>
                  </a:lnTo>
                  <a:lnTo>
                    <a:pt x="2129" y="1124"/>
                  </a:lnTo>
                  <a:lnTo>
                    <a:pt x="2138" y="1147"/>
                  </a:lnTo>
                  <a:lnTo>
                    <a:pt x="2143" y="1171"/>
                  </a:lnTo>
                  <a:lnTo>
                    <a:pt x="2143" y="1197"/>
                  </a:lnTo>
                  <a:lnTo>
                    <a:pt x="2140" y="1219"/>
                  </a:lnTo>
                  <a:lnTo>
                    <a:pt x="2112" y="1219"/>
                  </a:lnTo>
                  <a:lnTo>
                    <a:pt x="2085" y="1219"/>
                  </a:lnTo>
                  <a:lnTo>
                    <a:pt x="2059" y="1220"/>
                  </a:lnTo>
                  <a:lnTo>
                    <a:pt x="2031" y="1221"/>
                  </a:lnTo>
                  <a:lnTo>
                    <a:pt x="2004" y="1222"/>
                  </a:lnTo>
                  <a:lnTo>
                    <a:pt x="1977" y="1223"/>
                  </a:lnTo>
                  <a:lnTo>
                    <a:pt x="1951" y="1225"/>
                  </a:lnTo>
                  <a:lnTo>
                    <a:pt x="1924" y="1228"/>
                  </a:lnTo>
                  <a:lnTo>
                    <a:pt x="1898" y="1231"/>
                  </a:lnTo>
                  <a:lnTo>
                    <a:pt x="1871" y="1234"/>
                  </a:lnTo>
                  <a:lnTo>
                    <a:pt x="1846" y="1238"/>
                  </a:lnTo>
                  <a:lnTo>
                    <a:pt x="1821" y="1242"/>
                  </a:lnTo>
                  <a:lnTo>
                    <a:pt x="1795" y="1248"/>
                  </a:lnTo>
                  <a:lnTo>
                    <a:pt x="1770" y="1254"/>
                  </a:lnTo>
                  <a:lnTo>
                    <a:pt x="1746" y="1260"/>
                  </a:lnTo>
                  <a:lnTo>
                    <a:pt x="1721" y="1268"/>
                  </a:lnTo>
                  <a:lnTo>
                    <a:pt x="1721" y="1279"/>
                  </a:lnTo>
                  <a:lnTo>
                    <a:pt x="1734" y="1282"/>
                  </a:lnTo>
                  <a:lnTo>
                    <a:pt x="1747" y="1279"/>
                  </a:lnTo>
                  <a:lnTo>
                    <a:pt x="1758" y="1276"/>
                  </a:lnTo>
                  <a:lnTo>
                    <a:pt x="1770" y="1272"/>
                  </a:lnTo>
                  <a:lnTo>
                    <a:pt x="1783" y="1268"/>
                  </a:lnTo>
                  <a:lnTo>
                    <a:pt x="1795" y="1265"/>
                  </a:lnTo>
                  <a:lnTo>
                    <a:pt x="1808" y="1264"/>
                  </a:lnTo>
                  <a:lnTo>
                    <a:pt x="1823" y="1266"/>
                  </a:lnTo>
                  <a:lnTo>
                    <a:pt x="1832" y="1260"/>
                  </a:lnTo>
                  <a:lnTo>
                    <a:pt x="1842" y="1256"/>
                  </a:lnTo>
                  <a:lnTo>
                    <a:pt x="1852" y="1254"/>
                  </a:lnTo>
                  <a:lnTo>
                    <a:pt x="1863" y="1253"/>
                  </a:lnTo>
                  <a:lnTo>
                    <a:pt x="1875" y="1252"/>
                  </a:lnTo>
                  <a:lnTo>
                    <a:pt x="1885" y="1250"/>
                  </a:lnTo>
                  <a:lnTo>
                    <a:pt x="1896" y="1248"/>
                  </a:lnTo>
                  <a:lnTo>
                    <a:pt x="1905" y="1244"/>
                  </a:lnTo>
                  <a:lnTo>
                    <a:pt x="1921" y="1244"/>
                  </a:lnTo>
                  <a:lnTo>
                    <a:pt x="1936" y="1244"/>
                  </a:lnTo>
                  <a:lnTo>
                    <a:pt x="1951" y="1243"/>
                  </a:lnTo>
                  <a:lnTo>
                    <a:pt x="1966" y="1242"/>
                  </a:lnTo>
                  <a:lnTo>
                    <a:pt x="1979" y="1241"/>
                  </a:lnTo>
                  <a:lnTo>
                    <a:pt x="1994" y="1239"/>
                  </a:lnTo>
                  <a:lnTo>
                    <a:pt x="2008" y="1238"/>
                  </a:lnTo>
                  <a:lnTo>
                    <a:pt x="2022" y="1237"/>
                  </a:lnTo>
                  <a:lnTo>
                    <a:pt x="2035" y="1235"/>
                  </a:lnTo>
                  <a:lnTo>
                    <a:pt x="2050" y="1234"/>
                  </a:lnTo>
                  <a:lnTo>
                    <a:pt x="2064" y="1233"/>
                  </a:lnTo>
                  <a:lnTo>
                    <a:pt x="2079" y="1232"/>
                  </a:lnTo>
                  <a:lnTo>
                    <a:pt x="2093" y="1232"/>
                  </a:lnTo>
                  <a:lnTo>
                    <a:pt x="2108" y="1232"/>
                  </a:lnTo>
                  <a:lnTo>
                    <a:pt x="2124" y="1232"/>
                  </a:lnTo>
                  <a:lnTo>
                    <a:pt x="2140" y="1233"/>
                  </a:lnTo>
                  <a:lnTo>
                    <a:pt x="2135" y="1257"/>
                  </a:lnTo>
                  <a:lnTo>
                    <a:pt x="2124" y="1277"/>
                  </a:lnTo>
                  <a:lnTo>
                    <a:pt x="2110" y="1296"/>
                  </a:lnTo>
                  <a:lnTo>
                    <a:pt x="2093" y="1313"/>
                  </a:lnTo>
                  <a:lnTo>
                    <a:pt x="2075" y="1328"/>
                  </a:lnTo>
                  <a:lnTo>
                    <a:pt x="2056" y="1342"/>
                  </a:lnTo>
                  <a:lnTo>
                    <a:pt x="2038" y="1356"/>
                  </a:lnTo>
                  <a:lnTo>
                    <a:pt x="2021" y="1368"/>
                  </a:lnTo>
                  <a:lnTo>
                    <a:pt x="2011" y="1370"/>
                  </a:lnTo>
                  <a:lnTo>
                    <a:pt x="2004" y="1373"/>
                  </a:lnTo>
                  <a:lnTo>
                    <a:pt x="1997" y="1377"/>
                  </a:lnTo>
                  <a:lnTo>
                    <a:pt x="1992" y="1382"/>
                  </a:lnTo>
                  <a:lnTo>
                    <a:pt x="1987" y="1388"/>
                  </a:lnTo>
                  <a:lnTo>
                    <a:pt x="1981" y="1393"/>
                  </a:lnTo>
                  <a:lnTo>
                    <a:pt x="1975" y="1397"/>
                  </a:lnTo>
                  <a:lnTo>
                    <a:pt x="1968" y="1399"/>
                  </a:lnTo>
                  <a:lnTo>
                    <a:pt x="1948" y="1412"/>
                  </a:lnTo>
                  <a:lnTo>
                    <a:pt x="1927" y="1425"/>
                  </a:lnTo>
                  <a:lnTo>
                    <a:pt x="1906" y="1436"/>
                  </a:lnTo>
                  <a:lnTo>
                    <a:pt x="1886" y="1448"/>
                  </a:lnTo>
                  <a:lnTo>
                    <a:pt x="1866" y="1460"/>
                  </a:lnTo>
                  <a:lnTo>
                    <a:pt x="1845" y="1470"/>
                  </a:lnTo>
                  <a:lnTo>
                    <a:pt x="1825" y="1481"/>
                  </a:lnTo>
                  <a:lnTo>
                    <a:pt x="1805" y="1491"/>
                  </a:lnTo>
                  <a:lnTo>
                    <a:pt x="1771" y="1502"/>
                  </a:lnTo>
                  <a:lnTo>
                    <a:pt x="1738" y="1513"/>
                  </a:lnTo>
                  <a:lnTo>
                    <a:pt x="1704" y="1521"/>
                  </a:lnTo>
                  <a:lnTo>
                    <a:pt x="1671" y="1531"/>
                  </a:lnTo>
                  <a:lnTo>
                    <a:pt x="1637" y="1538"/>
                  </a:lnTo>
                  <a:lnTo>
                    <a:pt x="1603" y="1545"/>
                  </a:lnTo>
                  <a:lnTo>
                    <a:pt x="1568" y="1552"/>
                  </a:lnTo>
                  <a:lnTo>
                    <a:pt x="1533" y="1558"/>
                  </a:lnTo>
                  <a:lnTo>
                    <a:pt x="1498" y="1562"/>
                  </a:lnTo>
                  <a:lnTo>
                    <a:pt x="1463" y="1567"/>
                  </a:lnTo>
                  <a:lnTo>
                    <a:pt x="1427" y="1570"/>
                  </a:lnTo>
                  <a:lnTo>
                    <a:pt x="1392" y="1572"/>
                  </a:lnTo>
                  <a:lnTo>
                    <a:pt x="1355" y="1573"/>
                  </a:lnTo>
                  <a:lnTo>
                    <a:pt x="1318" y="1572"/>
                  </a:lnTo>
                  <a:lnTo>
                    <a:pt x="1280" y="1571"/>
                  </a:lnTo>
                  <a:lnTo>
                    <a:pt x="1241" y="1569"/>
                  </a:lnTo>
                  <a:lnTo>
                    <a:pt x="1213" y="1563"/>
                  </a:lnTo>
                  <a:lnTo>
                    <a:pt x="1185" y="1557"/>
                  </a:lnTo>
                  <a:lnTo>
                    <a:pt x="1157" y="1550"/>
                  </a:lnTo>
                  <a:lnTo>
                    <a:pt x="1129" y="1543"/>
                  </a:lnTo>
                  <a:lnTo>
                    <a:pt x="1102" y="1535"/>
                  </a:lnTo>
                  <a:lnTo>
                    <a:pt x="1074" y="1526"/>
                  </a:lnTo>
                  <a:lnTo>
                    <a:pt x="1048" y="1518"/>
                  </a:lnTo>
                  <a:lnTo>
                    <a:pt x="1021" y="1508"/>
                  </a:lnTo>
                  <a:lnTo>
                    <a:pt x="994" y="1499"/>
                  </a:lnTo>
                  <a:lnTo>
                    <a:pt x="968" y="1488"/>
                  </a:lnTo>
                  <a:lnTo>
                    <a:pt x="941" y="1478"/>
                  </a:lnTo>
                  <a:lnTo>
                    <a:pt x="915" y="1466"/>
                  </a:lnTo>
                  <a:lnTo>
                    <a:pt x="889" y="1454"/>
                  </a:lnTo>
                  <a:lnTo>
                    <a:pt x="863" y="1443"/>
                  </a:lnTo>
                  <a:lnTo>
                    <a:pt x="838" y="1430"/>
                  </a:lnTo>
                  <a:lnTo>
                    <a:pt x="812" y="1417"/>
                  </a:lnTo>
                  <a:lnTo>
                    <a:pt x="791" y="1402"/>
                  </a:lnTo>
                  <a:lnTo>
                    <a:pt x="769" y="1388"/>
                  </a:lnTo>
                  <a:lnTo>
                    <a:pt x="747" y="1371"/>
                  </a:lnTo>
                  <a:lnTo>
                    <a:pt x="727" y="1354"/>
                  </a:lnTo>
                  <a:lnTo>
                    <a:pt x="708" y="1335"/>
                  </a:lnTo>
                  <a:lnTo>
                    <a:pt x="692" y="1314"/>
                  </a:lnTo>
                  <a:lnTo>
                    <a:pt x="681" y="1291"/>
                  </a:lnTo>
                  <a:lnTo>
                    <a:pt x="675" y="1266"/>
                  </a:lnTo>
                  <a:lnTo>
                    <a:pt x="680" y="1247"/>
                  </a:lnTo>
                  <a:lnTo>
                    <a:pt x="688" y="1229"/>
                  </a:lnTo>
                  <a:lnTo>
                    <a:pt x="696" y="1211"/>
                  </a:lnTo>
                  <a:lnTo>
                    <a:pt x="706" y="1194"/>
                  </a:lnTo>
                  <a:lnTo>
                    <a:pt x="717" y="1178"/>
                  </a:lnTo>
                  <a:lnTo>
                    <a:pt x="729" y="1162"/>
                  </a:lnTo>
                  <a:lnTo>
                    <a:pt x="740" y="1146"/>
                  </a:lnTo>
                  <a:lnTo>
                    <a:pt x="752" y="1131"/>
                  </a:lnTo>
                  <a:lnTo>
                    <a:pt x="765" y="1133"/>
                  </a:lnTo>
                  <a:lnTo>
                    <a:pt x="777" y="1135"/>
                  </a:lnTo>
                  <a:lnTo>
                    <a:pt x="790" y="1139"/>
                  </a:lnTo>
                  <a:lnTo>
                    <a:pt x="803" y="1142"/>
                  </a:lnTo>
                  <a:lnTo>
                    <a:pt x="815" y="1145"/>
                  </a:lnTo>
                  <a:lnTo>
                    <a:pt x="828" y="1147"/>
                  </a:lnTo>
                  <a:lnTo>
                    <a:pt x="841" y="1148"/>
                  </a:lnTo>
                  <a:lnTo>
                    <a:pt x="854" y="1149"/>
                  </a:lnTo>
                  <a:lnTo>
                    <a:pt x="862" y="1152"/>
                  </a:lnTo>
                  <a:lnTo>
                    <a:pt x="869" y="1154"/>
                  </a:lnTo>
                  <a:lnTo>
                    <a:pt x="879" y="1155"/>
                  </a:lnTo>
                  <a:lnTo>
                    <a:pt x="887" y="1157"/>
                  </a:lnTo>
                  <a:lnTo>
                    <a:pt x="896" y="1159"/>
                  </a:lnTo>
                  <a:lnTo>
                    <a:pt x="904" y="1160"/>
                  </a:lnTo>
                  <a:lnTo>
                    <a:pt x="913" y="1161"/>
                  </a:lnTo>
                  <a:lnTo>
                    <a:pt x="921" y="1162"/>
                  </a:lnTo>
                  <a:lnTo>
                    <a:pt x="928" y="1167"/>
                  </a:lnTo>
                  <a:lnTo>
                    <a:pt x="935" y="1171"/>
                  </a:lnTo>
                  <a:lnTo>
                    <a:pt x="943" y="1175"/>
                  </a:lnTo>
                  <a:lnTo>
                    <a:pt x="952" y="1177"/>
                  </a:lnTo>
                  <a:lnTo>
                    <a:pt x="960" y="1180"/>
                  </a:lnTo>
                  <a:lnTo>
                    <a:pt x="969" y="1183"/>
                  </a:lnTo>
                  <a:lnTo>
                    <a:pt x="977" y="1186"/>
                  </a:lnTo>
                  <a:lnTo>
                    <a:pt x="985" y="1191"/>
                  </a:lnTo>
                  <a:lnTo>
                    <a:pt x="988" y="1191"/>
                  </a:lnTo>
                  <a:lnTo>
                    <a:pt x="992" y="1190"/>
                  </a:lnTo>
                  <a:lnTo>
                    <a:pt x="996" y="1190"/>
                  </a:lnTo>
                  <a:lnTo>
                    <a:pt x="999" y="1187"/>
                  </a:lnTo>
                  <a:lnTo>
                    <a:pt x="999" y="1178"/>
                  </a:lnTo>
                  <a:lnTo>
                    <a:pt x="993" y="1171"/>
                  </a:lnTo>
                  <a:lnTo>
                    <a:pt x="985" y="1168"/>
                  </a:lnTo>
                  <a:lnTo>
                    <a:pt x="977" y="1166"/>
                  </a:lnTo>
                  <a:lnTo>
                    <a:pt x="964" y="1161"/>
                  </a:lnTo>
                  <a:lnTo>
                    <a:pt x="952" y="1155"/>
                  </a:lnTo>
                  <a:lnTo>
                    <a:pt x="939" y="1152"/>
                  </a:lnTo>
                  <a:lnTo>
                    <a:pt x="925" y="1149"/>
                  </a:lnTo>
                  <a:lnTo>
                    <a:pt x="913" y="1146"/>
                  </a:lnTo>
                  <a:lnTo>
                    <a:pt x="899" y="1144"/>
                  </a:lnTo>
                  <a:lnTo>
                    <a:pt x="886" y="1142"/>
                  </a:lnTo>
                  <a:lnTo>
                    <a:pt x="873" y="1140"/>
                  </a:lnTo>
                  <a:lnTo>
                    <a:pt x="859" y="1139"/>
                  </a:lnTo>
                  <a:lnTo>
                    <a:pt x="846" y="1136"/>
                  </a:lnTo>
                  <a:lnTo>
                    <a:pt x="832" y="1134"/>
                  </a:lnTo>
                  <a:lnTo>
                    <a:pt x="820" y="1132"/>
                  </a:lnTo>
                  <a:lnTo>
                    <a:pt x="806" y="1129"/>
                  </a:lnTo>
                  <a:lnTo>
                    <a:pt x="792" y="1126"/>
                  </a:lnTo>
                  <a:lnTo>
                    <a:pt x="780" y="1122"/>
                  </a:lnTo>
                  <a:lnTo>
                    <a:pt x="766" y="1116"/>
                  </a:lnTo>
                  <a:lnTo>
                    <a:pt x="772" y="1109"/>
                  </a:lnTo>
                  <a:lnTo>
                    <a:pt x="778" y="1100"/>
                  </a:lnTo>
                  <a:lnTo>
                    <a:pt x="786" y="1093"/>
                  </a:lnTo>
                  <a:lnTo>
                    <a:pt x="793" y="1087"/>
                  </a:lnTo>
                  <a:lnTo>
                    <a:pt x="803" y="1080"/>
                  </a:lnTo>
                  <a:lnTo>
                    <a:pt x="812" y="1075"/>
                  </a:lnTo>
                  <a:lnTo>
                    <a:pt x="822" y="1071"/>
                  </a:lnTo>
                  <a:lnTo>
                    <a:pt x="833" y="1068"/>
                  </a:lnTo>
                  <a:lnTo>
                    <a:pt x="845" y="1071"/>
                  </a:lnTo>
                  <a:lnTo>
                    <a:pt x="856" y="1075"/>
                  </a:lnTo>
                  <a:lnTo>
                    <a:pt x="866" y="1078"/>
                  </a:lnTo>
                  <a:lnTo>
                    <a:pt x="878" y="1082"/>
                  </a:lnTo>
                  <a:lnTo>
                    <a:pt x="888" y="1088"/>
                  </a:lnTo>
                  <a:lnTo>
                    <a:pt x="899" y="1092"/>
                  </a:lnTo>
                  <a:lnTo>
                    <a:pt x="910" y="1097"/>
                  </a:lnTo>
                  <a:lnTo>
                    <a:pt x="920" y="1102"/>
                  </a:lnTo>
                  <a:lnTo>
                    <a:pt x="931" y="1108"/>
                  </a:lnTo>
                  <a:lnTo>
                    <a:pt x="941" y="1113"/>
                  </a:lnTo>
                  <a:lnTo>
                    <a:pt x="951" y="1119"/>
                  </a:lnTo>
                  <a:lnTo>
                    <a:pt x="961" y="1125"/>
                  </a:lnTo>
                  <a:lnTo>
                    <a:pt x="972" y="1131"/>
                  </a:lnTo>
                  <a:lnTo>
                    <a:pt x="982" y="1136"/>
                  </a:lnTo>
                  <a:lnTo>
                    <a:pt x="992" y="1143"/>
                  </a:lnTo>
                  <a:lnTo>
                    <a:pt x="1003" y="1149"/>
                  </a:lnTo>
                  <a:lnTo>
                    <a:pt x="1010" y="1151"/>
                  </a:lnTo>
                  <a:lnTo>
                    <a:pt x="1018" y="1153"/>
                  </a:lnTo>
                  <a:lnTo>
                    <a:pt x="1026" y="1157"/>
                  </a:lnTo>
                  <a:lnTo>
                    <a:pt x="1033" y="1160"/>
                  </a:lnTo>
                  <a:lnTo>
                    <a:pt x="1041" y="1162"/>
                  </a:lnTo>
                  <a:lnTo>
                    <a:pt x="1048" y="1163"/>
                  </a:lnTo>
                  <a:lnTo>
                    <a:pt x="1055" y="1163"/>
                  </a:lnTo>
                  <a:lnTo>
                    <a:pt x="1062" y="1160"/>
                  </a:lnTo>
                  <a:lnTo>
                    <a:pt x="1060" y="1151"/>
                  </a:lnTo>
                  <a:lnTo>
                    <a:pt x="1055" y="1147"/>
                  </a:lnTo>
                  <a:lnTo>
                    <a:pt x="1049" y="1145"/>
                  </a:lnTo>
                  <a:lnTo>
                    <a:pt x="1042" y="1145"/>
                  </a:lnTo>
                  <a:lnTo>
                    <a:pt x="1033" y="1146"/>
                  </a:lnTo>
                  <a:lnTo>
                    <a:pt x="1026" y="1145"/>
                  </a:lnTo>
                  <a:lnTo>
                    <a:pt x="1018" y="1144"/>
                  </a:lnTo>
                  <a:lnTo>
                    <a:pt x="1012" y="1139"/>
                  </a:lnTo>
                  <a:lnTo>
                    <a:pt x="1001" y="1131"/>
                  </a:lnTo>
                  <a:lnTo>
                    <a:pt x="990" y="1125"/>
                  </a:lnTo>
                  <a:lnTo>
                    <a:pt x="979" y="1118"/>
                  </a:lnTo>
                  <a:lnTo>
                    <a:pt x="969" y="1112"/>
                  </a:lnTo>
                  <a:lnTo>
                    <a:pt x="958" y="1107"/>
                  </a:lnTo>
                  <a:lnTo>
                    <a:pt x="947" y="1101"/>
                  </a:lnTo>
                  <a:lnTo>
                    <a:pt x="936" y="1096"/>
                  </a:lnTo>
                  <a:lnTo>
                    <a:pt x="925" y="1091"/>
                  </a:lnTo>
                  <a:lnTo>
                    <a:pt x="914" y="1086"/>
                  </a:lnTo>
                  <a:lnTo>
                    <a:pt x="903" y="1080"/>
                  </a:lnTo>
                  <a:lnTo>
                    <a:pt x="892" y="1076"/>
                  </a:lnTo>
                  <a:lnTo>
                    <a:pt x="880" y="1072"/>
                  </a:lnTo>
                  <a:lnTo>
                    <a:pt x="869" y="1066"/>
                  </a:lnTo>
                  <a:lnTo>
                    <a:pt x="858" y="1062"/>
                  </a:lnTo>
                  <a:lnTo>
                    <a:pt x="845" y="1058"/>
                  </a:lnTo>
                  <a:lnTo>
                    <a:pt x="833" y="1054"/>
                  </a:lnTo>
                  <a:lnTo>
                    <a:pt x="867" y="1026"/>
                  </a:lnTo>
                  <a:lnTo>
                    <a:pt x="902" y="1001"/>
                  </a:lnTo>
                  <a:lnTo>
                    <a:pt x="938" y="975"/>
                  </a:lnTo>
                  <a:lnTo>
                    <a:pt x="973" y="952"/>
                  </a:lnTo>
                  <a:lnTo>
                    <a:pt x="1009" y="929"/>
                  </a:lnTo>
                  <a:lnTo>
                    <a:pt x="1044" y="905"/>
                  </a:lnTo>
                  <a:lnTo>
                    <a:pt x="1080" y="883"/>
                  </a:lnTo>
                  <a:lnTo>
                    <a:pt x="1115" y="860"/>
                  </a:lnTo>
                  <a:lnTo>
                    <a:pt x="1149" y="838"/>
                  </a:lnTo>
                  <a:lnTo>
                    <a:pt x="1184" y="814"/>
                  </a:lnTo>
                  <a:lnTo>
                    <a:pt x="1218" y="791"/>
                  </a:lnTo>
                  <a:lnTo>
                    <a:pt x="1252" y="765"/>
                  </a:lnTo>
                  <a:lnTo>
                    <a:pt x="1286" y="740"/>
                  </a:lnTo>
                  <a:lnTo>
                    <a:pt x="1318" y="712"/>
                  </a:lnTo>
                  <a:lnTo>
                    <a:pt x="1349" y="685"/>
                  </a:lnTo>
                  <a:lnTo>
                    <a:pt x="1380" y="654"/>
                  </a:lnTo>
                  <a:lnTo>
                    <a:pt x="1393" y="633"/>
                  </a:lnTo>
                  <a:lnTo>
                    <a:pt x="1404" y="612"/>
                  </a:lnTo>
                  <a:lnTo>
                    <a:pt x="1415" y="590"/>
                  </a:lnTo>
                  <a:lnTo>
                    <a:pt x="1424" y="565"/>
                  </a:lnTo>
                  <a:lnTo>
                    <a:pt x="1431" y="541"/>
                  </a:lnTo>
                  <a:lnTo>
                    <a:pt x="1435" y="516"/>
                  </a:lnTo>
                  <a:lnTo>
                    <a:pt x="1436" y="490"/>
                  </a:lnTo>
                  <a:lnTo>
                    <a:pt x="1433" y="463"/>
                  </a:lnTo>
                  <a:lnTo>
                    <a:pt x="1420" y="438"/>
                  </a:lnTo>
                  <a:lnTo>
                    <a:pt x="1404" y="417"/>
                  </a:lnTo>
                  <a:lnTo>
                    <a:pt x="1386" y="400"/>
                  </a:lnTo>
                  <a:lnTo>
                    <a:pt x="1367" y="386"/>
                  </a:lnTo>
                  <a:lnTo>
                    <a:pt x="1346" y="376"/>
                  </a:lnTo>
                  <a:lnTo>
                    <a:pt x="1324" y="368"/>
                  </a:lnTo>
                  <a:lnTo>
                    <a:pt x="1300" y="363"/>
                  </a:lnTo>
                  <a:lnTo>
                    <a:pt x="1275" y="360"/>
                  </a:lnTo>
                  <a:lnTo>
                    <a:pt x="1250" y="357"/>
                  </a:lnTo>
                  <a:lnTo>
                    <a:pt x="1225" y="357"/>
                  </a:lnTo>
                  <a:lnTo>
                    <a:pt x="1198" y="357"/>
                  </a:lnTo>
                  <a:lnTo>
                    <a:pt x="1173" y="359"/>
                  </a:lnTo>
                  <a:lnTo>
                    <a:pt x="1146" y="359"/>
                  </a:lnTo>
                  <a:lnTo>
                    <a:pt x="1121" y="360"/>
                  </a:lnTo>
                  <a:lnTo>
                    <a:pt x="1097" y="359"/>
                  </a:lnTo>
                  <a:lnTo>
                    <a:pt x="1072" y="357"/>
                  </a:lnTo>
                  <a:lnTo>
                    <a:pt x="1059" y="357"/>
                  </a:lnTo>
                  <a:lnTo>
                    <a:pt x="1046" y="359"/>
                  </a:lnTo>
                  <a:lnTo>
                    <a:pt x="1033" y="359"/>
                  </a:lnTo>
                  <a:lnTo>
                    <a:pt x="1021" y="360"/>
                  </a:lnTo>
                  <a:lnTo>
                    <a:pt x="1008" y="361"/>
                  </a:lnTo>
                  <a:lnTo>
                    <a:pt x="996" y="362"/>
                  </a:lnTo>
                  <a:lnTo>
                    <a:pt x="984" y="364"/>
                  </a:lnTo>
                  <a:lnTo>
                    <a:pt x="972" y="365"/>
                  </a:lnTo>
                  <a:lnTo>
                    <a:pt x="960" y="368"/>
                  </a:lnTo>
                  <a:lnTo>
                    <a:pt x="949" y="370"/>
                  </a:lnTo>
                  <a:lnTo>
                    <a:pt x="937" y="372"/>
                  </a:lnTo>
                  <a:lnTo>
                    <a:pt x="925" y="376"/>
                  </a:lnTo>
                  <a:lnTo>
                    <a:pt x="914" y="380"/>
                  </a:lnTo>
                  <a:lnTo>
                    <a:pt x="902" y="383"/>
                  </a:lnTo>
                  <a:lnTo>
                    <a:pt x="891" y="388"/>
                  </a:lnTo>
                  <a:lnTo>
                    <a:pt x="879" y="392"/>
                  </a:lnTo>
                  <a:lnTo>
                    <a:pt x="842" y="403"/>
                  </a:lnTo>
                  <a:lnTo>
                    <a:pt x="806" y="415"/>
                  </a:lnTo>
                  <a:lnTo>
                    <a:pt x="771" y="427"/>
                  </a:lnTo>
                  <a:lnTo>
                    <a:pt x="736" y="442"/>
                  </a:lnTo>
                  <a:lnTo>
                    <a:pt x="702" y="458"/>
                  </a:lnTo>
                  <a:lnTo>
                    <a:pt x="669" y="475"/>
                  </a:lnTo>
                  <a:lnTo>
                    <a:pt x="636" y="493"/>
                  </a:lnTo>
                  <a:lnTo>
                    <a:pt x="604" y="512"/>
                  </a:lnTo>
                  <a:lnTo>
                    <a:pt x="571" y="532"/>
                  </a:lnTo>
                  <a:lnTo>
                    <a:pt x="541" y="554"/>
                  </a:lnTo>
                  <a:lnTo>
                    <a:pt x="509" y="576"/>
                  </a:lnTo>
                  <a:lnTo>
                    <a:pt x="479" y="598"/>
                  </a:lnTo>
                  <a:lnTo>
                    <a:pt x="449" y="621"/>
                  </a:lnTo>
                  <a:lnTo>
                    <a:pt x="419" y="645"/>
                  </a:lnTo>
                  <a:lnTo>
                    <a:pt x="389" y="668"/>
                  </a:lnTo>
                  <a:lnTo>
                    <a:pt x="361" y="692"/>
                  </a:lnTo>
                  <a:lnTo>
                    <a:pt x="351" y="707"/>
                  </a:lnTo>
                  <a:lnTo>
                    <a:pt x="339" y="721"/>
                  </a:lnTo>
                  <a:lnTo>
                    <a:pt x="325" y="734"/>
                  </a:lnTo>
                  <a:lnTo>
                    <a:pt x="312" y="746"/>
                  </a:lnTo>
                  <a:lnTo>
                    <a:pt x="302" y="761"/>
                  </a:lnTo>
                  <a:lnTo>
                    <a:pt x="295" y="777"/>
                  </a:lnTo>
                  <a:lnTo>
                    <a:pt x="293" y="795"/>
                  </a:lnTo>
                  <a:lnTo>
                    <a:pt x="297" y="816"/>
                  </a:lnTo>
                  <a:lnTo>
                    <a:pt x="307" y="831"/>
                  </a:lnTo>
                  <a:lnTo>
                    <a:pt x="317" y="846"/>
                  </a:lnTo>
                  <a:lnTo>
                    <a:pt x="325" y="861"/>
                  </a:lnTo>
                  <a:lnTo>
                    <a:pt x="332" y="877"/>
                  </a:lnTo>
                  <a:lnTo>
                    <a:pt x="338" y="893"/>
                  </a:lnTo>
                  <a:lnTo>
                    <a:pt x="342" y="910"/>
                  </a:lnTo>
                  <a:lnTo>
                    <a:pt x="342" y="927"/>
                  </a:lnTo>
                  <a:lnTo>
                    <a:pt x="340" y="945"/>
                  </a:lnTo>
                  <a:lnTo>
                    <a:pt x="332" y="958"/>
                  </a:lnTo>
                  <a:lnTo>
                    <a:pt x="325" y="972"/>
                  </a:lnTo>
                  <a:lnTo>
                    <a:pt x="317" y="985"/>
                  </a:lnTo>
                  <a:lnTo>
                    <a:pt x="307" y="997"/>
                  </a:lnTo>
                  <a:lnTo>
                    <a:pt x="297" y="1008"/>
                  </a:lnTo>
                  <a:lnTo>
                    <a:pt x="287" y="1019"/>
                  </a:lnTo>
                  <a:lnTo>
                    <a:pt x="275" y="1028"/>
                  </a:lnTo>
                  <a:lnTo>
                    <a:pt x="264" y="1038"/>
                  </a:lnTo>
                  <a:lnTo>
                    <a:pt x="251" y="1046"/>
                  </a:lnTo>
                  <a:lnTo>
                    <a:pt x="238" y="1055"/>
                  </a:lnTo>
                  <a:lnTo>
                    <a:pt x="225" y="1062"/>
                  </a:lnTo>
                  <a:lnTo>
                    <a:pt x="212" y="1070"/>
                  </a:lnTo>
                  <a:lnTo>
                    <a:pt x="197" y="1076"/>
                  </a:lnTo>
                  <a:lnTo>
                    <a:pt x="183" y="1081"/>
                  </a:lnTo>
                  <a:lnTo>
                    <a:pt x="169" y="1087"/>
                  </a:lnTo>
                  <a:lnTo>
                    <a:pt x="154" y="1092"/>
                  </a:lnTo>
                  <a:lnTo>
                    <a:pt x="135" y="1091"/>
                  </a:lnTo>
                  <a:lnTo>
                    <a:pt x="116" y="1092"/>
                  </a:lnTo>
                  <a:lnTo>
                    <a:pt x="96" y="1092"/>
                  </a:lnTo>
                  <a:lnTo>
                    <a:pt x="77" y="1092"/>
                  </a:lnTo>
                  <a:lnTo>
                    <a:pt x="59" y="1090"/>
                  </a:lnTo>
                  <a:lnTo>
                    <a:pt x="42" y="1084"/>
                  </a:lnTo>
                  <a:lnTo>
                    <a:pt x="27" y="1075"/>
                  </a:lnTo>
                  <a:lnTo>
                    <a:pt x="15" y="1060"/>
                  </a:lnTo>
                  <a:lnTo>
                    <a:pt x="2" y="1016"/>
                  </a:lnTo>
                  <a:lnTo>
                    <a:pt x="0" y="973"/>
                  </a:lnTo>
                  <a:lnTo>
                    <a:pt x="8" y="932"/>
                  </a:lnTo>
                  <a:lnTo>
                    <a:pt x="24" y="892"/>
                  </a:lnTo>
                  <a:lnTo>
                    <a:pt x="44" y="855"/>
                  </a:lnTo>
                  <a:lnTo>
                    <a:pt x="68" y="817"/>
                  </a:lnTo>
                  <a:lnTo>
                    <a:pt x="93" y="782"/>
                  </a:lnTo>
                  <a:lnTo>
                    <a:pt x="118" y="750"/>
                  </a:lnTo>
                  <a:lnTo>
                    <a:pt x="134" y="721"/>
                  </a:lnTo>
                  <a:lnTo>
                    <a:pt x="151" y="693"/>
                  </a:lnTo>
                  <a:lnTo>
                    <a:pt x="170" y="668"/>
                  </a:lnTo>
                  <a:lnTo>
                    <a:pt x="190" y="643"/>
                  </a:lnTo>
                  <a:lnTo>
                    <a:pt x="211" y="618"/>
                  </a:lnTo>
                  <a:lnTo>
                    <a:pt x="233" y="594"/>
                  </a:lnTo>
                  <a:lnTo>
                    <a:pt x="256" y="572"/>
                  </a:lnTo>
                  <a:lnTo>
                    <a:pt x="281" y="549"/>
                  </a:lnTo>
                  <a:lnTo>
                    <a:pt x="304" y="527"/>
                  </a:lnTo>
                  <a:lnTo>
                    <a:pt x="328" y="505"/>
                  </a:lnTo>
                  <a:lnTo>
                    <a:pt x="354" y="484"/>
                  </a:lnTo>
                  <a:lnTo>
                    <a:pt x="378" y="462"/>
                  </a:lnTo>
                  <a:lnTo>
                    <a:pt x="402" y="440"/>
                  </a:lnTo>
                  <a:lnTo>
                    <a:pt x="425" y="419"/>
                  </a:lnTo>
                  <a:lnTo>
                    <a:pt x="449" y="397"/>
                  </a:lnTo>
                  <a:lnTo>
                    <a:pt x="471" y="374"/>
                  </a:lnTo>
                  <a:lnTo>
                    <a:pt x="481" y="367"/>
                  </a:lnTo>
                  <a:lnTo>
                    <a:pt x="492" y="360"/>
                  </a:lnTo>
                  <a:lnTo>
                    <a:pt x="503" y="353"/>
                  </a:lnTo>
                  <a:lnTo>
                    <a:pt x="513" y="346"/>
                  </a:lnTo>
                  <a:lnTo>
                    <a:pt x="524" y="338"/>
                  </a:lnTo>
                  <a:lnTo>
                    <a:pt x="534" y="331"/>
                  </a:lnTo>
                  <a:lnTo>
                    <a:pt x="545" y="325"/>
                  </a:lnTo>
                  <a:lnTo>
                    <a:pt x="555" y="317"/>
                  </a:lnTo>
                  <a:lnTo>
                    <a:pt x="567" y="311"/>
                  </a:lnTo>
                  <a:lnTo>
                    <a:pt x="578" y="303"/>
                  </a:lnTo>
                  <a:lnTo>
                    <a:pt x="588" y="297"/>
                  </a:lnTo>
                  <a:lnTo>
                    <a:pt x="600" y="291"/>
                  </a:lnTo>
                  <a:lnTo>
                    <a:pt x="611" y="284"/>
                  </a:lnTo>
                  <a:lnTo>
                    <a:pt x="623" y="278"/>
                  </a:lnTo>
                  <a:lnTo>
                    <a:pt x="635" y="272"/>
                  </a:lnTo>
                  <a:lnTo>
                    <a:pt x="646" y="265"/>
                  </a:lnTo>
                  <a:lnTo>
                    <a:pt x="659" y="256"/>
                  </a:lnTo>
                  <a:lnTo>
                    <a:pt x="672" y="246"/>
                  </a:lnTo>
                  <a:lnTo>
                    <a:pt x="685" y="237"/>
                  </a:lnTo>
                  <a:lnTo>
                    <a:pt x="699" y="227"/>
                  </a:lnTo>
                  <a:lnTo>
                    <a:pt x="714" y="219"/>
                  </a:lnTo>
                  <a:lnTo>
                    <a:pt x="729" y="210"/>
                  </a:lnTo>
                  <a:lnTo>
                    <a:pt x="743" y="202"/>
                  </a:lnTo>
                  <a:lnTo>
                    <a:pt x="758" y="194"/>
                  </a:lnTo>
                  <a:lnTo>
                    <a:pt x="773" y="187"/>
                  </a:lnTo>
                  <a:lnTo>
                    <a:pt x="788" y="178"/>
                  </a:lnTo>
                  <a:lnTo>
                    <a:pt x="803" y="171"/>
                  </a:lnTo>
                  <a:lnTo>
                    <a:pt x="819" y="164"/>
                  </a:lnTo>
                  <a:lnTo>
                    <a:pt x="833" y="156"/>
                  </a:lnTo>
                  <a:lnTo>
                    <a:pt x="849" y="150"/>
                  </a:lnTo>
                  <a:lnTo>
                    <a:pt x="864" y="142"/>
                  </a:lnTo>
                  <a:lnTo>
                    <a:pt x="879" y="135"/>
                  </a:lnTo>
                  <a:lnTo>
                    <a:pt x="900" y="121"/>
                  </a:lnTo>
                  <a:lnTo>
                    <a:pt x="921" y="108"/>
                  </a:lnTo>
                  <a:lnTo>
                    <a:pt x="943" y="97"/>
                  </a:lnTo>
                  <a:lnTo>
                    <a:pt x="966" y="86"/>
                  </a:lnTo>
                  <a:lnTo>
                    <a:pt x="989" y="77"/>
                  </a:lnTo>
                  <a:lnTo>
                    <a:pt x="1012" y="68"/>
                  </a:lnTo>
                  <a:lnTo>
                    <a:pt x="1036" y="61"/>
                  </a:lnTo>
                  <a:lnTo>
                    <a:pt x="1060" y="53"/>
                  </a:lnTo>
                  <a:lnTo>
                    <a:pt x="1084" y="47"/>
                  </a:lnTo>
                  <a:lnTo>
                    <a:pt x="1109" y="41"/>
                  </a:lnTo>
                  <a:lnTo>
                    <a:pt x="1134" y="34"/>
                  </a:lnTo>
                  <a:lnTo>
                    <a:pt x="1158" y="28"/>
                  </a:lnTo>
                  <a:lnTo>
                    <a:pt x="1183" y="23"/>
                  </a:lnTo>
                  <a:lnTo>
                    <a:pt x="1208" y="16"/>
                  </a:lnTo>
                  <a:lnTo>
                    <a:pt x="1232" y="10"/>
                  </a:lnTo>
                  <a:lnTo>
                    <a:pt x="1256" y="4"/>
                  </a:lnTo>
                  <a:lnTo>
                    <a:pt x="1272" y="1"/>
                  </a:lnTo>
                  <a:lnTo>
                    <a:pt x="1289" y="0"/>
                  </a:lnTo>
                  <a:lnTo>
                    <a:pt x="1304" y="0"/>
                  </a:lnTo>
                  <a:lnTo>
                    <a:pt x="1320" y="1"/>
                  </a:lnTo>
                  <a:lnTo>
                    <a:pt x="1334" y="4"/>
                  </a:lnTo>
                  <a:lnTo>
                    <a:pt x="1349" y="6"/>
                  </a:lnTo>
                  <a:lnTo>
                    <a:pt x="1364" y="9"/>
                  </a:lnTo>
                  <a:lnTo>
                    <a:pt x="1378" y="13"/>
                  </a:lnTo>
                  <a:lnTo>
                    <a:pt x="1392" y="18"/>
                  </a:lnTo>
                  <a:lnTo>
                    <a:pt x="1405" y="24"/>
                  </a:lnTo>
                  <a:lnTo>
                    <a:pt x="1418" y="31"/>
                  </a:lnTo>
                  <a:lnTo>
                    <a:pt x="1430" y="37"/>
                  </a:lnTo>
                  <a:lnTo>
                    <a:pt x="1442" y="46"/>
                  </a:lnTo>
                  <a:lnTo>
                    <a:pt x="1454" y="54"/>
                  </a:lnTo>
                  <a:lnTo>
                    <a:pt x="1464" y="64"/>
                  </a:lnTo>
                  <a:lnTo>
                    <a:pt x="1475" y="7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0" name="Google Shape;720;p3"/>
            <p:cNvSpPr/>
            <p:nvPr/>
          </p:nvSpPr>
          <p:spPr>
            <a:xfrm>
              <a:off x="4959" y="3516"/>
              <a:ext cx="157" cy="102"/>
            </a:xfrm>
            <a:custGeom>
              <a:avLst/>
              <a:gdLst/>
              <a:ahLst/>
              <a:cxnLst/>
              <a:rect l="l" t="t" r="r" b="b"/>
              <a:pathLst>
                <a:path w="1255" h="813" extrusionOk="0">
                  <a:moveTo>
                    <a:pt x="1252" y="38"/>
                  </a:moveTo>
                  <a:lnTo>
                    <a:pt x="1248" y="45"/>
                  </a:lnTo>
                  <a:lnTo>
                    <a:pt x="1246" y="51"/>
                  </a:lnTo>
                  <a:lnTo>
                    <a:pt x="1250" y="58"/>
                  </a:lnTo>
                  <a:lnTo>
                    <a:pt x="1253" y="65"/>
                  </a:lnTo>
                  <a:lnTo>
                    <a:pt x="1255" y="71"/>
                  </a:lnTo>
                  <a:lnTo>
                    <a:pt x="1254" y="75"/>
                  </a:lnTo>
                  <a:lnTo>
                    <a:pt x="1249" y="78"/>
                  </a:lnTo>
                  <a:lnTo>
                    <a:pt x="1237" y="76"/>
                  </a:lnTo>
                  <a:lnTo>
                    <a:pt x="1218" y="62"/>
                  </a:lnTo>
                  <a:lnTo>
                    <a:pt x="1198" y="51"/>
                  </a:lnTo>
                  <a:lnTo>
                    <a:pt x="1177" y="44"/>
                  </a:lnTo>
                  <a:lnTo>
                    <a:pt x="1156" y="38"/>
                  </a:lnTo>
                  <a:lnTo>
                    <a:pt x="1132" y="36"/>
                  </a:lnTo>
                  <a:lnTo>
                    <a:pt x="1110" y="36"/>
                  </a:lnTo>
                  <a:lnTo>
                    <a:pt x="1086" y="37"/>
                  </a:lnTo>
                  <a:lnTo>
                    <a:pt x="1063" y="40"/>
                  </a:lnTo>
                  <a:lnTo>
                    <a:pt x="1038" y="45"/>
                  </a:lnTo>
                  <a:lnTo>
                    <a:pt x="1014" y="49"/>
                  </a:lnTo>
                  <a:lnTo>
                    <a:pt x="990" y="54"/>
                  </a:lnTo>
                  <a:lnTo>
                    <a:pt x="965" y="60"/>
                  </a:lnTo>
                  <a:lnTo>
                    <a:pt x="941" y="64"/>
                  </a:lnTo>
                  <a:lnTo>
                    <a:pt x="917" y="68"/>
                  </a:lnTo>
                  <a:lnTo>
                    <a:pt x="893" y="71"/>
                  </a:lnTo>
                  <a:lnTo>
                    <a:pt x="870" y="73"/>
                  </a:lnTo>
                  <a:lnTo>
                    <a:pt x="857" y="78"/>
                  </a:lnTo>
                  <a:lnTo>
                    <a:pt x="845" y="81"/>
                  </a:lnTo>
                  <a:lnTo>
                    <a:pt x="832" y="86"/>
                  </a:lnTo>
                  <a:lnTo>
                    <a:pt x="819" y="90"/>
                  </a:lnTo>
                  <a:lnTo>
                    <a:pt x="807" y="94"/>
                  </a:lnTo>
                  <a:lnTo>
                    <a:pt x="794" y="99"/>
                  </a:lnTo>
                  <a:lnTo>
                    <a:pt x="781" y="102"/>
                  </a:lnTo>
                  <a:lnTo>
                    <a:pt x="769" y="105"/>
                  </a:lnTo>
                  <a:lnTo>
                    <a:pt x="764" y="110"/>
                  </a:lnTo>
                  <a:lnTo>
                    <a:pt x="759" y="115"/>
                  </a:lnTo>
                  <a:lnTo>
                    <a:pt x="753" y="117"/>
                  </a:lnTo>
                  <a:lnTo>
                    <a:pt x="748" y="117"/>
                  </a:lnTo>
                  <a:lnTo>
                    <a:pt x="741" y="118"/>
                  </a:lnTo>
                  <a:lnTo>
                    <a:pt x="735" y="118"/>
                  </a:lnTo>
                  <a:lnTo>
                    <a:pt x="729" y="119"/>
                  </a:lnTo>
                  <a:lnTo>
                    <a:pt x="723" y="122"/>
                  </a:lnTo>
                  <a:lnTo>
                    <a:pt x="712" y="128"/>
                  </a:lnTo>
                  <a:lnTo>
                    <a:pt x="700" y="135"/>
                  </a:lnTo>
                  <a:lnTo>
                    <a:pt x="688" y="140"/>
                  </a:lnTo>
                  <a:lnTo>
                    <a:pt x="677" y="146"/>
                  </a:lnTo>
                  <a:lnTo>
                    <a:pt x="665" y="151"/>
                  </a:lnTo>
                  <a:lnTo>
                    <a:pt x="653" y="156"/>
                  </a:lnTo>
                  <a:lnTo>
                    <a:pt x="641" y="161"/>
                  </a:lnTo>
                  <a:lnTo>
                    <a:pt x="629" y="167"/>
                  </a:lnTo>
                  <a:lnTo>
                    <a:pt x="618" y="171"/>
                  </a:lnTo>
                  <a:lnTo>
                    <a:pt x="606" y="176"/>
                  </a:lnTo>
                  <a:lnTo>
                    <a:pt x="594" y="181"/>
                  </a:lnTo>
                  <a:lnTo>
                    <a:pt x="583" y="187"/>
                  </a:lnTo>
                  <a:lnTo>
                    <a:pt x="571" y="192"/>
                  </a:lnTo>
                  <a:lnTo>
                    <a:pt x="560" y="198"/>
                  </a:lnTo>
                  <a:lnTo>
                    <a:pt x="550" y="205"/>
                  </a:lnTo>
                  <a:lnTo>
                    <a:pt x="539" y="211"/>
                  </a:lnTo>
                  <a:lnTo>
                    <a:pt x="525" y="216"/>
                  </a:lnTo>
                  <a:lnTo>
                    <a:pt x="511" y="223"/>
                  </a:lnTo>
                  <a:lnTo>
                    <a:pt x="497" y="230"/>
                  </a:lnTo>
                  <a:lnTo>
                    <a:pt x="483" y="238"/>
                  </a:lnTo>
                  <a:lnTo>
                    <a:pt x="471" y="246"/>
                  </a:lnTo>
                  <a:lnTo>
                    <a:pt x="458" y="255"/>
                  </a:lnTo>
                  <a:lnTo>
                    <a:pt x="445" y="263"/>
                  </a:lnTo>
                  <a:lnTo>
                    <a:pt x="434" y="271"/>
                  </a:lnTo>
                  <a:lnTo>
                    <a:pt x="410" y="285"/>
                  </a:lnTo>
                  <a:lnTo>
                    <a:pt x="388" y="299"/>
                  </a:lnTo>
                  <a:lnTo>
                    <a:pt x="366" y="314"/>
                  </a:lnTo>
                  <a:lnTo>
                    <a:pt x="346" y="330"/>
                  </a:lnTo>
                  <a:lnTo>
                    <a:pt x="325" y="346"/>
                  </a:lnTo>
                  <a:lnTo>
                    <a:pt x="306" y="363"/>
                  </a:lnTo>
                  <a:lnTo>
                    <a:pt x="287" y="381"/>
                  </a:lnTo>
                  <a:lnTo>
                    <a:pt x="268" y="398"/>
                  </a:lnTo>
                  <a:lnTo>
                    <a:pt x="249" y="417"/>
                  </a:lnTo>
                  <a:lnTo>
                    <a:pt x="231" y="436"/>
                  </a:lnTo>
                  <a:lnTo>
                    <a:pt x="213" y="455"/>
                  </a:lnTo>
                  <a:lnTo>
                    <a:pt x="194" y="474"/>
                  </a:lnTo>
                  <a:lnTo>
                    <a:pt x="176" y="494"/>
                  </a:lnTo>
                  <a:lnTo>
                    <a:pt x="158" y="513"/>
                  </a:lnTo>
                  <a:lnTo>
                    <a:pt x="139" y="533"/>
                  </a:lnTo>
                  <a:lnTo>
                    <a:pt x="120" y="553"/>
                  </a:lnTo>
                  <a:lnTo>
                    <a:pt x="110" y="573"/>
                  </a:lnTo>
                  <a:lnTo>
                    <a:pt x="101" y="595"/>
                  </a:lnTo>
                  <a:lnTo>
                    <a:pt x="93" y="617"/>
                  </a:lnTo>
                  <a:lnTo>
                    <a:pt x="88" y="640"/>
                  </a:lnTo>
                  <a:lnTo>
                    <a:pt x="86" y="664"/>
                  </a:lnTo>
                  <a:lnTo>
                    <a:pt x="87" y="687"/>
                  </a:lnTo>
                  <a:lnTo>
                    <a:pt x="92" y="709"/>
                  </a:lnTo>
                  <a:lnTo>
                    <a:pt x="103" y="730"/>
                  </a:lnTo>
                  <a:lnTo>
                    <a:pt x="107" y="743"/>
                  </a:lnTo>
                  <a:lnTo>
                    <a:pt x="108" y="755"/>
                  </a:lnTo>
                  <a:lnTo>
                    <a:pt x="105" y="766"/>
                  </a:lnTo>
                  <a:lnTo>
                    <a:pt x="101" y="777"/>
                  </a:lnTo>
                  <a:lnTo>
                    <a:pt x="94" y="786"/>
                  </a:lnTo>
                  <a:lnTo>
                    <a:pt x="88" y="796"/>
                  </a:lnTo>
                  <a:lnTo>
                    <a:pt x="81" y="803"/>
                  </a:lnTo>
                  <a:lnTo>
                    <a:pt x="74" y="811"/>
                  </a:lnTo>
                  <a:lnTo>
                    <a:pt x="65" y="813"/>
                  </a:lnTo>
                  <a:lnTo>
                    <a:pt x="55" y="812"/>
                  </a:lnTo>
                  <a:lnTo>
                    <a:pt x="47" y="811"/>
                  </a:lnTo>
                  <a:lnTo>
                    <a:pt x="38" y="807"/>
                  </a:lnTo>
                  <a:lnTo>
                    <a:pt x="31" y="802"/>
                  </a:lnTo>
                  <a:lnTo>
                    <a:pt x="25" y="797"/>
                  </a:lnTo>
                  <a:lnTo>
                    <a:pt x="18" y="791"/>
                  </a:lnTo>
                  <a:lnTo>
                    <a:pt x="14" y="783"/>
                  </a:lnTo>
                  <a:lnTo>
                    <a:pt x="6" y="764"/>
                  </a:lnTo>
                  <a:lnTo>
                    <a:pt x="1" y="744"/>
                  </a:lnTo>
                  <a:lnTo>
                    <a:pt x="0" y="723"/>
                  </a:lnTo>
                  <a:lnTo>
                    <a:pt x="7" y="703"/>
                  </a:lnTo>
                  <a:lnTo>
                    <a:pt x="14" y="699"/>
                  </a:lnTo>
                  <a:lnTo>
                    <a:pt x="15" y="691"/>
                  </a:lnTo>
                  <a:lnTo>
                    <a:pt x="15" y="684"/>
                  </a:lnTo>
                  <a:lnTo>
                    <a:pt x="18" y="677"/>
                  </a:lnTo>
                  <a:lnTo>
                    <a:pt x="28" y="650"/>
                  </a:lnTo>
                  <a:lnTo>
                    <a:pt x="39" y="623"/>
                  </a:lnTo>
                  <a:lnTo>
                    <a:pt x="52" y="599"/>
                  </a:lnTo>
                  <a:lnTo>
                    <a:pt x="66" y="576"/>
                  </a:lnTo>
                  <a:lnTo>
                    <a:pt x="79" y="554"/>
                  </a:lnTo>
                  <a:lnTo>
                    <a:pt x="95" y="533"/>
                  </a:lnTo>
                  <a:lnTo>
                    <a:pt x="112" y="513"/>
                  </a:lnTo>
                  <a:lnTo>
                    <a:pt x="130" y="494"/>
                  </a:lnTo>
                  <a:lnTo>
                    <a:pt x="148" y="475"/>
                  </a:lnTo>
                  <a:lnTo>
                    <a:pt x="167" y="457"/>
                  </a:lnTo>
                  <a:lnTo>
                    <a:pt x="186" y="438"/>
                  </a:lnTo>
                  <a:lnTo>
                    <a:pt x="206" y="420"/>
                  </a:lnTo>
                  <a:lnTo>
                    <a:pt x="226" y="401"/>
                  </a:lnTo>
                  <a:lnTo>
                    <a:pt x="247" y="382"/>
                  </a:lnTo>
                  <a:lnTo>
                    <a:pt x="268" y="362"/>
                  </a:lnTo>
                  <a:lnTo>
                    <a:pt x="289" y="341"/>
                  </a:lnTo>
                  <a:lnTo>
                    <a:pt x="308" y="329"/>
                  </a:lnTo>
                  <a:lnTo>
                    <a:pt x="327" y="317"/>
                  </a:lnTo>
                  <a:lnTo>
                    <a:pt x="345" y="306"/>
                  </a:lnTo>
                  <a:lnTo>
                    <a:pt x="363" y="296"/>
                  </a:lnTo>
                  <a:lnTo>
                    <a:pt x="381" y="285"/>
                  </a:lnTo>
                  <a:lnTo>
                    <a:pt x="399" y="275"/>
                  </a:lnTo>
                  <a:lnTo>
                    <a:pt x="418" y="264"/>
                  </a:lnTo>
                  <a:lnTo>
                    <a:pt x="437" y="253"/>
                  </a:lnTo>
                  <a:lnTo>
                    <a:pt x="437" y="246"/>
                  </a:lnTo>
                  <a:lnTo>
                    <a:pt x="460" y="232"/>
                  </a:lnTo>
                  <a:lnTo>
                    <a:pt x="484" y="218"/>
                  </a:lnTo>
                  <a:lnTo>
                    <a:pt x="509" y="205"/>
                  </a:lnTo>
                  <a:lnTo>
                    <a:pt x="533" y="192"/>
                  </a:lnTo>
                  <a:lnTo>
                    <a:pt x="558" y="179"/>
                  </a:lnTo>
                  <a:lnTo>
                    <a:pt x="584" y="168"/>
                  </a:lnTo>
                  <a:lnTo>
                    <a:pt x="609" y="156"/>
                  </a:lnTo>
                  <a:lnTo>
                    <a:pt x="634" y="144"/>
                  </a:lnTo>
                  <a:lnTo>
                    <a:pt x="660" y="133"/>
                  </a:lnTo>
                  <a:lnTo>
                    <a:pt x="686" y="121"/>
                  </a:lnTo>
                  <a:lnTo>
                    <a:pt x="712" y="110"/>
                  </a:lnTo>
                  <a:lnTo>
                    <a:pt x="737" y="100"/>
                  </a:lnTo>
                  <a:lnTo>
                    <a:pt x="763" y="88"/>
                  </a:lnTo>
                  <a:lnTo>
                    <a:pt x="789" y="78"/>
                  </a:lnTo>
                  <a:lnTo>
                    <a:pt x="814" y="67"/>
                  </a:lnTo>
                  <a:lnTo>
                    <a:pt x="840" y="56"/>
                  </a:lnTo>
                  <a:lnTo>
                    <a:pt x="853" y="53"/>
                  </a:lnTo>
                  <a:lnTo>
                    <a:pt x="867" y="50"/>
                  </a:lnTo>
                  <a:lnTo>
                    <a:pt x="882" y="46"/>
                  </a:lnTo>
                  <a:lnTo>
                    <a:pt x="896" y="42"/>
                  </a:lnTo>
                  <a:lnTo>
                    <a:pt x="909" y="37"/>
                  </a:lnTo>
                  <a:lnTo>
                    <a:pt x="923" y="33"/>
                  </a:lnTo>
                  <a:lnTo>
                    <a:pt x="937" y="28"/>
                  </a:lnTo>
                  <a:lnTo>
                    <a:pt x="951" y="23"/>
                  </a:lnTo>
                  <a:lnTo>
                    <a:pt x="964" y="19"/>
                  </a:lnTo>
                  <a:lnTo>
                    <a:pt x="979" y="16"/>
                  </a:lnTo>
                  <a:lnTo>
                    <a:pt x="993" y="13"/>
                  </a:lnTo>
                  <a:lnTo>
                    <a:pt x="1008" y="10"/>
                  </a:lnTo>
                  <a:lnTo>
                    <a:pt x="1022" y="7"/>
                  </a:lnTo>
                  <a:lnTo>
                    <a:pt x="1037" y="5"/>
                  </a:lnTo>
                  <a:lnTo>
                    <a:pt x="1052" y="3"/>
                  </a:lnTo>
                  <a:lnTo>
                    <a:pt x="1068" y="3"/>
                  </a:lnTo>
                  <a:lnTo>
                    <a:pt x="1081" y="2"/>
                  </a:lnTo>
                  <a:lnTo>
                    <a:pt x="1093" y="1"/>
                  </a:lnTo>
                  <a:lnTo>
                    <a:pt x="1106" y="1"/>
                  </a:lnTo>
                  <a:lnTo>
                    <a:pt x="1118" y="0"/>
                  </a:lnTo>
                  <a:lnTo>
                    <a:pt x="1130" y="0"/>
                  </a:lnTo>
                  <a:lnTo>
                    <a:pt x="1142" y="0"/>
                  </a:lnTo>
                  <a:lnTo>
                    <a:pt x="1155" y="0"/>
                  </a:lnTo>
                  <a:lnTo>
                    <a:pt x="1166" y="1"/>
                  </a:lnTo>
                  <a:lnTo>
                    <a:pt x="1178" y="2"/>
                  </a:lnTo>
                  <a:lnTo>
                    <a:pt x="1188" y="4"/>
                  </a:lnTo>
                  <a:lnTo>
                    <a:pt x="1200" y="8"/>
                  </a:lnTo>
                  <a:lnTo>
                    <a:pt x="1211" y="12"/>
                  </a:lnTo>
                  <a:lnTo>
                    <a:pt x="1221" y="17"/>
                  </a:lnTo>
                  <a:lnTo>
                    <a:pt x="1232" y="22"/>
                  </a:lnTo>
                  <a:lnTo>
                    <a:pt x="1242" y="30"/>
                  </a:lnTo>
                  <a:lnTo>
                    <a:pt x="1252" y="3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1" name="Google Shape;721;p3"/>
            <p:cNvSpPr/>
            <p:nvPr/>
          </p:nvSpPr>
          <p:spPr>
            <a:xfrm>
              <a:off x="5181" y="3526"/>
              <a:ext cx="77" cy="30"/>
            </a:xfrm>
            <a:custGeom>
              <a:avLst/>
              <a:gdLst/>
              <a:ahLst/>
              <a:cxnLst/>
              <a:rect l="l" t="t" r="r" b="b"/>
              <a:pathLst>
                <a:path w="612" h="233" extrusionOk="0">
                  <a:moveTo>
                    <a:pt x="589" y="98"/>
                  </a:moveTo>
                  <a:lnTo>
                    <a:pt x="592" y="107"/>
                  </a:lnTo>
                  <a:lnTo>
                    <a:pt x="596" y="115"/>
                  </a:lnTo>
                  <a:lnTo>
                    <a:pt x="601" y="125"/>
                  </a:lnTo>
                  <a:lnTo>
                    <a:pt x="606" y="133"/>
                  </a:lnTo>
                  <a:lnTo>
                    <a:pt x="609" y="142"/>
                  </a:lnTo>
                  <a:lnTo>
                    <a:pt x="611" y="150"/>
                  </a:lnTo>
                  <a:lnTo>
                    <a:pt x="612" y="160"/>
                  </a:lnTo>
                  <a:lnTo>
                    <a:pt x="609" y="169"/>
                  </a:lnTo>
                  <a:lnTo>
                    <a:pt x="598" y="158"/>
                  </a:lnTo>
                  <a:lnTo>
                    <a:pt x="588" y="144"/>
                  </a:lnTo>
                  <a:lnTo>
                    <a:pt x="575" y="131"/>
                  </a:lnTo>
                  <a:lnTo>
                    <a:pt x="564" y="118"/>
                  </a:lnTo>
                  <a:lnTo>
                    <a:pt x="551" y="106"/>
                  </a:lnTo>
                  <a:lnTo>
                    <a:pt x="537" y="95"/>
                  </a:lnTo>
                  <a:lnTo>
                    <a:pt x="522" y="87"/>
                  </a:lnTo>
                  <a:lnTo>
                    <a:pt x="507" y="81"/>
                  </a:lnTo>
                  <a:lnTo>
                    <a:pt x="502" y="86"/>
                  </a:lnTo>
                  <a:lnTo>
                    <a:pt x="502" y="89"/>
                  </a:lnTo>
                  <a:lnTo>
                    <a:pt x="505" y="93"/>
                  </a:lnTo>
                  <a:lnTo>
                    <a:pt x="507" y="98"/>
                  </a:lnTo>
                  <a:lnTo>
                    <a:pt x="514" y="104"/>
                  </a:lnTo>
                  <a:lnTo>
                    <a:pt x="516" y="111"/>
                  </a:lnTo>
                  <a:lnTo>
                    <a:pt x="515" y="120"/>
                  </a:lnTo>
                  <a:lnTo>
                    <a:pt x="515" y="127"/>
                  </a:lnTo>
                  <a:lnTo>
                    <a:pt x="500" y="125"/>
                  </a:lnTo>
                  <a:lnTo>
                    <a:pt x="486" y="121"/>
                  </a:lnTo>
                  <a:lnTo>
                    <a:pt x="472" y="116"/>
                  </a:lnTo>
                  <a:lnTo>
                    <a:pt x="458" y="110"/>
                  </a:lnTo>
                  <a:lnTo>
                    <a:pt x="443" y="105"/>
                  </a:lnTo>
                  <a:lnTo>
                    <a:pt x="428" y="101"/>
                  </a:lnTo>
                  <a:lnTo>
                    <a:pt x="412" y="98"/>
                  </a:lnTo>
                  <a:lnTo>
                    <a:pt x="398" y="98"/>
                  </a:lnTo>
                  <a:lnTo>
                    <a:pt x="402" y="106"/>
                  </a:lnTo>
                  <a:lnTo>
                    <a:pt x="406" y="110"/>
                  </a:lnTo>
                  <a:lnTo>
                    <a:pt x="407" y="113"/>
                  </a:lnTo>
                  <a:lnTo>
                    <a:pt x="402" y="121"/>
                  </a:lnTo>
                  <a:lnTo>
                    <a:pt x="406" y="127"/>
                  </a:lnTo>
                  <a:lnTo>
                    <a:pt x="408" y="133"/>
                  </a:lnTo>
                  <a:lnTo>
                    <a:pt x="409" y="141"/>
                  </a:lnTo>
                  <a:lnTo>
                    <a:pt x="409" y="148"/>
                  </a:lnTo>
                  <a:lnTo>
                    <a:pt x="402" y="156"/>
                  </a:lnTo>
                  <a:lnTo>
                    <a:pt x="377" y="145"/>
                  </a:lnTo>
                  <a:lnTo>
                    <a:pt x="353" y="137"/>
                  </a:lnTo>
                  <a:lnTo>
                    <a:pt x="328" y="131"/>
                  </a:lnTo>
                  <a:lnTo>
                    <a:pt x="302" y="128"/>
                  </a:lnTo>
                  <a:lnTo>
                    <a:pt x="277" y="127"/>
                  </a:lnTo>
                  <a:lnTo>
                    <a:pt x="252" y="128"/>
                  </a:lnTo>
                  <a:lnTo>
                    <a:pt x="226" y="132"/>
                  </a:lnTo>
                  <a:lnTo>
                    <a:pt x="201" y="137"/>
                  </a:lnTo>
                  <a:lnTo>
                    <a:pt x="177" y="144"/>
                  </a:lnTo>
                  <a:lnTo>
                    <a:pt x="152" y="152"/>
                  </a:lnTo>
                  <a:lnTo>
                    <a:pt x="128" y="163"/>
                  </a:lnTo>
                  <a:lnTo>
                    <a:pt x="105" y="174"/>
                  </a:lnTo>
                  <a:lnTo>
                    <a:pt x="83" y="186"/>
                  </a:lnTo>
                  <a:lnTo>
                    <a:pt x="61" y="200"/>
                  </a:lnTo>
                  <a:lnTo>
                    <a:pt x="41" y="215"/>
                  </a:lnTo>
                  <a:lnTo>
                    <a:pt x="22" y="230"/>
                  </a:lnTo>
                  <a:lnTo>
                    <a:pt x="0" y="233"/>
                  </a:lnTo>
                  <a:lnTo>
                    <a:pt x="0" y="227"/>
                  </a:lnTo>
                  <a:lnTo>
                    <a:pt x="24" y="208"/>
                  </a:lnTo>
                  <a:lnTo>
                    <a:pt x="49" y="187"/>
                  </a:lnTo>
                  <a:lnTo>
                    <a:pt x="72" y="168"/>
                  </a:lnTo>
                  <a:lnTo>
                    <a:pt x="95" y="150"/>
                  </a:lnTo>
                  <a:lnTo>
                    <a:pt x="120" y="132"/>
                  </a:lnTo>
                  <a:lnTo>
                    <a:pt x="143" y="115"/>
                  </a:lnTo>
                  <a:lnTo>
                    <a:pt x="167" y="98"/>
                  </a:lnTo>
                  <a:lnTo>
                    <a:pt x="192" y="83"/>
                  </a:lnTo>
                  <a:lnTo>
                    <a:pt x="217" y="68"/>
                  </a:lnTo>
                  <a:lnTo>
                    <a:pt x="242" y="54"/>
                  </a:lnTo>
                  <a:lnTo>
                    <a:pt x="269" y="41"/>
                  </a:lnTo>
                  <a:lnTo>
                    <a:pt x="296" y="31"/>
                  </a:lnTo>
                  <a:lnTo>
                    <a:pt x="325" y="20"/>
                  </a:lnTo>
                  <a:lnTo>
                    <a:pt x="353" y="12"/>
                  </a:lnTo>
                  <a:lnTo>
                    <a:pt x="384" y="5"/>
                  </a:lnTo>
                  <a:lnTo>
                    <a:pt x="416" y="0"/>
                  </a:lnTo>
                  <a:lnTo>
                    <a:pt x="428" y="1"/>
                  </a:lnTo>
                  <a:lnTo>
                    <a:pt x="442" y="3"/>
                  </a:lnTo>
                  <a:lnTo>
                    <a:pt x="455" y="6"/>
                  </a:lnTo>
                  <a:lnTo>
                    <a:pt x="466" y="10"/>
                  </a:lnTo>
                  <a:lnTo>
                    <a:pt x="479" y="16"/>
                  </a:lnTo>
                  <a:lnTo>
                    <a:pt x="491" y="22"/>
                  </a:lnTo>
                  <a:lnTo>
                    <a:pt x="502" y="29"/>
                  </a:lnTo>
                  <a:lnTo>
                    <a:pt x="513" y="36"/>
                  </a:lnTo>
                  <a:lnTo>
                    <a:pt x="523" y="43"/>
                  </a:lnTo>
                  <a:lnTo>
                    <a:pt x="534" y="51"/>
                  </a:lnTo>
                  <a:lnTo>
                    <a:pt x="544" y="59"/>
                  </a:lnTo>
                  <a:lnTo>
                    <a:pt x="554" y="68"/>
                  </a:lnTo>
                  <a:lnTo>
                    <a:pt x="564" y="75"/>
                  </a:lnTo>
                  <a:lnTo>
                    <a:pt x="572" y="84"/>
                  </a:lnTo>
                  <a:lnTo>
                    <a:pt x="580" y="91"/>
                  </a:lnTo>
                  <a:lnTo>
                    <a:pt x="589" y="98"/>
                  </a:lnTo>
                  <a:close/>
                </a:path>
              </a:pathLst>
            </a:custGeom>
            <a:solidFill>
              <a:srgbClr val="BC91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2" name="Google Shape;722;p3"/>
            <p:cNvSpPr/>
            <p:nvPr/>
          </p:nvSpPr>
          <p:spPr>
            <a:xfrm>
              <a:off x="5078" y="3582"/>
              <a:ext cx="54" cy="43"/>
            </a:xfrm>
            <a:custGeom>
              <a:avLst/>
              <a:gdLst/>
              <a:ahLst/>
              <a:cxnLst/>
              <a:rect l="l" t="t" r="r" b="b"/>
              <a:pathLst>
                <a:path w="429" h="343" extrusionOk="0">
                  <a:moveTo>
                    <a:pt x="426" y="0"/>
                  </a:moveTo>
                  <a:lnTo>
                    <a:pt x="429" y="8"/>
                  </a:lnTo>
                  <a:lnTo>
                    <a:pt x="428" y="17"/>
                  </a:lnTo>
                  <a:lnTo>
                    <a:pt x="424" y="24"/>
                  </a:lnTo>
                  <a:lnTo>
                    <a:pt x="419" y="32"/>
                  </a:lnTo>
                  <a:lnTo>
                    <a:pt x="415" y="39"/>
                  </a:lnTo>
                  <a:lnTo>
                    <a:pt x="411" y="46"/>
                  </a:lnTo>
                  <a:lnTo>
                    <a:pt x="410" y="54"/>
                  </a:lnTo>
                  <a:lnTo>
                    <a:pt x="413" y="63"/>
                  </a:lnTo>
                  <a:lnTo>
                    <a:pt x="409" y="77"/>
                  </a:lnTo>
                  <a:lnTo>
                    <a:pt x="402" y="90"/>
                  </a:lnTo>
                  <a:lnTo>
                    <a:pt x="396" y="104"/>
                  </a:lnTo>
                  <a:lnTo>
                    <a:pt x="391" y="117"/>
                  </a:lnTo>
                  <a:lnTo>
                    <a:pt x="386" y="131"/>
                  </a:lnTo>
                  <a:lnTo>
                    <a:pt x="382" y="144"/>
                  </a:lnTo>
                  <a:lnTo>
                    <a:pt x="382" y="157"/>
                  </a:lnTo>
                  <a:lnTo>
                    <a:pt x="385" y="169"/>
                  </a:lnTo>
                  <a:lnTo>
                    <a:pt x="376" y="189"/>
                  </a:lnTo>
                  <a:lnTo>
                    <a:pt x="364" y="205"/>
                  </a:lnTo>
                  <a:lnTo>
                    <a:pt x="350" y="220"/>
                  </a:lnTo>
                  <a:lnTo>
                    <a:pt x="333" y="233"/>
                  </a:lnTo>
                  <a:lnTo>
                    <a:pt x="316" y="245"/>
                  </a:lnTo>
                  <a:lnTo>
                    <a:pt x="297" y="256"/>
                  </a:lnTo>
                  <a:lnTo>
                    <a:pt x="279" y="269"/>
                  </a:lnTo>
                  <a:lnTo>
                    <a:pt x="262" y="283"/>
                  </a:lnTo>
                  <a:lnTo>
                    <a:pt x="252" y="287"/>
                  </a:lnTo>
                  <a:lnTo>
                    <a:pt x="244" y="290"/>
                  </a:lnTo>
                  <a:lnTo>
                    <a:pt x="237" y="294"/>
                  </a:lnTo>
                  <a:lnTo>
                    <a:pt x="228" y="299"/>
                  </a:lnTo>
                  <a:lnTo>
                    <a:pt x="221" y="302"/>
                  </a:lnTo>
                  <a:lnTo>
                    <a:pt x="212" y="306"/>
                  </a:lnTo>
                  <a:lnTo>
                    <a:pt x="204" y="308"/>
                  </a:lnTo>
                  <a:lnTo>
                    <a:pt x="194" y="310"/>
                  </a:lnTo>
                  <a:lnTo>
                    <a:pt x="185" y="316"/>
                  </a:lnTo>
                  <a:lnTo>
                    <a:pt x="174" y="320"/>
                  </a:lnTo>
                  <a:lnTo>
                    <a:pt x="165" y="323"/>
                  </a:lnTo>
                  <a:lnTo>
                    <a:pt x="154" y="327"/>
                  </a:lnTo>
                  <a:lnTo>
                    <a:pt x="145" y="330"/>
                  </a:lnTo>
                  <a:lnTo>
                    <a:pt x="134" y="334"/>
                  </a:lnTo>
                  <a:lnTo>
                    <a:pt x="123" y="336"/>
                  </a:lnTo>
                  <a:lnTo>
                    <a:pt x="113" y="338"/>
                  </a:lnTo>
                  <a:lnTo>
                    <a:pt x="101" y="340"/>
                  </a:lnTo>
                  <a:lnTo>
                    <a:pt x="91" y="341"/>
                  </a:lnTo>
                  <a:lnTo>
                    <a:pt x="79" y="342"/>
                  </a:lnTo>
                  <a:lnTo>
                    <a:pt x="67" y="343"/>
                  </a:lnTo>
                  <a:lnTo>
                    <a:pt x="57" y="343"/>
                  </a:lnTo>
                  <a:lnTo>
                    <a:pt x="45" y="343"/>
                  </a:lnTo>
                  <a:lnTo>
                    <a:pt x="33" y="343"/>
                  </a:lnTo>
                  <a:lnTo>
                    <a:pt x="21" y="342"/>
                  </a:lnTo>
                  <a:lnTo>
                    <a:pt x="8" y="334"/>
                  </a:lnTo>
                  <a:lnTo>
                    <a:pt x="2" y="323"/>
                  </a:lnTo>
                  <a:lnTo>
                    <a:pt x="0" y="310"/>
                  </a:lnTo>
                  <a:lnTo>
                    <a:pt x="0" y="297"/>
                  </a:lnTo>
                  <a:lnTo>
                    <a:pt x="7" y="284"/>
                  </a:lnTo>
                  <a:lnTo>
                    <a:pt x="16" y="272"/>
                  </a:lnTo>
                  <a:lnTo>
                    <a:pt x="24" y="260"/>
                  </a:lnTo>
                  <a:lnTo>
                    <a:pt x="33" y="249"/>
                  </a:lnTo>
                  <a:lnTo>
                    <a:pt x="42" y="237"/>
                  </a:lnTo>
                  <a:lnTo>
                    <a:pt x="53" y="227"/>
                  </a:lnTo>
                  <a:lnTo>
                    <a:pt x="62" y="216"/>
                  </a:lnTo>
                  <a:lnTo>
                    <a:pt x="74" y="206"/>
                  </a:lnTo>
                  <a:lnTo>
                    <a:pt x="84" y="197"/>
                  </a:lnTo>
                  <a:lnTo>
                    <a:pt x="96" y="188"/>
                  </a:lnTo>
                  <a:lnTo>
                    <a:pt x="108" y="181"/>
                  </a:lnTo>
                  <a:lnTo>
                    <a:pt x="120" y="175"/>
                  </a:lnTo>
                  <a:lnTo>
                    <a:pt x="133" y="168"/>
                  </a:lnTo>
                  <a:lnTo>
                    <a:pt x="146" y="163"/>
                  </a:lnTo>
                  <a:lnTo>
                    <a:pt x="159" y="159"/>
                  </a:lnTo>
                  <a:lnTo>
                    <a:pt x="173" y="156"/>
                  </a:lnTo>
                  <a:lnTo>
                    <a:pt x="184" y="146"/>
                  </a:lnTo>
                  <a:lnTo>
                    <a:pt x="193" y="135"/>
                  </a:lnTo>
                  <a:lnTo>
                    <a:pt x="203" y="126"/>
                  </a:lnTo>
                  <a:lnTo>
                    <a:pt x="211" y="116"/>
                  </a:lnTo>
                  <a:lnTo>
                    <a:pt x="220" y="106"/>
                  </a:lnTo>
                  <a:lnTo>
                    <a:pt x="227" y="96"/>
                  </a:lnTo>
                  <a:lnTo>
                    <a:pt x="233" y="87"/>
                  </a:lnTo>
                  <a:lnTo>
                    <a:pt x="240" y="77"/>
                  </a:lnTo>
                  <a:lnTo>
                    <a:pt x="248" y="82"/>
                  </a:lnTo>
                  <a:lnTo>
                    <a:pt x="253" y="93"/>
                  </a:lnTo>
                  <a:lnTo>
                    <a:pt x="259" y="106"/>
                  </a:lnTo>
                  <a:lnTo>
                    <a:pt x="267" y="113"/>
                  </a:lnTo>
                  <a:lnTo>
                    <a:pt x="275" y="104"/>
                  </a:lnTo>
                  <a:lnTo>
                    <a:pt x="281" y="94"/>
                  </a:lnTo>
                  <a:lnTo>
                    <a:pt x="287" y="84"/>
                  </a:lnTo>
                  <a:lnTo>
                    <a:pt x="293" y="73"/>
                  </a:lnTo>
                  <a:lnTo>
                    <a:pt x="298" y="62"/>
                  </a:lnTo>
                  <a:lnTo>
                    <a:pt x="304" y="53"/>
                  </a:lnTo>
                  <a:lnTo>
                    <a:pt x="311" y="44"/>
                  </a:lnTo>
                  <a:lnTo>
                    <a:pt x="318" y="38"/>
                  </a:lnTo>
                  <a:lnTo>
                    <a:pt x="324" y="38"/>
                  </a:lnTo>
                  <a:lnTo>
                    <a:pt x="321" y="54"/>
                  </a:lnTo>
                  <a:lnTo>
                    <a:pt x="322" y="70"/>
                  </a:lnTo>
                  <a:lnTo>
                    <a:pt x="325" y="87"/>
                  </a:lnTo>
                  <a:lnTo>
                    <a:pt x="327" y="103"/>
                  </a:lnTo>
                  <a:lnTo>
                    <a:pt x="339" y="97"/>
                  </a:lnTo>
                  <a:lnTo>
                    <a:pt x="348" y="89"/>
                  </a:lnTo>
                  <a:lnTo>
                    <a:pt x="356" y="79"/>
                  </a:lnTo>
                  <a:lnTo>
                    <a:pt x="363" y="70"/>
                  </a:lnTo>
                  <a:lnTo>
                    <a:pt x="371" y="59"/>
                  </a:lnTo>
                  <a:lnTo>
                    <a:pt x="379" y="49"/>
                  </a:lnTo>
                  <a:lnTo>
                    <a:pt x="388" y="39"/>
                  </a:lnTo>
                  <a:lnTo>
                    <a:pt x="398" y="32"/>
                  </a:lnTo>
                  <a:lnTo>
                    <a:pt x="407" y="23"/>
                  </a:lnTo>
                  <a:lnTo>
                    <a:pt x="412" y="13"/>
                  </a:lnTo>
                  <a:lnTo>
                    <a:pt x="417" y="4"/>
                  </a:lnTo>
                  <a:lnTo>
                    <a:pt x="42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3" name="Google Shape;723;p3"/>
            <p:cNvSpPr/>
            <p:nvPr/>
          </p:nvSpPr>
          <p:spPr>
            <a:xfrm>
              <a:off x="5134" y="3586"/>
              <a:ext cx="47" cy="44"/>
            </a:xfrm>
            <a:custGeom>
              <a:avLst/>
              <a:gdLst/>
              <a:ahLst/>
              <a:cxnLst/>
              <a:rect l="l" t="t" r="r" b="b"/>
              <a:pathLst>
                <a:path w="371" h="349" extrusionOk="0">
                  <a:moveTo>
                    <a:pt x="124" y="71"/>
                  </a:moveTo>
                  <a:lnTo>
                    <a:pt x="129" y="62"/>
                  </a:lnTo>
                  <a:lnTo>
                    <a:pt x="134" y="53"/>
                  </a:lnTo>
                  <a:lnTo>
                    <a:pt x="138" y="43"/>
                  </a:lnTo>
                  <a:lnTo>
                    <a:pt x="141" y="33"/>
                  </a:lnTo>
                  <a:lnTo>
                    <a:pt x="159" y="33"/>
                  </a:lnTo>
                  <a:lnTo>
                    <a:pt x="165" y="49"/>
                  </a:lnTo>
                  <a:lnTo>
                    <a:pt x="171" y="66"/>
                  </a:lnTo>
                  <a:lnTo>
                    <a:pt x="179" y="83"/>
                  </a:lnTo>
                  <a:lnTo>
                    <a:pt x="189" y="95"/>
                  </a:lnTo>
                  <a:lnTo>
                    <a:pt x="192" y="85"/>
                  </a:lnTo>
                  <a:lnTo>
                    <a:pt x="197" y="75"/>
                  </a:lnTo>
                  <a:lnTo>
                    <a:pt x="203" y="69"/>
                  </a:lnTo>
                  <a:lnTo>
                    <a:pt x="211" y="65"/>
                  </a:lnTo>
                  <a:lnTo>
                    <a:pt x="216" y="79"/>
                  </a:lnTo>
                  <a:lnTo>
                    <a:pt x="221" y="92"/>
                  </a:lnTo>
                  <a:lnTo>
                    <a:pt x="228" y="104"/>
                  </a:lnTo>
                  <a:lnTo>
                    <a:pt x="236" y="115"/>
                  </a:lnTo>
                  <a:lnTo>
                    <a:pt x="244" y="127"/>
                  </a:lnTo>
                  <a:lnTo>
                    <a:pt x="252" y="139"/>
                  </a:lnTo>
                  <a:lnTo>
                    <a:pt x="259" y="153"/>
                  </a:lnTo>
                  <a:lnTo>
                    <a:pt x="264" y="166"/>
                  </a:lnTo>
                  <a:lnTo>
                    <a:pt x="274" y="174"/>
                  </a:lnTo>
                  <a:lnTo>
                    <a:pt x="283" y="180"/>
                  </a:lnTo>
                  <a:lnTo>
                    <a:pt x="293" y="188"/>
                  </a:lnTo>
                  <a:lnTo>
                    <a:pt x="303" y="195"/>
                  </a:lnTo>
                  <a:lnTo>
                    <a:pt x="312" y="201"/>
                  </a:lnTo>
                  <a:lnTo>
                    <a:pt x="321" y="209"/>
                  </a:lnTo>
                  <a:lnTo>
                    <a:pt x="330" y="216"/>
                  </a:lnTo>
                  <a:lnTo>
                    <a:pt x="338" y="224"/>
                  </a:lnTo>
                  <a:lnTo>
                    <a:pt x="338" y="227"/>
                  </a:lnTo>
                  <a:lnTo>
                    <a:pt x="339" y="229"/>
                  </a:lnTo>
                  <a:lnTo>
                    <a:pt x="340" y="232"/>
                  </a:lnTo>
                  <a:lnTo>
                    <a:pt x="342" y="234"/>
                  </a:lnTo>
                  <a:lnTo>
                    <a:pt x="352" y="243"/>
                  </a:lnTo>
                  <a:lnTo>
                    <a:pt x="359" y="254"/>
                  </a:lnTo>
                  <a:lnTo>
                    <a:pt x="365" y="269"/>
                  </a:lnTo>
                  <a:lnTo>
                    <a:pt x="370" y="283"/>
                  </a:lnTo>
                  <a:lnTo>
                    <a:pt x="371" y="297"/>
                  </a:lnTo>
                  <a:lnTo>
                    <a:pt x="368" y="308"/>
                  </a:lnTo>
                  <a:lnTo>
                    <a:pt x="360" y="318"/>
                  </a:lnTo>
                  <a:lnTo>
                    <a:pt x="352" y="325"/>
                  </a:lnTo>
                  <a:lnTo>
                    <a:pt x="333" y="336"/>
                  </a:lnTo>
                  <a:lnTo>
                    <a:pt x="315" y="343"/>
                  </a:lnTo>
                  <a:lnTo>
                    <a:pt x="296" y="348"/>
                  </a:lnTo>
                  <a:lnTo>
                    <a:pt x="277" y="349"/>
                  </a:lnTo>
                  <a:lnTo>
                    <a:pt x="258" y="348"/>
                  </a:lnTo>
                  <a:lnTo>
                    <a:pt x="239" y="344"/>
                  </a:lnTo>
                  <a:lnTo>
                    <a:pt x="221" y="339"/>
                  </a:lnTo>
                  <a:lnTo>
                    <a:pt x="202" y="333"/>
                  </a:lnTo>
                  <a:lnTo>
                    <a:pt x="184" y="324"/>
                  </a:lnTo>
                  <a:lnTo>
                    <a:pt x="166" y="315"/>
                  </a:lnTo>
                  <a:lnTo>
                    <a:pt x="148" y="304"/>
                  </a:lnTo>
                  <a:lnTo>
                    <a:pt x="130" y="293"/>
                  </a:lnTo>
                  <a:lnTo>
                    <a:pt x="113" y="283"/>
                  </a:lnTo>
                  <a:lnTo>
                    <a:pt x="96" y="272"/>
                  </a:lnTo>
                  <a:lnTo>
                    <a:pt x="79" y="262"/>
                  </a:lnTo>
                  <a:lnTo>
                    <a:pt x="63" y="251"/>
                  </a:lnTo>
                  <a:lnTo>
                    <a:pt x="54" y="236"/>
                  </a:lnTo>
                  <a:lnTo>
                    <a:pt x="42" y="221"/>
                  </a:lnTo>
                  <a:lnTo>
                    <a:pt x="31" y="207"/>
                  </a:lnTo>
                  <a:lnTo>
                    <a:pt x="19" y="192"/>
                  </a:lnTo>
                  <a:lnTo>
                    <a:pt x="8" y="176"/>
                  </a:lnTo>
                  <a:lnTo>
                    <a:pt x="2" y="159"/>
                  </a:lnTo>
                  <a:lnTo>
                    <a:pt x="0" y="140"/>
                  </a:lnTo>
                  <a:lnTo>
                    <a:pt x="3" y="121"/>
                  </a:lnTo>
                  <a:lnTo>
                    <a:pt x="8" y="120"/>
                  </a:lnTo>
                  <a:lnTo>
                    <a:pt x="15" y="118"/>
                  </a:lnTo>
                  <a:lnTo>
                    <a:pt x="20" y="117"/>
                  </a:lnTo>
                  <a:lnTo>
                    <a:pt x="26" y="115"/>
                  </a:lnTo>
                  <a:lnTo>
                    <a:pt x="32" y="115"/>
                  </a:lnTo>
                  <a:lnTo>
                    <a:pt x="37" y="114"/>
                  </a:lnTo>
                  <a:lnTo>
                    <a:pt x="43" y="113"/>
                  </a:lnTo>
                  <a:lnTo>
                    <a:pt x="49" y="113"/>
                  </a:lnTo>
                  <a:lnTo>
                    <a:pt x="49" y="101"/>
                  </a:lnTo>
                  <a:lnTo>
                    <a:pt x="46" y="86"/>
                  </a:lnTo>
                  <a:lnTo>
                    <a:pt x="45" y="70"/>
                  </a:lnTo>
                  <a:lnTo>
                    <a:pt x="44" y="53"/>
                  </a:lnTo>
                  <a:lnTo>
                    <a:pt x="45" y="37"/>
                  </a:lnTo>
                  <a:lnTo>
                    <a:pt x="49" y="22"/>
                  </a:lnTo>
                  <a:lnTo>
                    <a:pt x="55" y="9"/>
                  </a:lnTo>
                  <a:lnTo>
                    <a:pt x="67" y="0"/>
                  </a:lnTo>
                  <a:lnTo>
                    <a:pt x="74" y="8"/>
                  </a:lnTo>
                  <a:lnTo>
                    <a:pt x="80" y="17"/>
                  </a:lnTo>
                  <a:lnTo>
                    <a:pt x="87" y="26"/>
                  </a:lnTo>
                  <a:lnTo>
                    <a:pt x="93" y="36"/>
                  </a:lnTo>
                  <a:lnTo>
                    <a:pt x="99" y="46"/>
                  </a:lnTo>
                  <a:lnTo>
                    <a:pt x="107" y="55"/>
                  </a:lnTo>
                  <a:lnTo>
                    <a:pt x="114" y="64"/>
                  </a:lnTo>
                  <a:lnTo>
                    <a:pt x="124" y="71"/>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4" name="Google Shape;724;p3"/>
            <p:cNvSpPr/>
            <p:nvPr/>
          </p:nvSpPr>
          <p:spPr>
            <a:xfrm>
              <a:off x="5083" y="3602"/>
              <a:ext cx="37" cy="17"/>
            </a:xfrm>
            <a:custGeom>
              <a:avLst/>
              <a:gdLst/>
              <a:ahLst/>
              <a:cxnLst/>
              <a:rect l="l" t="t" r="r" b="b"/>
              <a:pathLst>
                <a:path w="299" h="135" extrusionOk="0">
                  <a:moveTo>
                    <a:pt x="299" y="7"/>
                  </a:moveTo>
                  <a:lnTo>
                    <a:pt x="288" y="18"/>
                  </a:lnTo>
                  <a:lnTo>
                    <a:pt x="278" y="29"/>
                  </a:lnTo>
                  <a:lnTo>
                    <a:pt x="267" y="38"/>
                  </a:lnTo>
                  <a:lnTo>
                    <a:pt x="255" y="47"/>
                  </a:lnTo>
                  <a:lnTo>
                    <a:pt x="245" y="56"/>
                  </a:lnTo>
                  <a:lnTo>
                    <a:pt x="233" y="65"/>
                  </a:lnTo>
                  <a:lnTo>
                    <a:pt x="221" y="72"/>
                  </a:lnTo>
                  <a:lnTo>
                    <a:pt x="209" y="80"/>
                  </a:lnTo>
                  <a:lnTo>
                    <a:pt x="196" y="88"/>
                  </a:lnTo>
                  <a:lnTo>
                    <a:pt x="184" y="94"/>
                  </a:lnTo>
                  <a:lnTo>
                    <a:pt x="171" y="102"/>
                  </a:lnTo>
                  <a:lnTo>
                    <a:pt x="158" y="108"/>
                  </a:lnTo>
                  <a:lnTo>
                    <a:pt x="146" y="115"/>
                  </a:lnTo>
                  <a:lnTo>
                    <a:pt x="132" y="122"/>
                  </a:lnTo>
                  <a:lnTo>
                    <a:pt x="119" y="128"/>
                  </a:lnTo>
                  <a:lnTo>
                    <a:pt x="105" y="135"/>
                  </a:lnTo>
                  <a:lnTo>
                    <a:pt x="92" y="135"/>
                  </a:lnTo>
                  <a:lnTo>
                    <a:pt x="78" y="135"/>
                  </a:lnTo>
                  <a:lnTo>
                    <a:pt x="63" y="135"/>
                  </a:lnTo>
                  <a:lnTo>
                    <a:pt x="49" y="133"/>
                  </a:lnTo>
                  <a:lnTo>
                    <a:pt x="37" y="131"/>
                  </a:lnTo>
                  <a:lnTo>
                    <a:pt x="24" y="129"/>
                  </a:lnTo>
                  <a:lnTo>
                    <a:pt x="11" y="126"/>
                  </a:lnTo>
                  <a:lnTo>
                    <a:pt x="0" y="123"/>
                  </a:lnTo>
                  <a:lnTo>
                    <a:pt x="12" y="104"/>
                  </a:lnTo>
                  <a:lnTo>
                    <a:pt x="27" y="88"/>
                  </a:lnTo>
                  <a:lnTo>
                    <a:pt x="45" y="73"/>
                  </a:lnTo>
                  <a:lnTo>
                    <a:pt x="64" y="60"/>
                  </a:lnTo>
                  <a:lnTo>
                    <a:pt x="84" y="49"/>
                  </a:lnTo>
                  <a:lnTo>
                    <a:pt x="106" y="39"/>
                  </a:lnTo>
                  <a:lnTo>
                    <a:pt x="129" y="32"/>
                  </a:lnTo>
                  <a:lnTo>
                    <a:pt x="151" y="24"/>
                  </a:lnTo>
                  <a:lnTo>
                    <a:pt x="147" y="31"/>
                  </a:lnTo>
                  <a:lnTo>
                    <a:pt x="138" y="34"/>
                  </a:lnTo>
                  <a:lnTo>
                    <a:pt x="131" y="37"/>
                  </a:lnTo>
                  <a:lnTo>
                    <a:pt x="130" y="47"/>
                  </a:lnTo>
                  <a:lnTo>
                    <a:pt x="151" y="60"/>
                  </a:lnTo>
                  <a:lnTo>
                    <a:pt x="146" y="66"/>
                  </a:lnTo>
                  <a:lnTo>
                    <a:pt x="139" y="71"/>
                  </a:lnTo>
                  <a:lnTo>
                    <a:pt x="132" y="76"/>
                  </a:lnTo>
                  <a:lnTo>
                    <a:pt x="130" y="85"/>
                  </a:lnTo>
                  <a:lnTo>
                    <a:pt x="142" y="83"/>
                  </a:lnTo>
                  <a:lnTo>
                    <a:pt x="156" y="80"/>
                  </a:lnTo>
                  <a:lnTo>
                    <a:pt x="170" y="76"/>
                  </a:lnTo>
                  <a:lnTo>
                    <a:pt x="183" y="71"/>
                  </a:lnTo>
                  <a:lnTo>
                    <a:pt x="195" y="65"/>
                  </a:lnTo>
                  <a:lnTo>
                    <a:pt x="207" y="56"/>
                  </a:lnTo>
                  <a:lnTo>
                    <a:pt x="217" y="44"/>
                  </a:lnTo>
                  <a:lnTo>
                    <a:pt x="226" y="32"/>
                  </a:lnTo>
                  <a:lnTo>
                    <a:pt x="223" y="23"/>
                  </a:lnTo>
                  <a:lnTo>
                    <a:pt x="219" y="16"/>
                  </a:lnTo>
                  <a:lnTo>
                    <a:pt x="214" y="11"/>
                  </a:lnTo>
                  <a:lnTo>
                    <a:pt x="208" y="7"/>
                  </a:lnTo>
                  <a:lnTo>
                    <a:pt x="219" y="5"/>
                  </a:lnTo>
                  <a:lnTo>
                    <a:pt x="230" y="3"/>
                  </a:lnTo>
                  <a:lnTo>
                    <a:pt x="242" y="1"/>
                  </a:lnTo>
                  <a:lnTo>
                    <a:pt x="253" y="0"/>
                  </a:lnTo>
                  <a:lnTo>
                    <a:pt x="265" y="0"/>
                  </a:lnTo>
                  <a:lnTo>
                    <a:pt x="277" y="1"/>
                  </a:lnTo>
                  <a:lnTo>
                    <a:pt x="288" y="3"/>
                  </a:lnTo>
                  <a:lnTo>
                    <a:pt x="299" y="7"/>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5" name="Google Shape;725;p3"/>
            <p:cNvSpPr/>
            <p:nvPr/>
          </p:nvSpPr>
          <p:spPr>
            <a:xfrm>
              <a:off x="5138" y="3603"/>
              <a:ext cx="35" cy="23"/>
            </a:xfrm>
            <a:custGeom>
              <a:avLst/>
              <a:gdLst/>
              <a:ahLst/>
              <a:cxnLst/>
              <a:rect l="l" t="t" r="r" b="b"/>
              <a:pathLst>
                <a:path w="288" h="182" extrusionOk="0">
                  <a:moveTo>
                    <a:pt x="155" y="32"/>
                  </a:moveTo>
                  <a:lnTo>
                    <a:pt x="173" y="46"/>
                  </a:lnTo>
                  <a:lnTo>
                    <a:pt x="195" y="59"/>
                  </a:lnTo>
                  <a:lnTo>
                    <a:pt x="218" y="70"/>
                  </a:lnTo>
                  <a:lnTo>
                    <a:pt x="240" y="84"/>
                  </a:lnTo>
                  <a:lnTo>
                    <a:pt x="260" y="99"/>
                  </a:lnTo>
                  <a:lnTo>
                    <a:pt x="276" y="117"/>
                  </a:lnTo>
                  <a:lnTo>
                    <a:pt x="286" y="140"/>
                  </a:lnTo>
                  <a:lnTo>
                    <a:pt x="288" y="169"/>
                  </a:lnTo>
                  <a:lnTo>
                    <a:pt x="270" y="178"/>
                  </a:lnTo>
                  <a:lnTo>
                    <a:pt x="251" y="182"/>
                  </a:lnTo>
                  <a:lnTo>
                    <a:pt x="233" y="179"/>
                  </a:lnTo>
                  <a:lnTo>
                    <a:pt x="215" y="173"/>
                  </a:lnTo>
                  <a:lnTo>
                    <a:pt x="197" y="166"/>
                  </a:lnTo>
                  <a:lnTo>
                    <a:pt x="178" y="158"/>
                  </a:lnTo>
                  <a:lnTo>
                    <a:pt x="160" y="152"/>
                  </a:lnTo>
                  <a:lnTo>
                    <a:pt x="141" y="149"/>
                  </a:lnTo>
                  <a:lnTo>
                    <a:pt x="118" y="137"/>
                  </a:lnTo>
                  <a:lnTo>
                    <a:pt x="94" y="125"/>
                  </a:lnTo>
                  <a:lnTo>
                    <a:pt x="72" y="111"/>
                  </a:lnTo>
                  <a:lnTo>
                    <a:pt x="52" y="95"/>
                  </a:lnTo>
                  <a:lnTo>
                    <a:pt x="34" y="78"/>
                  </a:lnTo>
                  <a:lnTo>
                    <a:pt x="18" y="58"/>
                  </a:lnTo>
                  <a:lnTo>
                    <a:pt x="7" y="35"/>
                  </a:lnTo>
                  <a:lnTo>
                    <a:pt x="0" y="10"/>
                  </a:lnTo>
                  <a:lnTo>
                    <a:pt x="8" y="6"/>
                  </a:lnTo>
                  <a:lnTo>
                    <a:pt x="15" y="2"/>
                  </a:lnTo>
                  <a:lnTo>
                    <a:pt x="21" y="1"/>
                  </a:lnTo>
                  <a:lnTo>
                    <a:pt x="29" y="0"/>
                  </a:lnTo>
                  <a:lnTo>
                    <a:pt x="36" y="0"/>
                  </a:lnTo>
                  <a:lnTo>
                    <a:pt x="44" y="0"/>
                  </a:lnTo>
                  <a:lnTo>
                    <a:pt x="51" y="0"/>
                  </a:lnTo>
                  <a:lnTo>
                    <a:pt x="58" y="0"/>
                  </a:lnTo>
                  <a:lnTo>
                    <a:pt x="71" y="4"/>
                  </a:lnTo>
                  <a:lnTo>
                    <a:pt x="83" y="8"/>
                  </a:lnTo>
                  <a:lnTo>
                    <a:pt x="95" y="12"/>
                  </a:lnTo>
                  <a:lnTo>
                    <a:pt x="107" y="16"/>
                  </a:lnTo>
                  <a:lnTo>
                    <a:pt x="119" y="19"/>
                  </a:lnTo>
                  <a:lnTo>
                    <a:pt x="130" y="24"/>
                  </a:lnTo>
                  <a:lnTo>
                    <a:pt x="143" y="28"/>
                  </a:lnTo>
                  <a:lnTo>
                    <a:pt x="155" y="3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6" name="Google Shape;726;p3"/>
            <p:cNvSpPr/>
            <p:nvPr/>
          </p:nvSpPr>
          <p:spPr>
            <a:xfrm>
              <a:off x="5144" y="3606"/>
              <a:ext cx="16" cy="13"/>
            </a:xfrm>
            <a:custGeom>
              <a:avLst/>
              <a:gdLst/>
              <a:ahLst/>
              <a:cxnLst/>
              <a:rect l="l" t="t" r="r" b="b"/>
              <a:pathLst>
                <a:path w="131" h="103" extrusionOk="0">
                  <a:moveTo>
                    <a:pt x="125" y="35"/>
                  </a:moveTo>
                  <a:lnTo>
                    <a:pt x="131" y="42"/>
                  </a:lnTo>
                  <a:lnTo>
                    <a:pt x="128" y="45"/>
                  </a:lnTo>
                  <a:lnTo>
                    <a:pt x="125" y="47"/>
                  </a:lnTo>
                  <a:lnTo>
                    <a:pt x="120" y="48"/>
                  </a:lnTo>
                  <a:lnTo>
                    <a:pt x="114" y="50"/>
                  </a:lnTo>
                  <a:lnTo>
                    <a:pt x="109" y="50"/>
                  </a:lnTo>
                  <a:lnTo>
                    <a:pt x="104" y="50"/>
                  </a:lnTo>
                  <a:lnTo>
                    <a:pt x="98" y="50"/>
                  </a:lnTo>
                  <a:lnTo>
                    <a:pt x="93" y="50"/>
                  </a:lnTo>
                  <a:lnTo>
                    <a:pt x="94" y="57"/>
                  </a:lnTo>
                  <a:lnTo>
                    <a:pt x="99" y="63"/>
                  </a:lnTo>
                  <a:lnTo>
                    <a:pt x="106" y="71"/>
                  </a:lnTo>
                  <a:lnTo>
                    <a:pt x="113" y="78"/>
                  </a:lnTo>
                  <a:lnTo>
                    <a:pt x="118" y="86"/>
                  </a:lnTo>
                  <a:lnTo>
                    <a:pt x="122" y="92"/>
                  </a:lnTo>
                  <a:lnTo>
                    <a:pt x="120" y="97"/>
                  </a:lnTo>
                  <a:lnTo>
                    <a:pt x="111" y="103"/>
                  </a:lnTo>
                  <a:lnTo>
                    <a:pt x="94" y="99"/>
                  </a:lnTo>
                  <a:lnTo>
                    <a:pt x="77" y="95"/>
                  </a:lnTo>
                  <a:lnTo>
                    <a:pt x="61" y="88"/>
                  </a:lnTo>
                  <a:lnTo>
                    <a:pt x="46" y="79"/>
                  </a:lnTo>
                  <a:lnTo>
                    <a:pt x="32" y="69"/>
                  </a:lnTo>
                  <a:lnTo>
                    <a:pt x="19" y="58"/>
                  </a:lnTo>
                  <a:lnTo>
                    <a:pt x="10" y="45"/>
                  </a:lnTo>
                  <a:lnTo>
                    <a:pt x="2" y="33"/>
                  </a:lnTo>
                  <a:lnTo>
                    <a:pt x="0" y="24"/>
                  </a:lnTo>
                  <a:lnTo>
                    <a:pt x="2" y="18"/>
                  </a:lnTo>
                  <a:lnTo>
                    <a:pt x="7" y="12"/>
                  </a:lnTo>
                  <a:lnTo>
                    <a:pt x="16" y="9"/>
                  </a:lnTo>
                  <a:lnTo>
                    <a:pt x="25" y="7"/>
                  </a:lnTo>
                  <a:lnTo>
                    <a:pt x="36" y="6"/>
                  </a:lnTo>
                  <a:lnTo>
                    <a:pt x="47" y="4"/>
                  </a:lnTo>
                  <a:lnTo>
                    <a:pt x="55" y="3"/>
                  </a:lnTo>
                  <a:lnTo>
                    <a:pt x="55" y="0"/>
                  </a:lnTo>
                  <a:lnTo>
                    <a:pt x="62" y="4"/>
                  </a:lnTo>
                  <a:lnTo>
                    <a:pt x="71" y="9"/>
                  </a:lnTo>
                  <a:lnTo>
                    <a:pt x="79" y="14"/>
                  </a:lnTo>
                  <a:lnTo>
                    <a:pt x="89" y="19"/>
                  </a:lnTo>
                  <a:lnTo>
                    <a:pt x="97" y="24"/>
                  </a:lnTo>
                  <a:lnTo>
                    <a:pt x="107" y="28"/>
                  </a:lnTo>
                  <a:lnTo>
                    <a:pt x="115" y="32"/>
                  </a:lnTo>
                  <a:lnTo>
                    <a:pt x="125" y="3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7" name="Google Shape;727;p3"/>
            <p:cNvSpPr/>
            <p:nvPr/>
          </p:nvSpPr>
          <p:spPr>
            <a:xfrm>
              <a:off x="5064" y="3629"/>
              <a:ext cx="90" cy="56"/>
            </a:xfrm>
            <a:custGeom>
              <a:avLst/>
              <a:gdLst/>
              <a:ahLst/>
              <a:cxnLst/>
              <a:rect l="l" t="t" r="r" b="b"/>
              <a:pathLst>
                <a:path w="719" h="449" extrusionOk="0">
                  <a:moveTo>
                    <a:pt x="554" y="38"/>
                  </a:moveTo>
                  <a:lnTo>
                    <a:pt x="555" y="52"/>
                  </a:lnTo>
                  <a:lnTo>
                    <a:pt x="549" y="63"/>
                  </a:lnTo>
                  <a:lnTo>
                    <a:pt x="542" y="71"/>
                  </a:lnTo>
                  <a:lnTo>
                    <a:pt x="537" y="81"/>
                  </a:lnTo>
                  <a:lnTo>
                    <a:pt x="523" y="94"/>
                  </a:lnTo>
                  <a:lnTo>
                    <a:pt x="506" y="106"/>
                  </a:lnTo>
                  <a:lnTo>
                    <a:pt x="489" y="117"/>
                  </a:lnTo>
                  <a:lnTo>
                    <a:pt x="471" y="128"/>
                  </a:lnTo>
                  <a:lnTo>
                    <a:pt x="454" y="140"/>
                  </a:lnTo>
                  <a:lnTo>
                    <a:pt x="439" y="154"/>
                  </a:lnTo>
                  <a:lnTo>
                    <a:pt x="428" y="171"/>
                  </a:lnTo>
                  <a:lnTo>
                    <a:pt x="420" y="190"/>
                  </a:lnTo>
                  <a:lnTo>
                    <a:pt x="418" y="210"/>
                  </a:lnTo>
                  <a:lnTo>
                    <a:pt x="418" y="231"/>
                  </a:lnTo>
                  <a:lnTo>
                    <a:pt x="421" y="252"/>
                  </a:lnTo>
                  <a:lnTo>
                    <a:pt x="428" y="272"/>
                  </a:lnTo>
                  <a:lnTo>
                    <a:pt x="436" y="292"/>
                  </a:lnTo>
                  <a:lnTo>
                    <a:pt x="449" y="310"/>
                  </a:lnTo>
                  <a:lnTo>
                    <a:pt x="462" y="325"/>
                  </a:lnTo>
                  <a:lnTo>
                    <a:pt x="480" y="338"/>
                  </a:lnTo>
                  <a:lnTo>
                    <a:pt x="492" y="338"/>
                  </a:lnTo>
                  <a:lnTo>
                    <a:pt x="504" y="340"/>
                  </a:lnTo>
                  <a:lnTo>
                    <a:pt x="515" y="343"/>
                  </a:lnTo>
                  <a:lnTo>
                    <a:pt x="527" y="347"/>
                  </a:lnTo>
                  <a:lnTo>
                    <a:pt x="539" y="349"/>
                  </a:lnTo>
                  <a:lnTo>
                    <a:pt x="550" y="349"/>
                  </a:lnTo>
                  <a:lnTo>
                    <a:pt x="561" y="346"/>
                  </a:lnTo>
                  <a:lnTo>
                    <a:pt x="572" y="338"/>
                  </a:lnTo>
                  <a:lnTo>
                    <a:pt x="582" y="336"/>
                  </a:lnTo>
                  <a:lnTo>
                    <a:pt x="591" y="332"/>
                  </a:lnTo>
                  <a:lnTo>
                    <a:pt x="600" y="325"/>
                  </a:lnTo>
                  <a:lnTo>
                    <a:pt x="609" y="319"/>
                  </a:lnTo>
                  <a:lnTo>
                    <a:pt x="618" y="313"/>
                  </a:lnTo>
                  <a:lnTo>
                    <a:pt x="627" y="305"/>
                  </a:lnTo>
                  <a:lnTo>
                    <a:pt x="636" y="299"/>
                  </a:lnTo>
                  <a:lnTo>
                    <a:pt x="645" y="293"/>
                  </a:lnTo>
                  <a:lnTo>
                    <a:pt x="653" y="288"/>
                  </a:lnTo>
                  <a:lnTo>
                    <a:pt x="659" y="283"/>
                  </a:lnTo>
                  <a:lnTo>
                    <a:pt x="664" y="278"/>
                  </a:lnTo>
                  <a:lnTo>
                    <a:pt x="670" y="271"/>
                  </a:lnTo>
                  <a:lnTo>
                    <a:pt x="674" y="265"/>
                  </a:lnTo>
                  <a:lnTo>
                    <a:pt x="678" y="259"/>
                  </a:lnTo>
                  <a:lnTo>
                    <a:pt x="681" y="251"/>
                  </a:lnTo>
                  <a:lnTo>
                    <a:pt x="684" y="243"/>
                  </a:lnTo>
                  <a:lnTo>
                    <a:pt x="696" y="242"/>
                  </a:lnTo>
                  <a:lnTo>
                    <a:pt x="702" y="233"/>
                  </a:lnTo>
                  <a:lnTo>
                    <a:pt x="707" y="224"/>
                  </a:lnTo>
                  <a:lnTo>
                    <a:pt x="709" y="215"/>
                  </a:lnTo>
                  <a:lnTo>
                    <a:pt x="716" y="221"/>
                  </a:lnTo>
                  <a:lnTo>
                    <a:pt x="719" y="227"/>
                  </a:lnTo>
                  <a:lnTo>
                    <a:pt x="719" y="234"/>
                  </a:lnTo>
                  <a:lnTo>
                    <a:pt x="716" y="242"/>
                  </a:lnTo>
                  <a:lnTo>
                    <a:pt x="712" y="249"/>
                  </a:lnTo>
                  <a:lnTo>
                    <a:pt x="708" y="258"/>
                  </a:lnTo>
                  <a:lnTo>
                    <a:pt x="703" y="265"/>
                  </a:lnTo>
                  <a:lnTo>
                    <a:pt x="701" y="272"/>
                  </a:lnTo>
                  <a:lnTo>
                    <a:pt x="687" y="295"/>
                  </a:lnTo>
                  <a:lnTo>
                    <a:pt x="670" y="315"/>
                  </a:lnTo>
                  <a:lnTo>
                    <a:pt x="652" y="334"/>
                  </a:lnTo>
                  <a:lnTo>
                    <a:pt x="632" y="350"/>
                  </a:lnTo>
                  <a:lnTo>
                    <a:pt x="610" y="364"/>
                  </a:lnTo>
                  <a:lnTo>
                    <a:pt x="586" y="374"/>
                  </a:lnTo>
                  <a:lnTo>
                    <a:pt x="561" y="383"/>
                  </a:lnTo>
                  <a:lnTo>
                    <a:pt x="533" y="388"/>
                  </a:lnTo>
                  <a:lnTo>
                    <a:pt x="527" y="387"/>
                  </a:lnTo>
                  <a:lnTo>
                    <a:pt x="519" y="386"/>
                  </a:lnTo>
                  <a:lnTo>
                    <a:pt x="513" y="384"/>
                  </a:lnTo>
                  <a:lnTo>
                    <a:pt x="506" y="382"/>
                  </a:lnTo>
                  <a:lnTo>
                    <a:pt x="499" y="379"/>
                  </a:lnTo>
                  <a:lnTo>
                    <a:pt x="492" y="378"/>
                  </a:lnTo>
                  <a:lnTo>
                    <a:pt x="485" y="377"/>
                  </a:lnTo>
                  <a:lnTo>
                    <a:pt x="477" y="378"/>
                  </a:lnTo>
                  <a:lnTo>
                    <a:pt x="473" y="448"/>
                  </a:lnTo>
                  <a:lnTo>
                    <a:pt x="455" y="449"/>
                  </a:lnTo>
                  <a:lnTo>
                    <a:pt x="437" y="449"/>
                  </a:lnTo>
                  <a:lnTo>
                    <a:pt x="420" y="448"/>
                  </a:lnTo>
                  <a:lnTo>
                    <a:pt x="403" y="445"/>
                  </a:lnTo>
                  <a:lnTo>
                    <a:pt x="387" y="442"/>
                  </a:lnTo>
                  <a:lnTo>
                    <a:pt x="370" y="439"/>
                  </a:lnTo>
                  <a:lnTo>
                    <a:pt x="355" y="435"/>
                  </a:lnTo>
                  <a:lnTo>
                    <a:pt x="339" y="431"/>
                  </a:lnTo>
                  <a:lnTo>
                    <a:pt x="319" y="431"/>
                  </a:lnTo>
                  <a:lnTo>
                    <a:pt x="314" y="413"/>
                  </a:lnTo>
                  <a:lnTo>
                    <a:pt x="314" y="398"/>
                  </a:lnTo>
                  <a:lnTo>
                    <a:pt x="313" y="382"/>
                  </a:lnTo>
                  <a:lnTo>
                    <a:pt x="304" y="367"/>
                  </a:lnTo>
                  <a:lnTo>
                    <a:pt x="286" y="372"/>
                  </a:lnTo>
                  <a:lnTo>
                    <a:pt x="268" y="376"/>
                  </a:lnTo>
                  <a:lnTo>
                    <a:pt x="251" y="378"/>
                  </a:lnTo>
                  <a:lnTo>
                    <a:pt x="234" y="378"/>
                  </a:lnTo>
                  <a:lnTo>
                    <a:pt x="217" y="377"/>
                  </a:lnTo>
                  <a:lnTo>
                    <a:pt x="200" y="375"/>
                  </a:lnTo>
                  <a:lnTo>
                    <a:pt x="184" y="372"/>
                  </a:lnTo>
                  <a:lnTo>
                    <a:pt x="169" y="367"/>
                  </a:lnTo>
                  <a:lnTo>
                    <a:pt x="154" y="361"/>
                  </a:lnTo>
                  <a:lnTo>
                    <a:pt x="138" y="355"/>
                  </a:lnTo>
                  <a:lnTo>
                    <a:pt x="123" y="348"/>
                  </a:lnTo>
                  <a:lnTo>
                    <a:pt x="109" y="339"/>
                  </a:lnTo>
                  <a:lnTo>
                    <a:pt x="95" y="330"/>
                  </a:lnTo>
                  <a:lnTo>
                    <a:pt x="81" y="320"/>
                  </a:lnTo>
                  <a:lnTo>
                    <a:pt x="68" y="311"/>
                  </a:lnTo>
                  <a:lnTo>
                    <a:pt x="54" y="300"/>
                  </a:lnTo>
                  <a:lnTo>
                    <a:pt x="44" y="285"/>
                  </a:lnTo>
                  <a:lnTo>
                    <a:pt x="33" y="270"/>
                  </a:lnTo>
                  <a:lnTo>
                    <a:pt x="24" y="257"/>
                  </a:lnTo>
                  <a:lnTo>
                    <a:pt x="15" y="243"/>
                  </a:lnTo>
                  <a:lnTo>
                    <a:pt x="8" y="228"/>
                  </a:lnTo>
                  <a:lnTo>
                    <a:pt x="3" y="212"/>
                  </a:lnTo>
                  <a:lnTo>
                    <a:pt x="0" y="195"/>
                  </a:lnTo>
                  <a:lnTo>
                    <a:pt x="2" y="176"/>
                  </a:lnTo>
                  <a:lnTo>
                    <a:pt x="7" y="174"/>
                  </a:lnTo>
                  <a:lnTo>
                    <a:pt x="11" y="169"/>
                  </a:lnTo>
                  <a:lnTo>
                    <a:pt x="12" y="161"/>
                  </a:lnTo>
                  <a:lnTo>
                    <a:pt x="11" y="155"/>
                  </a:lnTo>
                  <a:lnTo>
                    <a:pt x="24" y="162"/>
                  </a:lnTo>
                  <a:lnTo>
                    <a:pt x="28" y="177"/>
                  </a:lnTo>
                  <a:lnTo>
                    <a:pt x="29" y="196"/>
                  </a:lnTo>
                  <a:lnTo>
                    <a:pt x="32" y="212"/>
                  </a:lnTo>
                  <a:lnTo>
                    <a:pt x="43" y="236"/>
                  </a:lnTo>
                  <a:lnTo>
                    <a:pt x="58" y="259"/>
                  </a:lnTo>
                  <a:lnTo>
                    <a:pt x="74" y="279"/>
                  </a:lnTo>
                  <a:lnTo>
                    <a:pt x="96" y="297"/>
                  </a:lnTo>
                  <a:lnTo>
                    <a:pt x="118" y="312"/>
                  </a:lnTo>
                  <a:lnTo>
                    <a:pt x="143" y="324"/>
                  </a:lnTo>
                  <a:lnTo>
                    <a:pt x="169" y="335"/>
                  </a:lnTo>
                  <a:lnTo>
                    <a:pt x="195" y="342"/>
                  </a:lnTo>
                  <a:lnTo>
                    <a:pt x="218" y="345"/>
                  </a:lnTo>
                  <a:lnTo>
                    <a:pt x="243" y="343"/>
                  </a:lnTo>
                  <a:lnTo>
                    <a:pt x="266" y="341"/>
                  </a:lnTo>
                  <a:lnTo>
                    <a:pt x="288" y="336"/>
                  </a:lnTo>
                  <a:lnTo>
                    <a:pt x="310" y="329"/>
                  </a:lnTo>
                  <a:lnTo>
                    <a:pt x="329" y="317"/>
                  </a:lnTo>
                  <a:lnTo>
                    <a:pt x="346" y="301"/>
                  </a:lnTo>
                  <a:lnTo>
                    <a:pt x="361" y="282"/>
                  </a:lnTo>
                  <a:lnTo>
                    <a:pt x="369" y="266"/>
                  </a:lnTo>
                  <a:lnTo>
                    <a:pt x="377" y="249"/>
                  </a:lnTo>
                  <a:lnTo>
                    <a:pt x="384" y="231"/>
                  </a:lnTo>
                  <a:lnTo>
                    <a:pt x="388" y="212"/>
                  </a:lnTo>
                  <a:lnTo>
                    <a:pt x="392" y="194"/>
                  </a:lnTo>
                  <a:lnTo>
                    <a:pt x="392" y="174"/>
                  </a:lnTo>
                  <a:lnTo>
                    <a:pt x="388" y="156"/>
                  </a:lnTo>
                  <a:lnTo>
                    <a:pt x="381" y="137"/>
                  </a:lnTo>
                  <a:lnTo>
                    <a:pt x="369" y="127"/>
                  </a:lnTo>
                  <a:lnTo>
                    <a:pt x="358" y="118"/>
                  </a:lnTo>
                  <a:lnTo>
                    <a:pt x="346" y="107"/>
                  </a:lnTo>
                  <a:lnTo>
                    <a:pt x="335" y="97"/>
                  </a:lnTo>
                  <a:lnTo>
                    <a:pt x="325" y="85"/>
                  </a:lnTo>
                  <a:lnTo>
                    <a:pt x="318" y="73"/>
                  </a:lnTo>
                  <a:lnTo>
                    <a:pt x="312" y="58"/>
                  </a:lnTo>
                  <a:lnTo>
                    <a:pt x="311" y="43"/>
                  </a:lnTo>
                  <a:lnTo>
                    <a:pt x="321" y="31"/>
                  </a:lnTo>
                  <a:lnTo>
                    <a:pt x="332" y="22"/>
                  </a:lnTo>
                  <a:lnTo>
                    <a:pt x="344" y="15"/>
                  </a:lnTo>
                  <a:lnTo>
                    <a:pt x="358" y="9"/>
                  </a:lnTo>
                  <a:lnTo>
                    <a:pt x="372" y="5"/>
                  </a:lnTo>
                  <a:lnTo>
                    <a:pt x="386" y="2"/>
                  </a:lnTo>
                  <a:lnTo>
                    <a:pt x="401" y="1"/>
                  </a:lnTo>
                  <a:lnTo>
                    <a:pt x="417" y="0"/>
                  </a:lnTo>
                  <a:lnTo>
                    <a:pt x="432" y="1"/>
                  </a:lnTo>
                  <a:lnTo>
                    <a:pt x="448" y="2"/>
                  </a:lnTo>
                  <a:lnTo>
                    <a:pt x="463" y="4"/>
                  </a:lnTo>
                  <a:lnTo>
                    <a:pt x="479" y="6"/>
                  </a:lnTo>
                  <a:lnTo>
                    <a:pt x="494" y="9"/>
                  </a:lnTo>
                  <a:lnTo>
                    <a:pt x="509" y="12"/>
                  </a:lnTo>
                  <a:lnTo>
                    <a:pt x="524" y="15"/>
                  </a:lnTo>
                  <a:lnTo>
                    <a:pt x="537" y="17"/>
                  </a:lnTo>
                  <a:lnTo>
                    <a:pt x="554" y="3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8" name="Google Shape;728;p3"/>
            <p:cNvSpPr/>
            <p:nvPr/>
          </p:nvSpPr>
          <p:spPr>
            <a:xfrm>
              <a:off x="5110" y="3634"/>
              <a:ext cx="14" cy="3"/>
            </a:xfrm>
            <a:custGeom>
              <a:avLst/>
              <a:gdLst/>
              <a:ahLst/>
              <a:cxnLst/>
              <a:rect l="l" t="t" r="r" b="b"/>
              <a:pathLst>
                <a:path w="113" h="30" extrusionOk="0">
                  <a:moveTo>
                    <a:pt x="113" y="10"/>
                  </a:moveTo>
                  <a:lnTo>
                    <a:pt x="105" y="17"/>
                  </a:lnTo>
                  <a:lnTo>
                    <a:pt x="97" y="22"/>
                  </a:lnTo>
                  <a:lnTo>
                    <a:pt x="86" y="25"/>
                  </a:lnTo>
                  <a:lnTo>
                    <a:pt x="76" y="27"/>
                  </a:lnTo>
                  <a:lnTo>
                    <a:pt x="64" y="28"/>
                  </a:lnTo>
                  <a:lnTo>
                    <a:pt x="53" y="28"/>
                  </a:lnTo>
                  <a:lnTo>
                    <a:pt x="43" y="29"/>
                  </a:lnTo>
                  <a:lnTo>
                    <a:pt x="34" y="30"/>
                  </a:lnTo>
                  <a:lnTo>
                    <a:pt x="0" y="17"/>
                  </a:lnTo>
                  <a:lnTo>
                    <a:pt x="12" y="10"/>
                  </a:lnTo>
                  <a:lnTo>
                    <a:pt x="26" y="4"/>
                  </a:lnTo>
                  <a:lnTo>
                    <a:pt x="40" y="2"/>
                  </a:lnTo>
                  <a:lnTo>
                    <a:pt x="53" y="0"/>
                  </a:lnTo>
                  <a:lnTo>
                    <a:pt x="67" y="1"/>
                  </a:lnTo>
                  <a:lnTo>
                    <a:pt x="82" y="2"/>
                  </a:lnTo>
                  <a:lnTo>
                    <a:pt x="98" y="5"/>
                  </a:lnTo>
                  <a:lnTo>
                    <a:pt x="113" y="1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29" name="Google Shape;729;p3"/>
            <p:cNvSpPr/>
            <p:nvPr/>
          </p:nvSpPr>
          <p:spPr>
            <a:xfrm>
              <a:off x="5013" y="3663"/>
              <a:ext cx="238" cy="206"/>
            </a:xfrm>
            <a:custGeom>
              <a:avLst/>
              <a:gdLst/>
              <a:ahLst/>
              <a:cxnLst/>
              <a:rect l="l" t="t" r="r" b="b"/>
              <a:pathLst>
                <a:path w="1900" h="1647" extrusionOk="0">
                  <a:moveTo>
                    <a:pt x="1810" y="268"/>
                  </a:moveTo>
                  <a:lnTo>
                    <a:pt x="1842" y="333"/>
                  </a:lnTo>
                  <a:lnTo>
                    <a:pt x="1867" y="407"/>
                  </a:lnTo>
                  <a:lnTo>
                    <a:pt x="1886" y="485"/>
                  </a:lnTo>
                  <a:lnTo>
                    <a:pt x="1897" y="565"/>
                  </a:lnTo>
                  <a:lnTo>
                    <a:pt x="1900" y="646"/>
                  </a:lnTo>
                  <a:lnTo>
                    <a:pt x="1895" y="725"/>
                  </a:lnTo>
                  <a:lnTo>
                    <a:pt x="1880" y="800"/>
                  </a:lnTo>
                  <a:lnTo>
                    <a:pt x="1857" y="869"/>
                  </a:lnTo>
                  <a:lnTo>
                    <a:pt x="1843" y="904"/>
                  </a:lnTo>
                  <a:lnTo>
                    <a:pt x="1828" y="938"/>
                  </a:lnTo>
                  <a:lnTo>
                    <a:pt x="1810" y="973"/>
                  </a:lnTo>
                  <a:lnTo>
                    <a:pt x="1791" y="1007"/>
                  </a:lnTo>
                  <a:lnTo>
                    <a:pt x="1769" y="1041"/>
                  </a:lnTo>
                  <a:lnTo>
                    <a:pt x="1747" y="1074"/>
                  </a:lnTo>
                  <a:lnTo>
                    <a:pt x="1722" y="1106"/>
                  </a:lnTo>
                  <a:lnTo>
                    <a:pt x="1696" y="1137"/>
                  </a:lnTo>
                  <a:lnTo>
                    <a:pt x="1669" y="1167"/>
                  </a:lnTo>
                  <a:lnTo>
                    <a:pt x="1641" y="1196"/>
                  </a:lnTo>
                  <a:lnTo>
                    <a:pt x="1612" y="1222"/>
                  </a:lnTo>
                  <a:lnTo>
                    <a:pt x="1582" y="1249"/>
                  </a:lnTo>
                  <a:lnTo>
                    <a:pt x="1551" y="1273"/>
                  </a:lnTo>
                  <a:lnTo>
                    <a:pt x="1521" y="1296"/>
                  </a:lnTo>
                  <a:lnTo>
                    <a:pt x="1490" y="1316"/>
                  </a:lnTo>
                  <a:lnTo>
                    <a:pt x="1458" y="1335"/>
                  </a:lnTo>
                  <a:lnTo>
                    <a:pt x="1454" y="1340"/>
                  </a:lnTo>
                  <a:lnTo>
                    <a:pt x="1449" y="1345"/>
                  </a:lnTo>
                  <a:lnTo>
                    <a:pt x="1444" y="1350"/>
                  </a:lnTo>
                  <a:lnTo>
                    <a:pt x="1439" y="1354"/>
                  </a:lnTo>
                  <a:lnTo>
                    <a:pt x="1435" y="1359"/>
                  </a:lnTo>
                  <a:lnTo>
                    <a:pt x="1432" y="1366"/>
                  </a:lnTo>
                  <a:lnTo>
                    <a:pt x="1430" y="1372"/>
                  </a:lnTo>
                  <a:lnTo>
                    <a:pt x="1430" y="1380"/>
                  </a:lnTo>
                  <a:lnTo>
                    <a:pt x="1425" y="1386"/>
                  </a:lnTo>
                  <a:lnTo>
                    <a:pt x="1421" y="1393"/>
                  </a:lnTo>
                  <a:lnTo>
                    <a:pt x="1418" y="1403"/>
                  </a:lnTo>
                  <a:lnTo>
                    <a:pt x="1413" y="1410"/>
                  </a:lnTo>
                  <a:lnTo>
                    <a:pt x="1416" y="1421"/>
                  </a:lnTo>
                  <a:lnTo>
                    <a:pt x="1420" y="1431"/>
                  </a:lnTo>
                  <a:lnTo>
                    <a:pt x="1425" y="1442"/>
                  </a:lnTo>
                  <a:lnTo>
                    <a:pt x="1429" y="1451"/>
                  </a:lnTo>
                  <a:lnTo>
                    <a:pt x="1434" y="1461"/>
                  </a:lnTo>
                  <a:lnTo>
                    <a:pt x="1437" y="1470"/>
                  </a:lnTo>
                  <a:lnTo>
                    <a:pt x="1441" y="1480"/>
                  </a:lnTo>
                  <a:lnTo>
                    <a:pt x="1445" y="1491"/>
                  </a:lnTo>
                  <a:lnTo>
                    <a:pt x="1433" y="1498"/>
                  </a:lnTo>
                  <a:lnTo>
                    <a:pt x="1422" y="1505"/>
                  </a:lnTo>
                  <a:lnTo>
                    <a:pt x="1410" y="1511"/>
                  </a:lnTo>
                  <a:lnTo>
                    <a:pt x="1398" y="1516"/>
                  </a:lnTo>
                  <a:lnTo>
                    <a:pt x="1385" y="1520"/>
                  </a:lnTo>
                  <a:lnTo>
                    <a:pt x="1372" y="1525"/>
                  </a:lnTo>
                  <a:lnTo>
                    <a:pt x="1359" y="1528"/>
                  </a:lnTo>
                  <a:lnTo>
                    <a:pt x="1345" y="1531"/>
                  </a:lnTo>
                  <a:lnTo>
                    <a:pt x="1333" y="1533"/>
                  </a:lnTo>
                  <a:lnTo>
                    <a:pt x="1319" y="1535"/>
                  </a:lnTo>
                  <a:lnTo>
                    <a:pt x="1305" y="1537"/>
                  </a:lnTo>
                  <a:lnTo>
                    <a:pt x="1291" y="1539"/>
                  </a:lnTo>
                  <a:lnTo>
                    <a:pt x="1278" y="1540"/>
                  </a:lnTo>
                  <a:lnTo>
                    <a:pt x="1264" y="1543"/>
                  </a:lnTo>
                  <a:lnTo>
                    <a:pt x="1250" y="1545"/>
                  </a:lnTo>
                  <a:lnTo>
                    <a:pt x="1236" y="1547"/>
                  </a:lnTo>
                  <a:lnTo>
                    <a:pt x="1211" y="1548"/>
                  </a:lnTo>
                  <a:lnTo>
                    <a:pt x="1187" y="1549"/>
                  </a:lnTo>
                  <a:lnTo>
                    <a:pt x="1162" y="1551"/>
                  </a:lnTo>
                  <a:lnTo>
                    <a:pt x="1138" y="1552"/>
                  </a:lnTo>
                  <a:lnTo>
                    <a:pt x="1114" y="1554"/>
                  </a:lnTo>
                  <a:lnTo>
                    <a:pt x="1089" y="1555"/>
                  </a:lnTo>
                  <a:lnTo>
                    <a:pt x="1065" y="1557"/>
                  </a:lnTo>
                  <a:lnTo>
                    <a:pt x="1041" y="1559"/>
                  </a:lnTo>
                  <a:lnTo>
                    <a:pt x="1018" y="1561"/>
                  </a:lnTo>
                  <a:lnTo>
                    <a:pt x="993" y="1563"/>
                  </a:lnTo>
                  <a:lnTo>
                    <a:pt x="970" y="1565"/>
                  </a:lnTo>
                  <a:lnTo>
                    <a:pt x="946" y="1566"/>
                  </a:lnTo>
                  <a:lnTo>
                    <a:pt x="922" y="1568"/>
                  </a:lnTo>
                  <a:lnTo>
                    <a:pt x="899" y="1569"/>
                  </a:lnTo>
                  <a:lnTo>
                    <a:pt x="876" y="1571"/>
                  </a:lnTo>
                  <a:lnTo>
                    <a:pt x="853" y="1572"/>
                  </a:lnTo>
                  <a:lnTo>
                    <a:pt x="817" y="1572"/>
                  </a:lnTo>
                  <a:lnTo>
                    <a:pt x="781" y="1573"/>
                  </a:lnTo>
                  <a:lnTo>
                    <a:pt x="745" y="1575"/>
                  </a:lnTo>
                  <a:lnTo>
                    <a:pt x="709" y="1577"/>
                  </a:lnTo>
                  <a:lnTo>
                    <a:pt x="673" y="1581"/>
                  </a:lnTo>
                  <a:lnTo>
                    <a:pt x="636" y="1585"/>
                  </a:lnTo>
                  <a:lnTo>
                    <a:pt x="600" y="1589"/>
                  </a:lnTo>
                  <a:lnTo>
                    <a:pt x="563" y="1594"/>
                  </a:lnTo>
                  <a:lnTo>
                    <a:pt x="527" y="1600"/>
                  </a:lnTo>
                  <a:lnTo>
                    <a:pt x="490" y="1605"/>
                  </a:lnTo>
                  <a:lnTo>
                    <a:pt x="454" y="1611"/>
                  </a:lnTo>
                  <a:lnTo>
                    <a:pt x="417" y="1618"/>
                  </a:lnTo>
                  <a:lnTo>
                    <a:pt x="381" y="1624"/>
                  </a:lnTo>
                  <a:lnTo>
                    <a:pt x="345" y="1629"/>
                  </a:lnTo>
                  <a:lnTo>
                    <a:pt x="310" y="1636"/>
                  </a:lnTo>
                  <a:lnTo>
                    <a:pt x="274" y="1642"/>
                  </a:lnTo>
                  <a:lnTo>
                    <a:pt x="267" y="1643"/>
                  </a:lnTo>
                  <a:lnTo>
                    <a:pt x="259" y="1645"/>
                  </a:lnTo>
                  <a:lnTo>
                    <a:pt x="249" y="1646"/>
                  </a:lnTo>
                  <a:lnTo>
                    <a:pt x="239" y="1647"/>
                  </a:lnTo>
                  <a:lnTo>
                    <a:pt x="228" y="1646"/>
                  </a:lnTo>
                  <a:lnTo>
                    <a:pt x="218" y="1644"/>
                  </a:lnTo>
                  <a:lnTo>
                    <a:pt x="210" y="1640"/>
                  </a:lnTo>
                  <a:lnTo>
                    <a:pt x="204" y="1633"/>
                  </a:lnTo>
                  <a:lnTo>
                    <a:pt x="206" y="1616"/>
                  </a:lnTo>
                  <a:lnTo>
                    <a:pt x="211" y="1602"/>
                  </a:lnTo>
                  <a:lnTo>
                    <a:pt x="221" y="1590"/>
                  </a:lnTo>
                  <a:lnTo>
                    <a:pt x="232" y="1580"/>
                  </a:lnTo>
                  <a:lnTo>
                    <a:pt x="246" y="1571"/>
                  </a:lnTo>
                  <a:lnTo>
                    <a:pt x="261" y="1564"/>
                  </a:lnTo>
                  <a:lnTo>
                    <a:pt x="276" y="1557"/>
                  </a:lnTo>
                  <a:lnTo>
                    <a:pt x="289" y="1551"/>
                  </a:lnTo>
                  <a:lnTo>
                    <a:pt x="302" y="1547"/>
                  </a:lnTo>
                  <a:lnTo>
                    <a:pt x="315" y="1544"/>
                  </a:lnTo>
                  <a:lnTo>
                    <a:pt x="328" y="1543"/>
                  </a:lnTo>
                  <a:lnTo>
                    <a:pt x="343" y="1541"/>
                  </a:lnTo>
                  <a:lnTo>
                    <a:pt x="356" y="1540"/>
                  </a:lnTo>
                  <a:lnTo>
                    <a:pt x="369" y="1536"/>
                  </a:lnTo>
                  <a:lnTo>
                    <a:pt x="379" y="1530"/>
                  </a:lnTo>
                  <a:lnTo>
                    <a:pt x="388" y="1519"/>
                  </a:lnTo>
                  <a:lnTo>
                    <a:pt x="394" y="1517"/>
                  </a:lnTo>
                  <a:lnTo>
                    <a:pt x="400" y="1518"/>
                  </a:lnTo>
                  <a:lnTo>
                    <a:pt x="407" y="1519"/>
                  </a:lnTo>
                  <a:lnTo>
                    <a:pt x="413" y="1521"/>
                  </a:lnTo>
                  <a:lnTo>
                    <a:pt x="419" y="1522"/>
                  </a:lnTo>
                  <a:lnTo>
                    <a:pt x="423" y="1521"/>
                  </a:lnTo>
                  <a:lnTo>
                    <a:pt x="426" y="1517"/>
                  </a:lnTo>
                  <a:lnTo>
                    <a:pt x="426" y="1509"/>
                  </a:lnTo>
                  <a:lnTo>
                    <a:pt x="408" y="1503"/>
                  </a:lnTo>
                  <a:lnTo>
                    <a:pt x="389" y="1501"/>
                  </a:lnTo>
                  <a:lnTo>
                    <a:pt x="369" y="1502"/>
                  </a:lnTo>
                  <a:lnTo>
                    <a:pt x="347" y="1505"/>
                  </a:lnTo>
                  <a:lnTo>
                    <a:pt x="327" y="1511"/>
                  </a:lnTo>
                  <a:lnTo>
                    <a:pt x="306" y="1516"/>
                  </a:lnTo>
                  <a:lnTo>
                    <a:pt x="286" y="1523"/>
                  </a:lnTo>
                  <a:lnTo>
                    <a:pt x="267" y="1530"/>
                  </a:lnTo>
                  <a:lnTo>
                    <a:pt x="250" y="1539"/>
                  </a:lnTo>
                  <a:lnTo>
                    <a:pt x="233" y="1549"/>
                  </a:lnTo>
                  <a:lnTo>
                    <a:pt x="216" y="1559"/>
                  </a:lnTo>
                  <a:lnTo>
                    <a:pt x="200" y="1570"/>
                  </a:lnTo>
                  <a:lnTo>
                    <a:pt x="185" y="1582"/>
                  </a:lnTo>
                  <a:lnTo>
                    <a:pt x="171" y="1594"/>
                  </a:lnTo>
                  <a:lnTo>
                    <a:pt x="157" y="1608"/>
                  </a:lnTo>
                  <a:lnTo>
                    <a:pt x="144" y="1622"/>
                  </a:lnTo>
                  <a:lnTo>
                    <a:pt x="138" y="1620"/>
                  </a:lnTo>
                  <a:lnTo>
                    <a:pt x="132" y="1617"/>
                  </a:lnTo>
                  <a:lnTo>
                    <a:pt x="126" y="1612"/>
                  </a:lnTo>
                  <a:lnTo>
                    <a:pt x="123" y="1607"/>
                  </a:lnTo>
                  <a:lnTo>
                    <a:pt x="120" y="1601"/>
                  </a:lnTo>
                  <a:lnTo>
                    <a:pt x="119" y="1594"/>
                  </a:lnTo>
                  <a:lnTo>
                    <a:pt x="120" y="1587"/>
                  </a:lnTo>
                  <a:lnTo>
                    <a:pt x="123" y="1580"/>
                  </a:lnTo>
                  <a:lnTo>
                    <a:pt x="131" y="1561"/>
                  </a:lnTo>
                  <a:lnTo>
                    <a:pt x="141" y="1545"/>
                  </a:lnTo>
                  <a:lnTo>
                    <a:pt x="154" y="1531"/>
                  </a:lnTo>
                  <a:lnTo>
                    <a:pt x="169" y="1520"/>
                  </a:lnTo>
                  <a:lnTo>
                    <a:pt x="185" y="1511"/>
                  </a:lnTo>
                  <a:lnTo>
                    <a:pt x="203" y="1502"/>
                  </a:lnTo>
                  <a:lnTo>
                    <a:pt x="219" y="1495"/>
                  </a:lnTo>
                  <a:lnTo>
                    <a:pt x="236" y="1486"/>
                  </a:lnTo>
                  <a:lnTo>
                    <a:pt x="245" y="1486"/>
                  </a:lnTo>
                  <a:lnTo>
                    <a:pt x="253" y="1488"/>
                  </a:lnTo>
                  <a:lnTo>
                    <a:pt x="262" y="1487"/>
                  </a:lnTo>
                  <a:lnTo>
                    <a:pt x="267" y="1481"/>
                  </a:lnTo>
                  <a:lnTo>
                    <a:pt x="267" y="1456"/>
                  </a:lnTo>
                  <a:lnTo>
                    <a:pt x="256" y="1458"/>
                  </a:lnTo>
                  <a:lnTo>
                    <a:pt x="247" y="1461"/>
                  </a:lnTo>
                  <a:lnTo>
                    <a:pt x="236" y="1464"/>
                  </a:lnTo>
                  <a:lnTo>
                    <a:pt x="225" y="1468"/>
                  </a:lnTo>
                  <a:lnTo>
                    <a:pt x="214" y="1473"/>
                  </a:lnTo>
                  <a:lnTo>
                    <a:pt x="203" y="1476"/>
                  </a:lnTo>
                  <a:lnTo>
                    <a:pt x="191" y="1479"/>
                  </a:lnTo>
                  <a:lnTo>
                    <a:pt x="179" y="1481"/>
                  </a:lnTo>
                  <a:lnTo>
                    <a:pt x="159" y="1491"/>
                  </a:lnTo>
                  <a:lnTo>
                    <a:pt x="140" y="1502"/>
                  </a:lnTo>
                  <a:lnTo>
                    <a:pt x="122" y="1515"/>
                  </a:lnTo>
                  <a:lnTo>
                    <a:pt x="107" y="1530"/>
                  </a:lnTo>
                  <a:lnTo>
                    <a:pt x="93" y="1547"/>
                  </a:lnTo>
                  <a:lnTo>
                    <a:pt x="81" y="1565"/>
                  </a:lnTo>
                  <a:lnTo>
                    <a:pt x="71" y="1585"/>
                  </a:lnTo>
                  <a:lnTo>
                    <a:pt x="63" y="1607"/>
                  </a:lnTo>
                  <a:lnTo>
                    <a:pt x="58" y="1614"/>
                  </a:lnTo>
                  <a:lnTo>
                    <a:pt x="51" y="1617"/>
                  </a:lnTo>
                  <a:lnTo>
                    <a:pt x="44" y="1617"/>
                  </a:lnTo>
                  <a:lnTo>
                    <a:pt x="37" y="1616"/>
                  </a:lnTo>
                  <a:lnTo>
                    <a:pt x="29" y="1614"/>
                  </a:lnTo>
                  <a:lnTo>
                    <a:pt x="22" y="1610"/>
                  </a:lnTo>
                  <a:lnTo>
                    <a:pt x="14" y="1607"/>
                  </a:lnTo>
                  <a:lnTo>
                    <a:pt x="7" y="1604"/>
                  </a:lnTo>
                  <a:lnTo>
                    <a:pt x="0" y="1581"/>
                  </a:lnTo>
                  <a:lnTo>
                    <a:pt x="0" y="1558"/>
                  </a:lnTo>
                  <a:lnTo>
                    <a:pt x="6" y="1537"/>
                  </a:lnTo>
                  <a:lnTo>
                    <a:pt x="17" y="1518"/>
                  </a:lnTo>
                  <a:lnTo>
                    <a:pt x="30" y="1500"/>
                  </a:lnTo>
                  <a:lnTo>
                    <a:pt x="45" y="1483"/>
                  </a:lnTo>
                  <a:lnTo>
                    <a:pt x="59" y="1466"/>
                  </a:lnTo>
                  <a:lnTo>
                    <a:pt x="70" y="1451"/>
                  </a:lnTo>
                  <a:lnTo>
                    <a:pt x="99" y="1437"/>
                  </a:lnTo>
                  <a:lnTo>
                    <a:pt x="128" y="1423"/>
                  </a:lnTo>
                  <a:lnTo>
                    <a:pt x="157" y="1411"/>
                  </a:lnTo>
                  <a:lnTo>
                    <a:pt x="188" y="1401"/>
                  </a:lnTo>
                  <a:lnTo>
                    <a:pt x="217" y="1391"/>
                  </a:lnTo>
                  <a:lnTo>
                    <a:pt x="249" y="1383"/>
                  </a:lnTo>
                  <a:lnTo>
                    <a:pt x="280" y="1376"/>
                  </a:lnTo>
                  <a:lnTo>
                    <a:pt x="311" y="1370"/>
                  </a:lnTo>
                  <a:lnTo>
                    <a:pt x="343" y="1364"/>
                  </a:lnTo>
                  <a:lnTo>
                    <a:pt x="376" y="1359"/>
                  </a:lnTo>
                  <a:lnTo>
                    <a:pt x="409" y="1355"/>
                  </a:lnTo>
                  <a:lnTo>
                    <a:pt x="441" y="1352"/>
                  </a:lnTo>
                  <a:lnTo>
                    <a:pt x="474" y="1349"/>
                  </a:lnTo>
                  <a:lnTo>
                    <a:pt x="508" y="1346"/>
                  </a:lnTo>
                  <a:lnTo>
                    <a:pt x="541" y="1344"/>
                  </a:lnTo>
                  <a:lnTo>
                    <a:pt x="575" y="1342"/>
                  </a:lnTo>
                  <a:lnTo>
                    <a:pt x="597" y="1342"/>
                  </a:lnTo>
                  <a:lnTo>
                    <a:pt x="618" y="1341"/>
                  </a:lnTo>
                  <a:lnTo>
                    <a:pt x="639" y="1340"/>
                  </a:lnTo>
                  <a:lnTo>
                    <a:pt x="660" y="1340"/>
                  </a:lnTo>
                  <a:lnTo>
                    <a:pt x="680" y="1339"/>
                  </a:lnTo>
                  <a:lnTo>
                    <a:pt x="700" y="1339"/>
                  </a:lnTo>
                  <a:lnTo>
                    <a:pt x="721" y="1339"/>
                  </a:lnTo>
                  <a:lnTo>
                    <a:pt x="741" y="1339"/>
                  </a:lnTo>
                  <a:lnTo>
                    <a:pt x="761" y="1341"/>
                  </a:lnTo>
                  <a:lnTo>
                    <a:pt x="781" y="1342"/>
                  </a:lnTo>
                  <a:lnTo>
                    <a:pt x="800" y="1345"/>
                  </a:lnTo>
                  <a:lnTo>
                    <a:pt x="820" y="1349"/>
                  </a:lnTo>
                  <a:lnTo>
                    <a:pt x="839" y="1354"/>
                  </a:lnTo>
                  <a:lnTo>
                    <a:pt x="859" y="1359"/>
                  </a:lnTo>
                  <a:lnTo>
                    <a:pt x="878" y="1367"/>
                  </a:lnTo>
                  <a:lnTo>
                    <a:pt x="898" y="1375"/>
                  </a:lnTo>
                  <a:lnTo>
                    <a:pt x="962" y="1385"/>
                  </a:lnTo>
                  <a:lnTo>
                    <a:pt x="967" y="1388"/>
                  </a:lnTo>
                  <a:lnTo>
                    <a:pt x="973" y="1390"/>
                  </a:lnTo>
                  <a:lnTo>
                    <a:pt x="980" y="1393"/>
                  </a:lnTo>
                  <a:lnTo>
                    <a:pt x="987" y="1396"/>
                  </a:lnTo>
                  <a:lnTo>
                    <a:pt x="993" y="1399"/>
                  </a:lnTo>
                  <a:lnTo>
                    <a:pt x="1000" y="1404"/>
                  </a:lnTo>
                  <a:lnTo>
                    <a:pt x="1006" y="1408"/>
                  </a:lnTo>
                  <a:lnTo>
                    <a:pt x="1011" y="1413"/>
                  </a:lnTo>
                  <a:lnTo>
                    <a:pt x="1024" y="1416"/>
                  </a:lnTo>
                  <a:lnTo>
                    <a:pt x="1037" y="1420"/>
                  </a:lnTo>
                  <a:lnTo>
                    <a:pt x="1049" y="1424"/>
                  </a:lnTo>
                  <a:lnTo>
                    <a:pt x="1062" y="1427"/>
                  </a:lnTo>
                  <a:lnTo>
                    <a:pt x="1076" y="1430"/>
                  </a:lnTo>
                  <a:lnTo>
                    <a:pt x="1088" y="1432"/>
                  </a:lnTo>
                  <a:lnTo>
                    <a:pt x="1101" y="1431"/>
                  </a:lnTo>
                  <a:lnTo>
                    <a:pt x="1113" y="1428"/>
                  </a:lnTo>
                  <a:lnTo>
                    <a:pt x="1119" y="1428"/>
                  </a:lnTo>
                  <a:lnTo>
                    <a:pt x="1125" y="1428"/>
                  </a:lnTo>
                  <a:lnTo>
                    <a:pt x="1132" y="1428"/>
                  </a:lnTo>
                  <a:lnTo>
                    <a:pt x="1139" y="1427"/>
                  </a:lnTo>
                  <a:lnTo>
                    <a:pt x="1145" y="1425"/>
                  </a:lnTo>
                  <a:lnTo>
                    <a:pt x="1152" y="1423"/>
                  </a:lnTo>
                  <a:lnTo>
                    <a:pt x="1157" y="1419"/>
                  </a:lnTo>
                  <a:lnTo>
                    <a:pt x="1162" y="1413"/>
                  </a:lnTo>
                  <a:lnTo>
                    <a:pt x="1159" y="1362"/>
                  </a:lnTo>
                  <a:lnTo>
                    <a:pt x="1151" y="1314"/>
                  </a:lnTo>
                  <a:lnTo>
                    <a:pt x="1137" y="1267"/>
                  </a:lnTo>
                  <a:lnTo>
                    <a:pt x="1120" y="1220"/>
                  </a:lnTo>
                  <a:lnTo>
                    <a:pt x="1102" y="1175"/>
                  </a:lnTo>
                  <a:lnTo>
                    <a:pt x="1086" y="1128"/>
                  </a:lnTo>
                  <a:lnTo>
                    <a:pt x="1073" y="1082"/>
                  </a:lnTo>
                  <a:lnTo>
                    <a:pt x="1064" y="1032"/>
                  </a:lnTo>
                  <a:lnTo>
                    <a:pt x="1054" y="1009"/>
                  </a:lnTo>
                  <a:lnTo>
                    <a:pt x="1048" y="987"/>
                  </a:lnTo>
                  <a:lnTo>
                    <a:pt x="1046" y="963"/>
                  </a:lnTo>
                  <a:lnTo>
                    <a:pt x="1048" y="938"/>
                  </a:lnTo>
                  <a:lnTo>
                    <a:pt x="1051" y="914"/>
                  </a:lnTo>
                  <a:lnTo>
                    <a:pt x="1057" y="891"/>
                  </a:lnTo>
                  <a:lnTo>
                    <a:pt x="1062" y="867"/>
                  </a:lnTo>
                  <a:lnTo>
                    <a:pt x="1067" y="845"/>
                  </a:lnTo>
                  <a:lnTo>
                    <a:pt x="1077" y="841"/>
                  </a:lnTo>
                  <a:lnTo>
                    <a:pt x="1079" y="831"/>
                  </a:lnTo>
                  <a:lnTo>
                    <a:pt x="1078" y="821"/>
                  </a:lnTo>
                  <a:lnTo>
                    <a:pt x="1082" y="812"/>
                  </a:lnTo>
                  <a:lnTo>
                    <a:pt x="1096" y="792"/>
                  </a:lnTo>
                  <a:lnTo>
                    <a:pt x="1111" y="774"/>
                  </a:lnTo>
                  <a:lnTo>
                    <a:pt x="1126" y="756"/>
                  </a:lnTo>
                  <a:lnTo>
                    <a:pt x="1143" y="740"/>
                  </a:lnTo>
                  <a:lnTo>
                    <a:pt x="1161" y="727"/>
                  </a:lnTo>
                  <a:lnTo>
                    <a:pt x="1181" y="716"/>
                  </a:lnTo>
                  <a:lnTo>
                    <a:pt x="1204" y="710"/>
                  </a:lnTo>
                  <a:lnTo>
                    <a:pt x="1229" y="706"/>
                  </a:lnTo>
                  <a:lnTo>
                    <a:pt x="1253" y="706"/>
                  </a:lnTo>
                  <a:lnTo>
                    <a:pt x="1277" y="707"/>
                  </a:lnTo>
                  <a:lnTo>
                    <a:pt x="1299" y="711"/>
                  </a:lnTo>
                  <a:lnTo>
                    <a:pt x="1320" y="716"/>
                  </a:lnTo>
                  <a:lnTo>
                    <a:pt x="1341" y="721"/>
                  </a:lnTo>
                  <a:lnTo>
                    <a:pt x="1360" y="729"/>
                  </a:lnTo>
                  <a:lnTo>
                    <a:pt x="1379" y="737"/>
                  </a:lnTo>
                  <a:lnTo>
                    <a:pt x="1398" y="747"/>
                  </a:lnTo>
                  <a:lnTo>
                    <a:pt x="1416" y="757"/>
                  </a:lnTo>
                  <a:lnTo>
                    <a:pt x="1433" y="769"/>
                  </a:lnTo>
                  <a:lnTo>
                    <a:pt x="1450" y="781"/>
                  </a:lnTo>
                  <a:lnTo>
                    <a:pt x="1466" y="793"/>
                  </a:lnTo>
                  <a:lnTo>
                    <a:pt x="1482" y="807"/>
                  </a:lnTo>
                  <a:lnTo>
                    <a:pt x="1497" y="821"/>
                  </a:lnTo>
                  <a:lnTo>
                    <a:pt x="1513" y="836"/>
                  </a:lnTo>
                  <a:lnTo>
                    <a:pt x="1528" y="851"/>
                  </a:lnTo>
                  <a:lnTo>
                    <a:pt x="1543" y="876"/>
                  </a:lnTo>
                  <a:lnTo>
                    <a:pt x="1551" y="906"/>
                  </a:lnTo>
                  <a:lnTo>
                    <a:pt x="1554" y="935"/>
                  </a:lnTo>
                  <a:lnTo>
                    <a:pt x="1550" y="964"/>
                  </a:lnTo>
                  <a:lnTo>
                    <a:pt x="1550" y="975"/>
                  </a:lnTo>
                  <a:lnTo>
                    <a:pt x="1548" y="985"/>
                  </a:lnTo>
                  <a:lnTo>
                    <a:pt x="1546" y="996"/>
                  </a:lnTo>
                  <a:lnTo>
                    <a:pt x="1544" y="1007"/>
                  </a:lnTo>
                  <a:lnTo>
                    <a:pt x="1543" y="1017"/>
                  </a:lnTo>
                  <a:lnTo>
                    <a:pt x="1545" y="1026"/>
                  </a:lnTo>
                  <a:lnTo>
                    <a:pt x="1550" y="1034"/>
                  </a:lnTo>
                  <a:lnTo>
                    <a:pt x="1561" y="1039"/>
                  </a:lnTo>
                  <a:lnTo>
                    <a:pt x="1563" y="1021"/>
                  </a:lnTo>
                  <a:lnTo>
                    <a:pt x="1566" y="1002"/>
                  </a:lnTo>
                  <a:lnTo>
                    <a:pt x="1570" y="985"/>
                  </a:lnTo>
                  <a:lnTo>
                    <a:pt x="1578" y="971"/>
                  </a:lnTo>
                  <a:lnTo>
                    <a:pt x="1579" y="936"/>
                  </a:lnTo>
                  <a:lnTo>
                    <a:pt x="1576" y="902"/>
                  </a:lnTo>
                  <a:lnTo>
                    <a:pt x="1569" y="870"/>
                  </a:lnTo>
                  <a:lnTo>
                    <a:pt x="1559" y="839"/>
                  </a:lnTo>
                  <a:lnTo>
                    <a:pt x="1546" y="809"/>
                  </a:lnTo>
                  <a:lnTo>
                    <a:pt x="1528" y="782"/>
                  </a:lnTo>
                  <a:lnTo>
                    <a:pt x="1507" y="755"/>
                  </a:lnTo>
                  <a:lnTo>
                    <a:pt x="1483" y="732"/>
                  </a:lnTo>
                  <a:lnTo>
                    <a:pt x="1462" y="720"/>
                  </a:lnTo>
                  <a:lnTo>
                    <a:pt x="1440" y="709"/>
                  </a:lnTo>
                  <a:lnTo>
                    <a:pt x="1419" y="698"/>
                  </a:lnTo>
                  <a:lnTo>
                    <a:pt x="1397" y="687"/>
                  </a:lnTo>
                  <a:lnTo>
                    <a:pt x="1375" y="678"/>
                  </a:lnTo>
                  <a:lnTo>
                    <a:pt x="1352" y="669"/>
                  </a:lnTo>
                  <a:lnTo>
                    <a:pt x="1329" y="662"/>
                  </a:lnTo>
                  <a:lnTo>
                    <a:pt x="1306" y="656"/>
                  </a:lnTo>
                  <a:lnTo>
                    <a:pt x="1283" y="650"/>
                  </a:lnTo>
                  <a:lnTo>
                    <a:pt x="1260" y="647"/>
                  </a:lnTo>
                  <a:lnTo>
                    <a:pt x="1237" y="645"/>
                  </a:lnTo>
                  <a:lnTo>
                    <a:pt x="1214" y="644"/>
                  </a:lnTo>
                  <a:lnTo>
                    <a:pt x="1191" y="645"/>
                  </a:lnTo>
                  <a:lnTo>
                    <a:pt x="1169" y="648"/>
                  </a:lnTo>
                  <a:lnTo>
                    <a:pt x="1145" y="653"/>
                  </a:lnTo>
                  <a:lnTo>
                    <a:pt x="1123" y="661"/>
                  </a:lnTo>
                  <a:lnTo>
                    <a:pt x="1099" y="670"/>
                  </a:lnTo>
                  <a:lnTo>
                    <a:pt x="1077" y="683"/>
                  </a:lnTo>
                  <a:lnTo>
                    <a:pt x="1057" y="698"/>
                  </a:lnTo>
                  <a:lnTo>
                    <a:pt x="1040" y="715"/>
                  </a:lnTo>
                  <a:lnTo>
                    <a:pt x="1024" y="735"/>
                  </a:lnTo>
                  <a:lnTo>
                    <a:pt x="1012" y="756"/>
                  </a:lnTo>
                  <a:lnTo>
                    <a:pt x="1004" y="780"/>
                  </a:lnTo>
                  <a:lnTo>
                    <a:pt x="1000" y="805"/>
                  </a:lnTo>
                  <a:lnTo>
                    <a:pt x="994" y="811"/>
                  </a:lnTo>
                  <a:lnTo>
                    <a:pt x="994" y="818"/>
                  </a:lnTo>
                  <a:lnTo>
                    <a:pt x="995" y="825"/>
                  </a:lnTo>
                  <a:lnTo>
                    <a:pt x="994" y="834"/>
                  </a:lnTo>
                  <a:lnTo>
                    <a:pt x="985" y="895"/>
                  </a:lnTo>
                  <a:lnTo>
                    <a:pt x="985" y="952"/>
                  </a:lnTo>
                  <a:lnTo>
                    <a:pt x="993" y="1007"/>
                  </a:lnTo>
                  <a:lnTo>
                    <a:pt x="1008" y="1060"/>
                  </a:lnTo>
                  <a:lnTo>
                    <a:pt x="1026" y="1112"/>
                  </a:lnTo>
                  <a:lnTo>
                    <a:pt x="1045" y="1164"/>
                  </a:lnTo>
                  <a:lnTo>
                    <a:pt x="1063" y="1216"/>
                  </a:lnTo>
                  <a:lnTo>
                    <a:pt x="1078" y="1269"/>
                  </a:lnTo>
                  <a:lnTo>
                    <a:pt x="1086" y="1285"/>
                  </a:lnTo>
                  <a:lnTo>
                    <a:pt x="1095" y="1302"/>
                  </a:lnTo>
                  <a:lnTo>
                    <a:pt x="1101" y="1318"/>
                  </a:lnTo>
                  <a:lnTo>
                    <a:pt x="1100" y="1335"/>
                  </a:lnTo>
                  <a:lnTo>
                    <a:pt x="1113" y="1350"/>
                  </a:lnTo>
                  <a:lnTo>
                    <a:pt x="1104" y="1360"/>
                  </a:lnTo>
                  <a:lnTo>
                    <a:pt x="1095" y="1366"/>
                  </a:lnTo>
                  <a:lnTo>
                    <a:pt x="1085" y="1367"/>
                  </a:lnTo>
                  <a:lnTo>
                    <a:pt x="1076" y="1364"/>
                  </a:lnTo>
                  <a:lnTo>
                    <a:pt x="1065" y="1361"/>
                  </a:lnTo>
                  <a:lnTo>
                    <a:pt x="1054" y="1358"/>
                  </a:lnTo>
                  <a:lnTo>
                    <a:pt x="1042" y="1356"/>
                  </a:lnTo>
                  <a:lnTo>
                    <a:pt x="1029" y="1357"/>
                  </a:lnTo>
                  <a:lnTo>
                    <a:pt x="1015" y="1353"/>
                  </a:lnTo>
                  <a:lnTo>
                    <a:pt x="1002" y="1349"/>
                  </a:lnTo>
                  <a:lnTo>
                    <a:pt x="988" y="1345"/>
                  </a:lnTo>
                  <a:lnTo>
                    <a:pt x="974" y="1342"/>
                  </a:lnTo>
                  <a:lnTo>
                    <a:pt x="962" y="1340"/>
                  </a:lnTo>
                  <a:lnTo>
                    <a:pt x="948" y="1338"/>
                  </a:lnTo>
                  <a:lnTo>
                    <a:pt x="934" y="1337"/>
                  </a:lnTo>
                  <a:lnTo>
                    <a:pt x="920" y="1335"/>
                  </a:lnTo>
                  <a:lnTo>
                    <a:pt x="907" y="1334"/>
                  </a:lnTo>
                  <a:lnTo>
                    <a:pt x="893" y="1333"/>
                  </a:lnTo>
                  <a:lnTo>
                    <a:pt x="878" y="1331"/>
                  </a:lnTo>
                  <a:lnTo>
                    <a:pt x="864" y="1330"/>
                  </a:lnTo>
                  <a:lnTo>
                    <a:pt x="849" y="1327"/>
                  </a:lnTo>
                  <a:lnTo>
                    <a:pt x="836" y="1324"/>
                  </a:lnTo>
                  <a:lnTo>
                    <a:pt x="821" y="1321"/>
                  </a:lnTo>
                  <a:lnTo>
                    <a:pt x="806" y="1318"/>
                  </a:lnTo>
                  <a:lnTo>
                    <a:pt x="818" y="1260"/>
                  </a:lnTo>
                  <a:lnTo>
                    <a:pt x="832" y="1201"/>
                  </a:lnTo>
                  <a:lnTo>
                    <a:pt x="846" y="1145"/>
                  </a:lnTo>
                  <a:lnTo>
                    <a:pt x="862" y="1088"/>
                  </a:lnTo>
                  <a:lnTo>
                    <a:pt x="879" y="1032"/>
                  </a:lnTo>
                  <a:lnTo>
                    <a:pt x="896" y="977"/>
                  </a:lnTo>
                  <a:lnTo>
                    <a:pt x="915" y="920"/>
                  </a:lnTo>
                  <a:lnTo>
                    <a:pt x="934" y="865"/>
                  </a:lnTo>
                  <a:lnTo>
                    <a:pt x="940" y="837"/>
                  </a:lnTo>
                  <a:lnTo>
                    <a:pt x="947" y="808"/>
                  </a:lnTo>
                  <a:lnTo>
                    <a:pt x="954" y="780"/>
                  </a:lnTo>
                  <a:lnTo>
                    <a:pt x="962" y="751"/>
                  </a:lnTo>
                  <a:lnTo>
                    <a:pt x="970" y="722"/>
                  </a:lnTo>
                  <a:lnTo>
                    <a:pt x="978" y="694"/>
                  </a:lnTo>
                  <a:lnTo>
                    <a:pt x="986" y="665"/>
                  </a:lnTo>
                  <a:lnTo>
                    <a:pt x="994" y="636"/>
                  </a:lnTo>
                  <a:lnTo>
                    <a:pt x="1006" y="642"/>
                  </a:lnTo>
                  <a:lnTo>
                    <a:pt x="1018" y="647"/>
                  </a:lnTo>
                  <a:lnTo>
                    <a:pt x="1029" y="652"/>
                  </a:lnTo>
                  <a:lnTo>
                    <a:pt x="1042" y="657"/>
                  </a:lnTo>
                  <a:lnTo>
                    <a:pt x="1055" y="660"/>
                  </a:lnTo>
                  <a:lnTo>
                    <a:pt x="1067" y="661"/>
                  </a:lnTo>
                  <a:lnTo>
                    <a:pt x="1081" y="661"/>
                  </a:lnTo>
                  <a:lnTo>
                    <a:pt x="1096" y="657"/>
                  </a:lnTo>
                  <a:lnTo>
                    <a:pt x="1108" y="651"/>
                  </a:lnTo>
                  <a:lnTo>
                    <a:pt x="1120" y="644"/>
                  </a:lnTo>
                  <a:lnTo>
                    <a:pt x="1132" y="635"/>
                  </a:lnTo>
                  <a:lnTo>
                    <a:pt x="1141" y="626"/>
                  </a:lnTo>
                  <a:lnTo>
                    <a:pt x="1150" y="614"/>
                  </a:lnTo>
                  <a:lnTo>
                    <a:pt x="1156" y="603"/>
                  </a:lnTo>
                  <a:lnTo>
                    <a:pt x="1162" y="590"/>
                  </a:lnTo>
                  <a:lnTo>
                    <a:pt x="1166" y="576"/>
                  </a:lnTo>
                  <a:lnTo>
                    <a:pt x="1185" y="576"/>
                  </a:lnTo>
                  <a:lnTo>
                    <a:pt x="1205" y="576"/>
                  </a:lnTo>
                  <a:lnTo>
                    <a:pt x="1226" y="575"/>
                  </a:lnTo>
                  <a:lnTo>
                    <a:pt x="1246" y="573"/>
                  </a:lnTo>
                  <a:lnTo>
                    <a:pt x="1265" y="568"/>
                  </a:lnTo>
                  <a:lnTo>
                    <a:pt x="1283" y="560"/>
                  </a:lnTo>
                  <a:lnTo>
                    <a:pt x="1299" y="549"/>
                  </a:lnTo>
                  <a:lnTo>
                    <a:pt x="1311" y="533"/>
                  </a:lnTo>
                  <a:lnTo>
                    <a:pt x="1316" y="530"/>
                  </a:lnTo>
                  <a:lnTo>
                    <a:pt x="1321" y="526"/>
                  </a:lnTo>
                  <a:lnTo>
                    <a:pt x="1325" y="521"/>
                  </a:lnTo>
                  <a:lnTo>
                    <a:pt x="1329" y="515"/>
                  </a:lnTo>
                  <a:lnTo>
                    <a:pt x="1334" y="509"/>
                  </a:lnTo>
                  <a:lnTo>
                    <a:pt x="1338" y="503"/>
                  </a:lnTo>
                  <a:lnTo>
                    <a:pt x="1342" y="497"/>
                  </a:lnTo>
                  <a:lnTo>
                    <a:pt x="1346" y="491"/>
                  </a:lnTo>
                  <a:lnTo>
                    <a:pt x="1360" y="462"/>
                  </a:lnTo>
                  <a:lnTo>
                    <a:pt x="1365" y="428"/>
                  </a:lnTo>
                  <a:lnTo>
                    <a:pt x="1361" y="394"/>
                  </a:lnTo>
                  <a:lnTo>
                    <a:pt x="1349" y="364"/>
                  </a:lnTo>
                  <a:lnTo>
                    <a:pt x="1343" y="360"/>
                  </a:lnTo>
                  <a:lnTo>
                    <a:pt x="1337" y="359"/>
                  </a:lnTo>
                  <a:lnTo>
                    <a:pt x="1332" y="361"/>
                  </a:lnTo>
                  <a:lnTo>
                    <a:pt x="1328" y="368"/>
                  </a:lnTo>
                  <a:lnTo>
                    <a:pt x="1335" y="386"/>
                  </a:lnTo>
                  <a:lnTo>
                    <a:pt x="1336" y="405"/>
                  </a:lnTo>
                  <a:lnTo>
                    <a:pt x="1334" y="425"/>
                  </a:lnTo>
                  <a:lnTo>
                    <a:pt x="1328" y="443"/>
                  </a:lnTo>
                  <a:lnTo>
                    <a:pt x="1321" y="461"/>
                  </a:lnTo>
                  <a:lnTo>
                    <a:pt x="1311" y="478"/>
                  </a:lnTo>
                  <a:lnTo>
                    <a:pt x="1300" y="494"/>
                  </a:lnTo>
                  <a:lnTo>
                    <a:pt x="1289" y="509"/>
                  </a:lnTo>
                  <a:lnTo>
                    <a:pt x="1278" y="519"/>
                  </a:lnTo>
                  <a:lnTo>
                    <a:pt x="1265" y="526"/>
                  </a:lnTo>
                  <a:lnTo>
                    <a:pt x="1252" y="533"/>
                  </a:lnTo>
                  <a:lnTo>
                    <a:pt x="1240" y="537"/>
                  </a:lnTo>
                  <a:lnTo>
                    <a:pt x="1226" y="540"/>
                  </a:lnTo>
                  <a:lnTo>
                    <a:pt x="1211" y="542"/>
                  </a:lnTo>
                  <a:lnTo>
                    <a:pt x="1197" y="542"/>
                  </a:lnTo>
                  <a:lnTo>
                    <a:pt x="1184" y="540"/>
                  </a:lnTo>
                  <a:lnTo>
                    <a:pt x="1169" y="535"/>
                  </a:lnTo>
                  <a:lnTo>
                    <a:pt x="1155" y="528"/>
                  </a:lnTo>
                  <a:lnTo>
                    <a:pt x="1142" y="521"/>
                  </a:lnTo>
                  <a:lnTo>
                    <a:pt x="1130" y="514"/>
                  </a:lnTo>
                  <a:lnTo>
                    <a:pt x="1117" y="507"/>
                  </a:lnTo>
                  <a:lnTo>
                    <a:pt x="1104" y="501"/>
                  </a:lnTo>
                  <a:lnTo>
                    <a:pt x="1092" y="496"/>
                  </a:lnTo>
                  <a:lnTo>
                    <a:pt x="1078" y="491"/>
                  </a:lnTo>
                  <a:lnTo>
                    <a:pt x="1075" y="499"/>
                  </a:lnTo>
                  <a:lnTo>
                    <a:pt x="1068" y="502"/>
                  </a:lnTo>
                  <a:lnTo>
                    <a:pt x="1063" y="506"/>
                  </a:lnTo>
                  <a:lnTo>
                    <a:pt x="1064" y="516"/>
                  </a:lnTo>
                  <a:lnTo>
                    <a:pt x="1075" y="521"/>
                  </a:lnTo>
                  <a:lnTo>
                    <a:pt x="1083" y="528"/>
                  </a:lnTo>
                  <a:lnTo>
                    <a:pt x="1091" y="537"/>
                  </a:lnTo>
                  <a:lnTo>
                    <a:pt x="1097" y="547"/>
                  </a:lnTo>
                  <a:lnTo>
                    <a:pt x="1101" y="558"/>
                  </a:lnTo>
                  <a:lnTo>
                    <a:pt x="1104" y="570"/>
                  </a:lnTo>
                  <a:lnTo>
                    <a:pt x="1105" y="581"/>
                  </a:lnTo>
                  <a:lnTo>
                    <a:pt x="1105" y="593"/>
                  </a:lnTo>
                  <a:lnTo>
                    <a:pt x="1100" y="604"/>
                  </a:lnTo>
                  <a:lnTo>
                    <a:pt x="1093" y="611"/>
                  </a:lnTo>
                  <a:lnTo>
                    <a:pt x="1082" y="615"/>
                  </a:lnTo>
                  <a:lnTo>
                    <a:pt x="1070" y="618"/>
                  </a:lnTo>
                  <a:lnTo>
                    <a:pt x="1058" y="618"/>
                  </a:lnTo>
                  <a:lnTo>
                    <a:pt x="1045" y="617"/>
                  </a:lnTo>
                  <a:lnTo>
                    <a:pt x="1032" y="616"/>
                  </a:lnTo>
                  <a:lnTo>
                    <a:pt x="1022" y="615"/>
                  </a:lnTo>
                  <a:lnTo>
                    <a:pt x="1002" y="610"/>
                  </a:lnTo>
                  <a:lnTo>
                    <a:pt x="984" y="600"/>
                  </a:lnTo>
                  <a:lnTo>
                    <a:pt x="967" y="589"/>
                  </a:lnTo>
                  <a:lnTo>
                    <a:pt x="952" y="575"/>
                  </a:lnTo>
                  <a:lnTo>
                    <a:pt x="938" y="560"/>
                  </a:lnTo>
                  <a:lnTo>
                    <a:pt x="925" y="543"/>
                  </a:lnTo>
                  <a:lnTo>
                    <a:pt x="912" y="526"/>
                  </a:lnTo>
                  <a:lnTo>
                    <a:pt x="898" y="509"/>
                  </a:lnTo>
                  <a:lnTo>
                    <a:pt x="885" y="509"/>
                  </a:lnTo>
                  <a:lnTo>
                    <a:pt x="878" y="512"/>
                  </a:lnTo>
                  <a:lnTo>
                    <a:pt x="873" y="520"/>
                  </a:lnTo>
                  <a:lnTo>
                    <a:pt x="870" y="528"/>
                  </a:lnTo>
                  <a:lnTo>
                    <a:pt x="866" y="539"/>
                  </a:lnTo>
                  <a:lnTo>
                    <a:pt x="863" y="549"/>
                  </a:lnTo>
                  <a:lnTo>
                    <a:pt x="859" y="558"/>
                  </a:lnTo>
                  <a:lnTo>
                    <a:pt x="853" y="565"/>
                  </a:lnTo>
                  <a:lnTo>
                    <a:pt x="844" y="588"/>
                  </a:lnTo>
                  <a:lnTo>
                    <a:pt x="832" y="607"/>
                  </a:lnTo>
                  <a:lnTo>
                    <a:pt x="815" y="624"/>
                  </a:lnTo>
                  <a:lnTo>
                    <a:pt x="797" y="638"/>
                  </a:lnTo>
                  <a:lnTo>
                    <a:pt x="777" y="651"/>
                  </a:lnTo>
                  <a:lnTo>
                    <a:pt x="755" y="664"/>
                  </a:lnTo>
                  <a:lnTo>
                    <a:pt x="735" y="676"/>
                  </a:lnTo>
                  <a:lnTo>
                    <a:pt x="715" y="689"/>
                  </a:lnTo>
                  <a:lnTo>
                    <a:pt x="702" y="692"/>
                  </a:lnTo>
                  <a:lnTo>
                    <a:pt x="687" y="693"/>
                  </a:lnTo>
                  <a:lnTo>
                    <a:pt x="673" y="694"/>
                  </a:lnTo>
                  <a:lnTo>
                    <a:pt x="658" y="693"/>
                  </a:lnTo>
                  <a:lnTo>
                    <a:pt x="644" y="689"/>
                  </a:lnTo>
                  <a:lnTo>
                    <a:pt x="632" y="685"/>
                  </a:lnTo>
                  <a:lnTo>
                    <a:pt x="620" y="678"/>
                  </a:lnTo>
                  <a:lnTo>
                    <a:pt x="610" y="668"/>
                  </a:lnTo>
                  <a:lnTo>
                    <a:pt x="598" y="646"/>
                  </a:lnTo>
                  <a:lnTo>
                    <a:pt x="591" y="623"/>
                  </a:lnTo>
                  <a:lnTo>
                    <a:pt x="586" y="599"/>
                  </a:lnTo>
                  <a:lnTo>
                    <a:pt x="584" y="574"/>
                  </a:lnTo>
                  <a:lnTo>
                    <a:pt x="584" y="550"/>
                  </a:lnTo>
                  <a:lnTo>
                    <a:pt x="585" y="524"/>
                  </a:lnTo>
                  <a:lnTo>
                    <a:pt x="585" y="499"/>
                  </a:lnTo>
                  <a:lnTo>
                    <a:pt x="584" y="474"/>
                  </a:lnTo>
                  <a:lnTo>
                    <a:pt x="563" y="478"/>
                  </a:lnTo>
                  <a:lnTo>
                    <a:pt x="544" y="484"/>
                  </a:lnTo>
                  <a:lnTo>
                    <a:pt x="524" y="492"/>
                  </a:lnTo>
                  <a:lnTo>
                    <a:pt x="505" y="502"/>
                  </a:lnTo>
                  <a:lnTo>
                    <a:pt x="485" y="512"/>
                  </a:lnTo>
                  <a:lnTo>
                    <a:pt x="466" y="523"/>
                  </a:lnTo>
                  <a:lnTo>
                    <a:pt x="446" y="533"/>
                  </a:lnTo>
                  <a:lnTo>
                    <a:pt x="426" y="540"/>
                  </a:lnTo>
                  <a:lnTo>
                    <a:pt x="412" y="547"/>
                  </a:lnTo>
                  <a:lnTo>
                    <a:pt x="397" y="554"/>
                  </a:lnTo>
                  <a:lnTo>
                    <a:pt x="381" y="560"/>
                  </a:lnTo>
                  <a:lnTo>
                    <a:pt x="364" y="565"/>
                  </a:lnTo>
                  <a:lnTo>
                    <a:pt x="347" y="571"/>
                  </a:lnTo>
                  <a:lnTo>
                    <a:pt x="330" y="575"/>
                  </a:lnTo>
                  <a:lnTo>
                    <a:pt x="313" y="578"/>
                  </a:lnTo>
                  <a:lnTo>
                    <a:pt x="296" y="580"/>
                  </a:lnTo>
                  <a:lnTo>
                    <a:pt x="278" y="582"/>
                  </a:lnTo>
                  <a:lnTo>
                    <a:pt x="260" y="582"/>
                  </a:lnTo>
                  <a:lnTo>
                    <a:pt x="242" y="582"/>
                  </a:lnTo>
                  <a:lnTo>
                    <a:pt x="225" y="580"/>
                  </a:lnTo>
                  <a:lnTo>
                    <a:pt x="208" y="577"/>
                  </a:lnTo>
                  <a:lnTo>
                    <a:pt x="192" y="572"/>
                  </a:lnTo>
                  <a:lnTo>
                    <a:pt x="176" y="565"/>
                  </a:lnTo>
                  <a:lnTo>
                    <a:pt x="161" y="558"/>
                  </a:lnTo>
                  <a:lnTo>
                    <a:pt x="154" y="542"/>
                  </a:lnTo>
                  <a:lnTo>
                    <a:pt x="151" y="526"/>
                  </a:lnTo>
                  <a:lnTo>
                    <a:pt x="152" y="510"/>
                  </a:lnTo>
                  <a:lnTo>
                    <a:pt x="155" y="494"/>
                  </a:lnTo>
                  <a:lnTo>
                    <a:pt x="160" y="479"/>
                  </a:lnTo>
                  <a:lnTo>
                    <a:pt x="167" y="464"/>
                  </a:lnTo>
                  <a:lnTo>
                    <a:pt x="175" y="450"/>
                  </a:lnTo>
                  <a:lnTo>
                    <a:pt x="184" y="438"/>
                  </a:lnTo>
                  <a:lnTo>
                    <a:pt x="195" y="427"/>
                  </a:lnTo>
                  <a:lnTo>
                    <a:pt x="208" y="416"/>
                  </a:lnTo>
                  <a:lnTo>
                    <a:pt x="221" y="405"/>
                  </a:lnTo>
                  <a:lnTo>
                    <a:pt x="233" y="395"/>
                  </a:lnTo>
                  <a:lnTo>
                    <a:pt x="247" y="384"/>
                  </a:lnTo>
                  <a:lnTo>
                    <a:pt x="261" y="374"/>
                  </a:lnTo>
                  <a:lnTo>
                    <a:pt x="274" y="364"/>
                  </a:lnTo>
                  <a:lnTo>
                    <a:pt x="288" y="355"/>
                  </a:lnTo>
                  <a:lnTo>
                    <a:pt x="302" y="344"/>
                  </a:lnTo>
                  <a:lnTo>
                    <a:pt x="316" y="334"/>
                  </a:lnTo>
                  <a:lnTo>
                    <a:pt x="329" y="325"/>
                  </a:lnTo>
                  <a:lnTo>
                    <a:pt x="343" y="315"/>
                  </a:lnTo>
                  <a:lnTo>
                    <a:pt x="357" y="306"/>
                  </a:lnTo>
                  <a:lnTo>
                    <a:pt x="370" y="295"/>
                  </a:lnTo>
                  <a:lnTo>
                    <a:pt x="382" y="286"/>
                  </a:lnTo>
                  <a:lnTo>
                    <a:pt x="395" y="275"/>
                  </a:lnTo>
                  <a:lnTo>
                    <a:pt x="391" y="267"/>
                  </a:lnTo>
                  <a:lnTo>
                    <a:pt x="383" y="265"/>
                  </a:lnTo>
                  <a:lnTo>
                    <a:pt x="374" y="265"/>
                  </a:lnTo>
                  <a:lnTo>
                    <a:pt x="365" y="268"/>
                  </a:lnTo>
                  <a:lnTo>
                    <a:pt x="357" y="272"/>
                  </a:lnTo>
                  <a:lnTo>
                    <a:pt x="347" y="276"/>
                  </a:lnTo>
                  <a:lnTo>
                    <a:pt x="338" y="279"/>
                  </a:lnTo>
                  <a:lnTo>
                    <a:pt x="329" y="283"/>
                  </a:lnTo>
                  <a:lnTo>
                    <a:pt x="319" y="286"/>
                  </a:lnTo>
                  <a:lnTo>
                    <a:pt x="309" y="288"/>
                  </a:lnTo>
                  <a:lnTo>
                    <a:pt x="300" y="289"/>
                  </a:lnTo>
                  <a:lnTo>
                    <a:pt x="289" y="290"/>
                  </a:lnTo>
                  <a:lnTo>
                    <a:pt x="274" y="292"/>
                  </a:lnTo>
                  <a:lnTo>
                    <a:pt x="259" y="294"/>
                  </a:lnTo>
                  <a:lnTo>
                    <a:pt x="243" y="296"/>
                  </a:lnTo>
                  <a:lnTo>
                    <a:pt x="227" y="297"/>
                  </a:lnTo>
                  <a:lnTo>
                    <a:pt x="210" y="297"/>
                  </a:lnTo>
                  <a:lnTo>
                    <a:pt x="195" y="295"/>
                  </a:lnTo>
                  <a:lnTo>
                    <a:pt x="179" y="292"/>
                  </a:lnTo>
                  <a:lnTo>
                    <a:pt x="166" y="286"/>
                  </a:lnTo>
                  <a:lnTo>
                    <a:pt x="174" y="265"/>
                  </a:lnTo>
                  <a:lnTo>
                    <a:pt x="185" y="245"/>
                  </a:lnTo>
                  <a:lnTo>
                    <a:pt x="197" y="226"/>
                  </a:lnTo>
                  <a:lnTo>
                    <a:pt x="212" y="207"/>
                  </a:lnTo>
                  <a:lnTo>
                    <a:pt x="228" y="191"/>
                  </a:lnTo>
                  <a:lnTo>
                    <a:pt x="246" y="175"/>
                  </a:lnTo>
                  <a:lnTo>
                    <a:pt x="264" y="162"/>
                  </a:lnTo>
                  <a:lnTo>
                    <a:pt x="282" y="149"/>
                  </a:lnTo>
                  <a:lnTo>
                    <a:pt x="297" y="144"/>
                  </a:lnTo>
                  <a:lnTo>
                    <a:pt x="313" y="139"/>
                  </a:lnTo>
                  <a:lnTo>
                    <a:pt x="327" y="136"/>
                  </a:lnTo>
                  <a:lnTo>
                    <a:pt x="342" y="135"/>
                  </a:lnTo>
                  <a:lnTo>
                    <a:pt x="357" y="136"/>
                  </a:lnTo>
                  <a:lnTo>
                    <a:pt x="372" y="141"/>
                  </a:lnTo>
                  <a:lnTo>
                    <a:pt x="385" y="148"/>
                  </a:lnTo>
                  <a:lnTo>
                    <a:pt x="398" y="160"/>
                  </a:lnTo>
                  <a:lnTo>
                    <a:pt x="411" y="167"/>
                  </a:lnTo>
                  <a:lnTo>
                    <a:pt x="425" y="173"/>
                  </a:lnTo>
                  <a:lnTo>
                    <a:pt x="439" y="179"/>
                  </a:lnTo>
                  <a:lnTo>
                    <a:pt x="454" y="183"/>
                  </a:lnTo>
                  <a:lnTo>
                    <a:pt x="469" y="186"/>
                  </a:lnTo>
                  <a:lnTo>
                    <a:pt x="484" y="189"/>
                  </a:lnTo>
                  <a:lnTo>
                    <a:pt x="499" y="192"/>
                  </a:lnTo>
                  <a:lnTo>
                    <a:pt x="514" y="195"/>
                  </a:lnTo>
                  <a:lnTo>
                    <a:pt x="529" y="197"/>
                  </a:lnTo>
                  <a:lnTo>
                    <a:pt x="545" y="200"/>
                  </a:lnTo>
                  <a:lnTo>
                    <a:pt x="560" y="202"/>
                  </a:lnTo>
                  <a:lnTo>
                    <a:pt x="575" y="206"/>
                  </a:lnTo>
                  <a:lnTo>
                    <a:pt x="589" y="209"/>
                  </a:lnTo>
                  <a:lnTo>
                    <a:pt x="603" y="215"/>
                  </a:lnTo>
                  <a:lnTo>
                    <a:pt x="617" y="220"/>
                  </a:lnTo>
                  <a:lnTo>
                    <a:pt x="630" y="226"/>
                  </a:lnTo>
                  <a:lnTo>
                    <a:pt x="643" y="226"/>
                  </a:lnTo>
                  <a:lnTo>
                    <a:pt x="656" y="226"/>
                  </a:lnTo>
                  <a:lnTo>
                    <a:pt x="669" y="226"/>
                  </a:lnTo>
                  <a:lnTo>
                    <a:pt x="681" y="227"/>
                  </a:lnTo>
                  <a:lnTo>
                    <a:pt x="694" y="230"/>
                  </a:lnTo>
                  <a:lnTo>
                    <a:pt x="707" y="232"/>
                  </a:lnTo>
                  <a:lnTo>
                    <a:pt x="718" y="234"/>
                  </a:lnTo>
                  <a:lnTo>
                    <a:pt x="730" y="237"/>
                  </a:lnTo>
                  <a:lnTo>
                    <a:pt x="746" y="237"/>
                  </a:lnTo>
                  <a:lnTo>
                    <a:pt x="762" y="236"/>
                  </a:lnTo>
                  <a:lnTo>
                    <a:pt x="779" y="237"/>
                  </a:lnTo>
                  <a:lnTo>
                    <a:pt x="795" y="237"/>
                  </a:lnTo>
                  <a:lnTo>
                    <a:pt x="811" y="238"/>
                  </a:lnTo>
                  <a:lnTo>
                    <a:pt x="828" y="238"/>
                  </a:lnTo>
                  <a:lnTo>
                    <a:pt x="844" y="238"/>
                  </a:lnTo>
                  <a:lnTo>
                    <a:pt x="861" y="238"/>
                  </a:lnTo>
                  <a:lnTo>
                    <a:pt x="877" y="238"/>
                  </a:lnTo>
                  <a:lnTo>
                    <a:pt x="893" y="237"/>
                  </a:lnTo>
                  <a:lnTo>
                    <a:pt x="909" y="236"/>
                  </a:lnTo>
                  <a:lnTo>
                    <a:pt x="923" y="234"/>
                  </a:lnTo>
                  <a:lnTo>
                    <a:pt x="938" y="231"/>
                  </a:lnTo>
                  <a:lnTo>
                    <a:pt x="953" y="226"/>
                  </a:lnTo>
                  <a:lnTo>
                    <a:pt x="967" y="221"/>
                  </a:lnTo>
                  <a:lnTo>
                    <a:pt x="980" y="215"/>
                  </a:lnTo>
                  <a:lnTo>
                    <a:pt x="986" y="222"/>
                  </a:lnTo>
                  <a:lnTo>
                    <a:pt x="992" y="219"/>
                  </a:lnTo>
                  <a:lnTo>
                    <a:pt x="997" y="214"/>
                  </a:lnTo>
                  <a:lnTo>
                    <a:pt x="1007" y="212"/>
                  </a:lnTo>
                  <a:lnTo>
                    <a:pt x="1038" y="206"/>
                  </a:lnTo>
                  <a:lnTo>
                    <a:pt x="1067" y="201"/>
                  </a:lnTo>
                  <a:lnTo>
                    <a:pt x="1096" y="196"/>
                  </a:lnTo>
                  <a:lnTo>
                    <a:pt x="1125" y="189"/>
                  </a:lnTo>
                  <a:lnTo>
                    <a:pt x="1154" y="183"/>
                  </a:lnTo>
                  <a:lnTo>
                    <a:pt x="1181" y="175"/>
                  </a:lnTo>
                  <a:lnTo>
                    <a:pt x="1210" y="167"/>
                  </a:lnTo>
                  <a:lnTo>
                    <a:pt x="1237" y="159"/>
                  </a:lnTo>
                  <a:lnTo>
                    <a:pt x="1265" y="150"/>
                  </a:lnTo>
                  <a:lnTo>
                    <a:pt x="1292" y="141"/>
                  </a:lnTo>
                  <a:lnTo>
                    <a:pt x="1320" y="131"/>
                  </a:lnTo>
                  <a:lnTo>
                    <a:pt x="1346" y="120"/>
                  </a:lnTo>
                  <a:lnTo>
                    <a:pt x="1374" y="110"/>
                  </a:lnTo>
                  <a:lnTo>
                    <a:pt x="1400" y="98"/>
                  </a:lnTo>
                  <a:lnTo>
                    <a:pt x="1428" y="86"/>
                  </a:lnTo>
                  <a:lnTo>
                    <a:pt x="1455" y="74"/>
                  </a:lnTo>
                  <a:lnTo>
                    <a:pt x="1471" y="65"/>
                  </a:lnTo>
                  <a:lnTo>
                    <a:pt x="1487" y="57"/>
                  </a:lnTo>
                  <a:lnTo>
                    <a:pt x="1503" y="47"/>
                  </a:lnTo>
                  <a:lnTo>
                    <a:pt x="1518" y="38"/>
                  </a:lnTo>
                  <a:lnTo>
                    <a:pt x="1531" y="28"/>
                  </a:lnTo>
                  <a:lnTo>
                    <a:pt x="1546" y="19"/>
                  </a:lnTo>
                  <a:lnTo>
                    <a:pt x="1561" y="9"/>
                  </a:lnTo>
                  <a:lnTo>
                    <a:pt x="1576" y="0"/>
                  </a:lnTo>
                  <a:lnTo>
                    <a:pt x="1594" y="12"/>
                  </a:lnTo>
                  <a:lnTo>
                    <a:pt x="1612" y="26"/>
                  </a:lnTo>
                  <a:lnTo>
                    <a:pt x="1630" y="40"/>
                  </a:lnTo>
                  <a:lnTo>
                    <a:pt x="1648" y="55"/>
                  </a:lnTo>
                  <a:lnTo>
                    <a:pt x="1664" y="70"/>
                  </a:lnTo>
                  <a:lnTo>
                    <a:pt x="1681" y="84"/>
                  </a:lnTo>
                  <a:lnTo>
                    <a:pt x="1697" y="99"/>
                  </a:lnTo>
                  <a:lnTo>
                    <a:pt x="1713" y="116"/>
                  </a:lnTo>
                  <a:lnTo>
                    <a:pt x="1728" y="132"/>
                  </a:lnTo>
                  <a:lnTo>
                    <a:pt x="1742" y="150"/>
                  </a:lnTo>
                  <a:lnTo>
                    <a:pt x="1755" y="167"/>
                  </a:lnTo>
                  <a:lnTo>
                    <a:pt x="1768" y="186"/>
                  </a:lnTo>
                  <a:lnTo>
                    <a:pt x="1781" y="205"/>
                  </a:lnTo>
                  <a:lnTo>
                    <a:pt x="1791" y="225"/>
                  </a:lnTo>
                  <a:lnTo>
                    <a:pt x="1801" y="246"/>
                  </a:lnTo>
                  <a:lnTo>
                    <a:pt x="1810" y="268"/>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30" name="Google Shape;730;p3"/>
            <p:cNvSpPr/>
            <p:nvPr/>
          </p:nvSpPr>
          <p:spPr>
            <a:xfrm>
              <a:off x="5105" y="3669"/>
              <a:ext cx="7" cy="12"/>
            </a:xfrm>
            <a:custGeom>
              <a:avLst/>
              <a:gdLst/>
              <a:ahLst/>
              <a:cxnLst/>
              <a:rect l="l" t="t" r="r" b="b"/>
              <a:pathLst>
                <a:path w="55" h="102" extrusionOk="0">
                  <a:moveTo>
                    <a:pt x="52" y="99"/>
                  </a:moveTo>
                  <a:lnTo>
                    <a:pt x="47" y="101"/>
                  </a:lnTo>
                  <a:lnTo>
                    <a:pt x="40" y="102"/>
                  </a:lnTo>
                  <a:lnTo>
                    <a:pt x="35" y="100"/>
                  </a:lnTo>
                  <a:lnTo>
                    <a:pt x="30" y="98"/>
                  </a:lnTo>
                  <a:lnTo>
                    <a:pt x="25" y="94"/>
                  </a:lnTo>
                  <a:lnTo>
                    <a:pt x="18" y="91"/>
                  </a:lnTo>
                  <a:lnTo>
                    <a:pt x="13" y="89"/>
                  </a:lnTo>
                  <a:lnTo>
                    <a:pt x="7" y="88"/>
                  </a:lnTo>
                  <a:lnTo>
                    <a:pt x="0" y="70"/>
                  </a:lnTo>
                  <a:lnTo>
                    <a:pt x="0" y="56"/>
                  </a:lnTo>
                  <a:lnTo>
                    <a:pt x="6" y="46"/>
                  </a:lnTo>
                  <a:lnTo>
                    <a:pt x="15" y="36"/>
                  </a:lnTo>
                  <a:lnTo>
                    <a:pt x="26" y="28"/>
                  </a:lnTo>
                  <a:lnTo>
                    <a:pt x="37" y="20"/>
                  </a:lnTo>
                  <a:lnTo>
                    <a:pt x="48" y="11"/>
                  </a:lnTo>
                  <a:lnTo>
                    <a:pt x="55" y="0"/>
                  </a:lnTo>
                  <a:lnTo>
                    <a:pt x="53" y="22"/>
                  </a:lnTo>
                  <a:lnTo>
                    <a:pt x="50" y="48"/>
                  </a:lnTo>
                  <a:lnTo>
                    <a:pt x="49" y="73"/>
                  </a:lnTo>
                  <a:lnTo>
                    <a:pt x="52" y="9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31" name="Google Shape;731;p3"/>
            <p:cNvSpPr/>
            <p:nvPr/>
          </p:nvSpPr>
          <p:spPr>
            <a:xfrm>
              <a:off x="5114" y="3670"/>
              <a:ext cx="7" cy="13"/>
            </a:xfrm>
            <a:custGeom>
              <a:avLst/>
              <a:gdLst/>
              <a:ahLst/>
              <a:cxnLst/>
              <a:rect l="l" t="t" r="r" b="b"/>
              <a:pathLst>
                <a:path w="53" h="102" extrusionOk="0">
                  <a:moveTo>
                    <a:pt x="53" y="102"/>
                  </a:moveTo>
                  <a:lnTo>
                    <a:pt x="46" y="102"/>
                  </a:lnTo>
                  <a:lnTo>
                    <a:pt x="38" y="102"/>
                  </a:lnTo>
                  <a:lnTo>
                    <a:pt x="31" y="101"/>
                  </a:lnTo>
                  <a:lnTo>
                    <a:pt x="23" y="100"/>
                  </a:lnTo>
                  <a:lnTo>
                    <a:pt x="17" y="98"/>
                  </a:lnTo>
                  <a:lnTo>
                    <a:pt x="11" y="95"/>
                  </a:lnTo>
                  <a:lnTo>
                    <a:pt x="5" y="91"/>
                  </a:lnTo>
                  <a:lnTo>
                    <a:pt x="0" y="84"/>
                  </a:lnTo>
                  <a:lnTo>
                    <a:pt x="4" y="0"/>
                  </a:lnTo>
                  <a:lnTo>
                    <a:pt x="47" y="35"/>
                  </a:lnTo>
                  <a:lnTo>
                    <a:pt x="53" y="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32" name="Google Shape;732;p3"/>
            <p:cNvSpPr/>
            <p:nvPr/>
          </p:nvSpPr>
          <p:spPr>
            <a:xfrm>
              <a:off x="5075" y="3727"/>
              <a:ext cx="28" cy="97"/>
            </a:xfrm>
            <a:custGeom>
              <a:avLst/>
              <a:gdLst/>
              <a:ahLst/>
              <a:cxnLst/>
              <a:rect l="l" t="t" r="r" b="b"/>
              <a:pathLst>
                <a:path w="225" h="777" extrusionOk="0">
                  <a:moveTo>
                    <a:pt x="141" y="215"/>
                  </a:moveTo>
                  <a:lnTo>
                    <a:pt x="162" y="216"/>
                  </a:lnTo>
                  <a:lnTo>
                    <a:pt x="177" y="223"/>
                  </a:lnTo>
                  <a:lnTo>
                    <a:pt x="185" y="236"/>
                  </a:lnTo>
                  <a:lnTo>
                    <a:pt x="191" y="251"/>
                  </a:lnTo>
                  <a:lnTo>
                    <a:pt x="193" y="269"/>
                  </a:lnTo>
                  <a:lnTo>
                    <a:pt x="195" y="287"/>
                  </a:lnTo>
                  <a:lnTo>
                    <a:pt x="197" y="305"/>
                  </a:lnTo>
                  <a:lnTo>
                    <a:pt x="201" y="321"/>
                  </a:lnTo>
                  <a:lnTo>
                    <a:pt x="212" y="378"/>
                  </a:lnTo>
                  <a:lnTo>
                    <a:pt x="219" y="433"/>
                  </a:lnTo>
                  <a:lnTo>
                    <a:pt x="223" y="489"/>
                  </a:lnTo>
                  <a:lnTo>
                    <a:pt x="225" y="544"/>
                  </a:lnTo>
                  <a:lnTo>
                    <a:pt x="225" y="601"/>
                  </a:lnTo>
                  <a:lnTo>
                    <a:pt x="225" y="658"/>
                  </a:lnTo>
                  <a:lnTo>
                    <a:pt x="225" y="717"/>
                  </a:lnTo>
                  <a:lnTo>
                    <a:pt x="225" y="777"/>
                  </a:lnTo>
                  <a:lnTo>
                    <a:pt x="217" y="746"/>
                  </a:lnTo>
                  <a:lnTo>
                    <a:pt x="210" y="716"/>
                  </a:lnTo>
                  <a:lnTo>
                    <a:pt x="203" y="685"/>
                  </a:lnTo>
                  <a:lnTo>
                    <a:pt x="197" y="653"/>
                  </a:lnTo>
                  <a:lnTo>
                    <a:pt x="189" y="622"/>
                  </a:lnTo>
                  <a:lnTo>
                    <a:pt x="182" y="592"/>
                  </a:lnTo>
                  <a:lnTo>
                    <a:pt x="172" y="562"/>
                  </a:lnTo>
                  <a:lnTo>
                    <a:pt x="159" y="533"/>
                  </a:lnTo>
                  <a:lnTo>
                    <a:pt x="142" y="482"/>
                  </a:lnTo>
                  <a:lnTo>
                    <a:pt x="126" y="431"/>
                  </a:lnTo>
                  <a:lnTo>
                    <a:pt x="111" y="379"/>
                  </a:lnTo>
                  <a:lnTo>
                    <a:pt x="98" y="327"/>
                  </a:lnTo>
                  <a:lnTo>
                    <a:pt x="83" y="275"/>
                  </a:lnTo>
                  <a:lnTo>
                    <a:pt x="67" y="224"/>
                  </a:lnTo>
                  <a:lnTo>
                    <a:pt x="49" y="173"/>
                  </a:lnTo>
                  <a:lnTo>
                    <a:pt x="28" y="124"/>
                  </a:lnTo>
                  <a:lnTo>
                    <a:pt x="27" y="100"/>
                  </a:lnTo>
                  <a:lnTo>
                    <a:pt x="20" y="79"/>
                  </a:lnTo>
                  <a:lnTo>
                    <a:pt x="11" y="59"/>
                  </a:lnTo>
                  <a:lnTo>
                    <a:pt x="0" y="38"/>
                  </a:lnTo>
                  <a:lnTo>
                    <a:pt x="64" y="0"/>
                  </a:lnTo>
                  <a:lnTo>
                    <a:pt x="61" y="29"/>
                  </a:lnTo>
                  <a:lnTo>
                    <a:pt x="61" y="60"/>
                  </a:lnTo>
                  <a:lnTo>
                    <a:pt x="64" y="90"/>
                  </a:lnTo>
                  <a:lnTo>
                    <a:pt x="72" y="120"/>
                  </a:lnTo>
                  <a:lnTo>
                    <a:pt x="84" y="149"/>
                  </a:lnTo>
                  <a:lnTo>
                    <a:pt x="99" y="174"/>
                  </a:lnTo>
                  <a:lnTo>
                    <a:pt x="118" y="197"/>
                  </a:lnTo>
                  <a:lnTo>
                    <a:pt x="141" y="215"/>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33" name="Google Shape;733;p3"/>
            <p:cNvSpPr/>
            <p:nvPr/>
          </p:nvSpPr>
          <p:spPr>
            <a:xfrm>
              <a:off x="5106" y="3734"/>
              <a:ext cx="27" cy="94"/>
            </a:xfrm>
            <a:custGeom>
              <a:avLst/>
              <a:gdLst/>
              <a:ahLst/>
              <a:cxnLst/>
              <a:rect l="l" t="t" r="r" b="b"/>
              <a:pathLst>
                <a:path w="209" h="750" extrusionOk="0">
                  <a:moveTo>
                    <a:pt x="209" y="46"/>
                  </a:moveTo>
                  <a:lnTo>
                    <a:pt x="195" y="122"/>
                  </a:lnTo>
                  <a:lnTo>
                    <a:pt x="176" y="197"/>
                  </a:lnTo>
                  <a:lnTo>
                    <a:pt x="154" y="271"/>
                  </a:lnTo>
                  <a:lnTo>
                    <a:pt x="131" y="345"/>
                  </a:lnTo>
                  <a:lnTo>
                    <a:pt x="108" y="420"/>
                  </a:lnTo>
                  <a:lnTo>
                    <a:pt x="87" y="496"/>
                  </a:lnTo>
                  <a:lnTo>
                    <a:pt x="69" y="574"/>
                  </a:lnTo>
                  <a:lnTo>
                    <a:pt x="55" y="654"/>
                  </a:lnTo>
                  <a:lnTo>
                    <a:pt x="51" y="654"/>
                  </a:lnTo>
                  <a:lnTo>
                    <a:pt x="38" y="750"/>
                  </a:lnTo>
                  <a:lnTo>
                    <a:pt x="5" y="750"/>
                  </a:lnTo>
                  <a:lnTo>
                    <a:pt x="0" y="595"/>
                  </a:lnTo>
                  <a:lnTo>
                    <a:pt x="2" y="449"/>
                  </a:lnTo>
                  <a:lnTo>
                    <a:pt x="7" y="304"/>
                  </a:lnTo>
                  <a:lnTo>
                    <a:pt x="13" y="152"/>
                  </a:lnTo>
                  <a:lnTo>
                    <a:pt x="34" y="139"/>
                  </a:lnTo>
                  <a:lnTo>
                    <a:pt x="54" y="123"/>
                  </a:lnTo>
                  <a:lnTo>
                    <a:pt x="74" y="104"/>
                  </a:lnTo>
                  <a:lnTo>
                    <a:pt x="92" y="85"/>
                  </a:lnTo>
                  <a:lnTo>
                    <a:pt x="109" y="64"/>
                  </a:lnTo>
                  <a:lnTo>
                    <a:pt x="125" y="43"/>
                  </a:lnTo>
                  <a:lnTo>
                    <a:pt x="137" y="22"/>
                  </a:lnTo>
                  <a:lnTo>
                    <a:pt x="149" y="0"/>
                  </a:lnTo>
                  <a:lnTo>
                    <a:pt x="155" y="7"/>
                  </a:lnTo>
                  <a:lnTo>
                    <a:pt x="163" y="13"/>
                  </a:lnTo>
                  <a:lnTo>
                    <a:pt x="170" y="20"/>
                  </a:lnTo>
                  <a:lnTo>
                    <a:pt x="178" y="25"/>
                  </a:lnTo>
                  <a:lnTo>
                    <a:pt x="187" y="30"/>
                  </a:lnTo>
                  <a:lnTo>
                    <a:pt x="194" y="35"/>
                  </a:lnTo>
                  <a:lnTo>
                    <a:pt x="203" y="41"/>
                  </a:lnTo>
                  <a:lnTo>
                    <a:pt x="209" y="4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34" name="Google Shape;734;p3"/>
            <p:cNvSpPr/>
            <p:nvPr/>
          </p:nvSpPr>
          <p:spPr>
            <a:xfrm>
              <a:off x="4987" y="3735"/>
              <a:ext cx="112" cy="120"/>
            </a:xfrm>
            <a:custGeom>
              <a:avLst/>
              <a:gdLst/>
              <a:ahLst/>
              <a:cxnLst/>
              <a:rect l="l" t="t" r="r" b="b"/>
              <a:pathLst>
                <a:path w="899" h="960" extrusionOk="0">
                  <a:moveTo>
                    <a:pt x="687" y="56"/>
                  </a:moveTo>
                  <a:lnTo>
                    <a:pt x="701" y="87"/>
                  </a:lnTo>
                  <a:lnTo>
                    <a:pt x="714" y="118"/>
                  </a:lnTo>
                  <a:lnTo>
                    <a:pt x="725" y="149"/>
                  </a:lnTo>
                  <a:lnTo>
                    <a:pt x="737" y="181"/>
                  </a:lnTo>
                  <a:lnTo>
                    <a:pt x="748" y="213"/>
                  </a:lnTo>
                  <a:lnTo>
                    <a:pt x="757" y="246"/>
                  </a:lnTo>
                  <a:lnTo>
                    <a:pt x="768" y="279"/>
                  </a:lnTo>
                  <a:lnTo>
                    <a:pt x="777" y="311"/>
                  </a:lnTo>
                  <a:lnTo>
                    <a:pt x="787" y="344"/>
                  </a:lnTo>
                  <a:lnTo>
                    <a:pt x="797" y="378"/>
                  </a:lnTo>
                  <a:lnTo>
                    <a:pt x="807" y="411"/>
                  </a:lnTo>
                  <a:lnTo>
                    <a:pt x="817" y="444"/>
                  </a:lnTo>
                  <a:lnTo>
                    <a:pt x="829" y="477"/>
                  </a:lnTo>
                  <a:lnTo>
                    <a:pt x="841" y="509"/>
                  </a:lnTo>
                  <a:lnTo>
                    <a:pt x="853" y="540"/>
                  </a:lnTo>
                  <a:lnTo>
                    <a:pt x="867" y="572"/>
                  </a:lnTo>
                  <a:lnTo>
                    <a:pt x="872" y="593"/>
                  </a:lnTo>
                  <a:lnTo>
                    <a:pt x="878" y="615"/>
                  </a:lnTo>
                  <a:lnTo>
                    <a:pt x="883" y="635"/>
                  </a:lnTo>
                  <a:lnTo>
                    <a:pt x="888" y="655"/>
                  </a:lnTo>
                  <a:lnTo>
                    <a:pt x="891" y="675"/>
                  </a:lnTo>
                  <a:lnTo>
                    <a:pt x="894" y="696"/>
                  </a:lnTo>
                  <a:lnTo>
                    <a:pt x="898" y="718"/>
                  </a:lnTo>
                  <a:lnTo>
                    <a:pt x="899" y="742"/>
                  </a:lnTo>
                  <a:lnTo>
                    <a:pt x="865" y="743"/>
                  </a:lnTo>
                  <a:lnTo>
                    <a:pt x="832" y="744"/>
                  </a:lnTo>
                  <a:lnTo>
                    <a:pt x="798" y="745"/>
                  </a:lnTo>
                  <a:lnTo>
                    <a:pt x="766" y="745"/>
                  </a:lnTo>
                  <a:lnTo>
                    <a:pt x="733" y="746"/>
                  </a:lnTo>
                  <a:lnTo>
                    <a:pt x="700" y="747"/>
                  </a:lnTo>
                  <a:lnTo>
                    <a:pt x="667" y="748"/>
                  </a:lnTo>
                  <a:lnTo>
                    <a:pt x="635" y="750"/>
                  </a:lnTo>
                  <a:lnTo>
                    <a:pt x="603" y="753"/>
                  </a:lnTo>
                  <a:lnTo>
                    <a:pt x="571" y="757"/>
                  </a:lnTo>
                  <a:lnTo>
                    <a:pt x="539" y="761"/>
                  </a:lnTo>
                  <a:lnTo>
                    <a:pt x="508" y="766"/>
                  </a:lnTo>
                  <a:lnTo>
                    <a:pt x="477" y="773"/>
                  </a:lnTo>
                  <a:lnTo>
                    <a:pt x="445" y="781"/>
                  </a:lnTo>
                  <a:lnTo>
                    <a:pt x="415" y="790"/>
                  </a:lnTo>
                  <a:lnTo>
                    <a:pt x="384" y="802"/>
                  </a:lnTo>
                  <a:lnTo>
                    <a:pt x="370" y="807"/>
                  </a:lnTo>
                  <a:lnTo>
                    <a:pt x="355" y="813"/>
                  </a:lnTo>
                  <a:lnTo>
                    <a:pt x="342" y="819"/>
                  </a:lnTo>
                  <a:lnTo>
                    <a:pt x="328" y="824"/>
                  </a:lnTo>
                  <a:lnTo>
                    <a:pt x="314" y="831"/>
                  </a:lnTo>
                  <a:lnTo>
                    <a:pt x="300" y="838"/>
                  </a:lnTo>
                  <a:lnTo>
                    <a:pt x="287" y="846"/>
                  </a:lnTo>
                  <a:lnTo>
                    <a:pt x="274" y="853"/>
                  </a:lnTo>
                  <a:lnTo>
                    <a:pt x="261" y="861"/>
                  </a:lnTo>
                  <a:lnTo>
                    <a:pt x="250" y="870"/>
                  </a:lnTo>
                  <a:lnTo>
                    <a:pt x="238" y="879"/>
                  </a:lnTo>
                  <a:lnTo>
                    <a:pt x="227" y="890"/>
                  </a:lnTo>
                  <a:lnTo>
                    <a:pt x="217" y="901"/>
                  </a:lnTo>
                  <a:lnTo>
                    <a:pt x="207" y="912"/>
                  </a:lnTo>
                  <a:lnTo>
                    <a:pt x="199" y="925"/>
                  </a:lnTo>
                  <a:lnTo>
                    <a:pt x="190" y="939"/>
                  </a:lnTo>
                  <a:lnTo>
                    <a:pt x="181" y="938"/>
                  </a:lnTo>
                  <a:lnTo>
                    <a:pt x="171" y="940"/>
                  </a:lnTo>
                  <a:lnTo>
                    <a:pt x="163" y="944"/>
                  </a:lnTo>
                  <a:lnTo>
                    <a:pt x="155" y="948"/>
                  </a:lnTo>
                  <a:lnTo>
                    <a:pt x="146" y="953"/>
                  </a:lnTo>
                  <a:lnTo>
                    <a:pt x="139" y="954"/>
                  </a:lnTo>
                  <a:lnTo>
                    <a:pt x="131" y="952"/>
                  </a:lnTo>
                  <a:lnTo>
                    <a:pt x="124" y="943"/>
                  </a:lnTo>
                  <a:lnTo>
                    <a:pt x="118" y="931"/>
                  </a:lnTo>
                  <a:lnTo>
                    <a:pt x="115" y="920"/>
                  </a:lnTo>
                  <a:lnTo>
                    <a:pt x="118" y="909"/>
                  </a:lnTo>
                  <a:lnTo>
                    <a:pt x="120" y="896"/>
                  </a:lnTo>
                  <a:lnTo>
                    <a:pt x="127" y="882"/>
                  </a:lnTo>
                  <a:lnTo>
                    <a:pt x="137" y="870"/>
                  </a:lnTo>
                  <a:lnTo>
                    <a:pt x="147" y="859"/>
                  </a:lnTo>
                  <a:lnTo>
                    <a:pt x="160" y="850"/>
                  </a:lnTo>
                  <a:lnTo>
                    <a:pt x="173" y="842"/>
                  </a:lnTo>
                  <a:lnTo>
                    <a:pt x="186" y="836"/>
                  </a:lnTo>
                  <a:lnTo>
                    <a:pt x="200" y="830"/>
                  </a:lnTo>
                  <a:lnTo>
                    <a:pt x="215" y="825"/>
                  </a:lnTo>
                  <a:lnTo>
                    <a:pt x="210" y="822"/>
                  </a:lnTo>
                  <a:lnTo>
                    <a:pt x="203" y="819"/>
                  </a:lnTo>
                  <a:lnTo>
                    <a:pt x="197" y="818"/>
                  </a:lnTo>
                  <a:lnTo>
                    <a:pt x="190" y="817"/>
                  </a:lnTo>
                  <a:lnTo>
                    <a:pt x="184" y="816"/>
                  </a:lnTo>
                  <a:lnTo>
                    <a:pt x="178" y="816"/>
                  </a:lnTo>
                  <a:lnTo>
                    <a:pt x="171" y="816"/>
                  </a:lnTo>
                  <a:lnTo>
                    <a:pt x="166" y="815"/>
                  </a:lnTo>
                  <a:lnTo>
                    <a:pt x="149" y="826"/>
                  </a:lnTo>
                  <a:lnTo>
                    <a:pt x="133" y="839"/>
                  </a:lnTo>
                  <a:lnTo>
                    <a:pt x="118" y="853"/>
                  </a:lnTo>
                  <a:lnTo>
                    <a:pt x="104" y="868"/>
                  </a:lnTo>
                  <a:lnTo>
                    <a:pt x="91" y="885"/>
                  </a:lnTo>
                  <a:lnTo>
                    <a:pt x="81" y="903"/>
                  </a:lnTo>
                  <a:lnTo>
                    <a:pt x="72" y="922"/>
                  </a:lnTo>
                  <a:lnTo>
                    <a:pt x="67" y="943"/>
                  </a:lnTo>
                  <a:lnTo>
                    <a:pt x="63" y="946"/>
                  </a:lnTo>
                  <a:lnTo>
                    <a:pt x="57" y="950"/>
                  </a:lnTo>
                  <a:lnTo>
                    <a:pt x="52" y="955"/>
                  </a:lnTo>
                  <a:lnTo>
                    <a:pt x="47" y="958"/>
                  </a:lnTo>
                  <a:lnTo>
                    <a:pt x="41" y="960"/>
                  </a:lnTo>
                  <a:lnTo>
                    <a:pt x="36" y="960"/>
                  </a:lnTo>
                  <a:lnTo>
                    <a:pt x="31" y="958"/>
                  </a:lnTo>
                  <a:lnTo>
                    <a:pt x="26" y="954"/>
                  </a:lnTo>
                  <a:lnTo>
                    <a:pt x="20" y="931"/>
                  </a:lnTo>
                  <a:lnTo>
                    <a:pt x="22" y="912"/>
                  </a:lnTo>
                  <a:lnTo>
                    <a:pt x="31" y="896"/>
                  </a:lnTo>
                  <a:lnTo>
                    <a:pt x="42" y="881"/>
                  </a:lnTo>
                  <a:lnTo>
                    <a:pt x="56" y="867"/>
                  </a:lnTo>
                  <a:lnTo>
                    <a:pt x="71" y="852"/>
                  </a:lnTo>
                  <a:lnTo>
                    <a:pt x="83" y="836"/>
                  </a:lnTo>
                  <a:lnTo>
                    <a:pt x="92" y="819"/>
                  </a:lnTo>
                  <a:lnTo>
                    <a:pt x="99" y="818"/>
                  </a:lnTo>
                  <a:lnTo>
                    <a:pt x="106" y="817"/>
                  </a:lnTo>
                  <a:lnTo>
                    <a:pt x="112" y="815"/>
                  </a:lnTo>
                  <a:lnTo>
                    <a:pt x="119" y="813"/>
                  </a:lnTo>
                  <a:lnTo>
                    <a:pt x="125" y="810"/>
                  </a:lnTo>
                  <a:lnTo>
                    <a:pt x="130" y="806"/>
                  </a:lnTo>
                  <a:lnTo>
                    <a:pt x="134" y="802"/>
                  </a:lnTo>
                  <a:lnTo>
                    <a:pt x="138" y="798"/>
                  </a:lnTo>
                  <a:lnTo>
                    <a:pt x="122" y="794"/>
                  </a:lnTo>
                  <a:lnTo>
                    <a:pt x="107" y="794"/>
                  </a:lnTo>
                  <a:lnTo>
                    <a:pt x="93" y="798"/>
                  </a:lnTo>
                  <a:lnTo>
                    <a:pt x="79" y="804"/>
                  </a:lnTo>
                  <a:lnTo>
                    <a:pt x="67" y="813"/>
                  </a:lnTo>
                  <a:lnTo>
                    <a:pt x="55" y="822"/>
                  </a:lnTo>
                  <a:lnTo>
                    <a:pt x="44" y="833"/>
                  </a:lnTo>
                  <a:lnTo>
                    <a:pt x="32" y="843"/>
                  </a:lnTo>
                  <a:lnTo>
                    <a:pt x="30" y="849"/>
                  </a:lnTo>
                  <a:lnTo>
                    <a:pt x="27" y="854"/>
                  </a:lnTo>
                  <a:lnTo>
                    <a:pt x="23" y="860"/>
                  </a:lnTo>
                  <a:lnTo>
                    <a:pt x="19" y="866"/>
                  </a:lnTo>
                  <a:lnTo>
                    <a:pt x="15" y="871"/>
                  </a:lnTo>
                  <a:lnTo>
                    <a:pt x="11" y="875"/>
                  </a:lnTo>
                  <a:lnTo>
                    <a:pt x="5" y="877"/>
                  </a:lnTo>
                  <a:lnTo>
                    <a:pt x="0" y="878"/>
                  </a:lnTo>
                  <a:lnTo>
                    <a:pt x="3" y="859"/>
                  </a:lnTo>
                  <a:lnTo>
                    <a:pt x="9" y="841"/>
                  </a:lnTo>
                  <a:lnTo>
                    <a:pt x="16" y="825"/>
                  </a:lnTo>
                  <a:lnTo>
                    <a:pt x="26" y="808"/>
                  </a:lnTo>
                  <a:lnTo>
                    <a:pt x="37" y="794"/>
                  </a:lnTo>
                  <a:lnTo>
                    <a:pt x="50" y="780"/>
                  </a:lnTo>
                  <a:lnTo>
                    <a:pt x="64" y="766"/>
                  </a:lnTo>
                  <a:lnTo>
                    <a:pt x="78" y="753"/>
                  </a:lnTo>
                  <a:lnTo>
                    <a:pt x="94" y="742"/>
                  </a:lnTo>
                  <a:lnTo>
                    <a:pt x="111" y="731"/>
                  </a:lnTo>
                  <a:lnTo>
                    <a:pt x="128" y="720"/>
                  </a:lnTo>
                  <a:lnTo>
                    <a:pt x="146" y="711"/>
                  </a:lnTo>
                  <a:lnTo>
                    <a:pt x="164" y="701"/>
                  </a:lnTo>
                  <a:lnTo>
                    <a:pt x="181" y="693"/>
                  </a:lnTo>
                  <a:lnTo>
                    <a:pt x="198" y="686"/>
                  </a:lnTo>
                  <a:lnTo>
                    <a:pt x="215" y="678"/>
                  </a:lnTo>
                  <a:lnTo>
                    <a:pt x="246" y="674"/>
                  </a:lnTo>
                  <a:lnTo>
                    <a:pt x="277" y="671"/>
                  </a:lnTo>
                  <a:lnTo>
                    <a:pt x="307" y="668"/>
                  </a:lnTo>
                  <a:lnTo>
                    <a:pt x="336" y="664"/>
                  </a:lnTo>
                  <a:lnTo>
                    <a:pt x="367" y="661"/>
                  </a:lnTo>
                  <a:lnTo>
                    <a:pt x="396" y="658"/>
                  </a:lnTo>
                  <a:lnTo>
                    <a:pt x="425" y="656"/>
                  </a:lnTo>
                  <a:lnTo>
                    <a:pt x="455" y="654"/>
                  </a:lnTo>
                  <a:lnTo>
                    <a:pt x="484" y="652"/>
                  </a:lnTo>
                  <a:lnTo>
                    <a:pt x="514" y="651"/>
                  </a:lnTo>
                  <a:lnTo>
                    <a:pt x="544" y="648"/>
                  </a:lnTo>
                  <a:lnTo>
                    <a:pt x="574" y="648"/>
                  </a:lnTo>
                  <a:lnTo>
                    <a:pt x="605" y="647"/>
                  </a:lnTo>
                  <a:lnTo>
                    <a:pt x="637" y="647"/>
                  </a:lnTo>
                  <a:lnTo>
                    <a:pt x="668" y="647"/>
                  </a:lnTo>
                  <a:lnTo>
                    <a:pt x="701" y="648"/>
                  </a:lnTo>
                  <a:lnTo>
                    <a:pt x="717" y="643"/>
                  </a:lnTo>
                  <a:lnTo>
                    <a:pt x="733" y="640"/>
                  </a:lnTo>
                  <a:lnTo>
                    <a:pt x="750" y="638"/>
                  </a:lnTo>
                  <a:lnTo>
                    <a:pt x="767" y="635"/>
                  </a:lnTo>
                  <a:lnTo>
                    <a:pt x="781" y="631"/>
                  </a:lnTo>
                  <a:lnTo>
                    <a:pt x="795" y="624"/>
                  </a:lnTo>
                  <a:lnTo>
                    <a:pt x="807" y="615"/>
                  </a:lnTo>
                  <a:lnTo>
                    <a:pt x="814" y="600"/>
                  </a:lnTo>
                  <a:lnTo>
                    <a:pt x="825" y="578"/>
                  </a:lnTo>
                  <a:lnTo>
                    <a:pt x="813" y="544"/>
                  </a:lnTo>
                  <a:lnTo>
                    <a:pt x="799" y="510"/>
                  </a:lnTo>
                  <a:lnTo>
                    <a:pt x="786" y="477"/>
                  </a:lnTo>
                  <a:lnTo>
                    <a:pt x="771" y="444"/>
                  </a:lnTo>
                  <a:lnTo>
                    <a:pt x="754" y="412"/>
                  </a:lnTo>
                  <a:lnTo>
                    <a:pt x="735" y="382"/>
                  </a:lnTo>
                  <a:lnTo>
                    <a:pt x="714" y="355"/>
                  </a:lnTo>
                  <a:lnTo>
                    <a:pt x="690" y="328"/>
                  </a:lnTo>
                  <a:lnTo>
                    <a:pt x="680" y="311"/>
                  </a:lnTo>
                  <a:lnTo>
                    <a:pt x="670" y="293"/>
                  </a:lnTo>
                  <a:lnTo>
                    <a:pt x="660" y="276"/>
                  </a:lnTo>
                  <a:lnTo>
                    <a:pt x="648" y="258"/>
                  </a:lnTo>
                  <a:lnTo>
                    <a:pt x="638" y="241"/>
                  </a:lnTo>
                  <a:lnTo>
                    <a:pt x="626" y="225"/>
                  </a:lnTo>
                  <a:lnTo>
                    <a:pt x="614" y="208"/>
                  </a:lnTo>
                  <a:lnTo>
                    <a:pt x="603" y="191"/>
                  </a:lnTo>
                  <a:lnTo>
                    <a:pt x="591" y="174"/>
                  </a:lnTo>
                  <a:lnTo>
                    <a:pt x="579" y="158"/>
                  </a:lnTo>
                  <a:lnTo>
                    <a:pt x="568" y="141"/>
                  </a:lnTo>
                  <a:lnTo>
                    <a:pt x="557" y="124"/>
                  </a:lnTo>
                  <a:lnTo>
                    <a:pt x="546" y="108"/>
                  </a:lnTo>
                  <a:lnTo>
                    <a:pt x="534" y="92"/>
                  </a:lnTo>
                  <a:lnTo>
                    <a:pt x="522" y="76"/>
                  </a:lnTo>
                  <a:lnTo>
                    <a:pt x="512" y="60"/>
                  </a:lnTo>
                  <a:lnTo>
                    <a:pt x="512" y="53"/>
                  </a:lnTo>
                  <a:lnTo>
                    <a:pt x="531" y="47"/>
                  </a:lnTo>
                  <a:lnTo>
                    <a:pt x="550" y="39"/>
                  </a:lnTo>
                  <a:lnTo>
                    <a:pt x="569" y="32"/>
                  </a:lnTo>
                  <a:lnTo>
                    <a:pt x="588" y="25"/>
                  </a:lnTo>
                  <a:lnTo>
                    <a:pt x="607" y="18"/>
                  </a:lnTo>
                  <a:lnTo>
                    <a:pt x="627" y="12"/>
                  </a:lnTo>
                  <a:lnTo>
                    <a:pt x="646" y="5"/>
                  </a:lnTo>
                  <a:lnTo>
                    <a:pt x="666" y="0"/>
                  </a:lnTo>
                  <a:lnTo>
                    <a:pt x="687" y="56"/>
                  </a:lnTo>
                  <a:close/>
                </a:path>
              </a:pathLst>
            </a:custGeom>
            <a:solidFill>
              <a:srgbClr val="FCF4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35" name="Google Shape;735;p3"/>
            <p:cNvSpPr/>
            <p:nvPr/>
          </p:nvSpPr>
          <p:spPr>
            <a:xfrm>
              <a:off x="5211" y="3795"/>
              <a:ext cx="60" cy="40"/>
            </a:xfrm>
            <a:custGeom>
              <a:avLst/>
              <a:gdLst/>
              <a:ahLst/>
              <a:cxnLst/>
              <a:rect l="l" t="t" r="r" b="b"/>
              <a:pathLst>
                <a:path w="475" h="321" extrusionOk="0">
                  <a:moveTo>
                    <a:pt x="225" y="91"/>
                  </a:moveTo>
                  <a:lnTo>
                    <a:pt x="227" y="99"/>
                  </a:lnTo>
                  <a:lnTo>
                    <a:pt x="234" y="106"/>
                  </a:lnTo>
                  <a:lnTo>
                    <a:pt x="241" y="109"/>
                  </a:lnTo>
                  <a:lnTo>
                    <a:pt x="251" y="106"/>
                  </a:lnTo>
                  <a:lnTo>
                    <a:pt x="263" y="100"/>
                  </a:lnTo>
                  <a:lnTo>
                    <a:pt x="276" y="95"/>
                  </a:lnTo>
                  <a:lnTo>
                    <a:pt x="289" y="89"/>
                  </a:lnTo>
                  <a:lnTo>
                    <a:pt x="301" y="83"/>
                  </a:lnTo>
                  <a:lnTo>
                    <a:pt x="314" y="78"/>
                  </a:lnTo>
                  <a:lnTo>
                    <a:pt x="328" y="74"/>
                  </a:lnTo>
                  <a:lnTo>
                    <a:pt x="341" y="70"/>
                  </a:lnTo>
                  <a:lnTo>
                    <a:pt x="353" y="65"/>
                  </a:lnTo>
                  <a:lnTo>
                    <a:pt x="367" y="62"/>
                  </a:lnTo>
                  <a:lnTo>
                    <a:pt x="381" y="60"/>
                  </a:lnTo>
                  <a:lnTo>
                    <a:pt x="393" y="59"/>
                  </a:lnTo>
                  <a:lnTo>
                    <a:pt x="407" y="58"/>
                  </a:lnTo>
                  <a:lnTo>
                    <a:pt x="421" y="59"/>
                  </a:lnTo>
                  <a:lnTo>
                    <a:pt x="435" y="61"/>
                  </a:lnTo>
                  <a:lnTo>
                    <a:pt x="448" y="64"/>
                  </a:lnTo>
                  <a:lnTo>
                    <a:pt x="462" y="70"/>
                  </a:lnTo>
                  <a:lnTo>
                    <a:pt x="471" y="75"/>
                  </a:lnTo>
                  <a:lnTo>
                    <a:pt x="475" y="82"/>
                  </a:lnTo>
                  <a:lnTo>
                    <a:pt x="475" y="93"/>
                  </a:lnTo>
                  <a:lnTo>
                    <a:pt x="472" y="101"/>
                  </a:lnTo>
                  <a:lnTo>
                    <a:pt x="460" y="113"/>
                  </a:lnTo>
                  <a:lnTo>
                    <a:pt x="448" y="123"/>
                  </a:lnTo>
                  <a:lnTo>
                    <a:pt x="436" y="131"/>
                  </a:lnTo>
                  <a:lnTo>
                    <a:pt x="422" y="139"/>
                  </a:lnTo>
                  <a:lnTo>
                    <a:pt x="407" y="145"/>
                  </a:lnTo>
                  <a:lnTo>
                    <a:pt x="393" y="151"/>
                  </a:lnTo>
                  <a:lnTo>
                    <a:pt x="378" y="156"/>
                  </a:lnTo>
                  <a:lnTo>
                    <a:pt x="363" y="160"/>
                  </a:lnTo>
                  <a:lnTo>
                    <a:pt x="347" y="163"/>
                  </a:lnTo>
                  <a:lnTo>
                    <a:pt x="331" y="167"/>
                  </a:lnTo>
                  <a:lnTo>
                    <a:pt x="314" y="170"/>
                  </a:lnTo>
                  <a:lnTo>
                    <a:pt x="298" y="174"/>
                  </a:lnTo>
                  <a:lnTo>
                    <a:pt x="282" y="177"/>
                  </a:lnTo>
                  <a:lnTo>
                    <a:pt x="268" y="181"/>
                  </a:lnTo>
                  <a:lnTo>
                    <a:pt x="252" y="184"/>
                  </a:lnTo>
                  <a:lnTo>
                    <a:pt x="237" y="189"/>
                  </a:lnTo>
                  <a:lnTo>
                    <a:pt x="229" y="189"/>
                  </a:lnTo>
                  <a:lnTo>
                    <a:pt x="220" y="189"/>
                  </a:lnTo>
                  <a:lnTo>
                    <a:pt x="213" y="191"/>
                  </a:lnTo>
                  <a:lnTo>
                    <a:pt x="204" y="192"/>
                  </a:lnTo>
                  <a:lnTo>
                    <a:pt x="197" y="193"/>
                  </a:lnTo>
                  <a:lnTo>
                    <a:pt x="189" y="196"/>
                  </a:lnTo>
                  <a:lnTo>
                    <a:pt x="183" y="199"/>
                  </a:lnTo>
                  <a:lnTo>
                    <a:pt x="177" y="204"/>
                  </a:lnTo>
                  <a:lnTo>
                    <a:pt x="177" y="215"/>
                  </a:lnTo>
                  <a:lnTo>
                    <a:pt x="196" y="219"/>
                  </a:lnTo>
                  <a:lnTo>
                    <a:pt x="216" y="219"/>
                  </a:lnTo>
                  <a:lnTo>
                    <a:pt x="237" y="218"/>
                  </a:lnTo>
                  <a:lnTo>
                    <a:pt x="258" y="216"/>
                  </a:lnTo>
                  <a:lnTo>
                    <a:pt x="278" y="215"/>
                  </a:lnTo>
                  <a:lnTo>
                    <a:pt x="298" y="217"/>
                  </a:lnTo>
                  <a:lnTo>
                    <a:pt x="316" y="223"/>
                  </a:lnTo>
                  <a:lnTo>
                    <a:pt x="331" y="236"/>
                  </a:lnTo>
                  <a:lnTo>
                    <a:pt x="335" y="249"/>
                  </a:lnTo>
                  <a:lnTo>
                    <a:pt x="335" y="259"/>
                  </a:lnTo>
                  <a:lnTo>
                    <a:pt x="332" y="268"/>
                  </a:lnTo>
                  <a:lnTo>
                    <a:pt x="327" y="276"/>
                  </a:lnTo>
                  <a:lnTo>
                    <a:pt x="319" y="284"/>
                  </a:lnTo>
                  <a:lnTo>
                    <a:pt x="311" y="290"/>
                  </a:lnTo>
                  <a:lnTo>
                    <a:pt x="301" y="296"/>
                  </a:lnTo>
                  <a:lnTo>
                    <a:pt x="293" y="303"/>
                  </a:lnTo>
                  <a:lnTo>
                    <a:pt x="276" y="309"/>
                  </a:lnTo>
                  <a:lnTo>
                    <a:pt x="257" y="313"/>
                  </a:lnTo>
                  <a:lnTo>
                    <a:pt x="239" y="318"/>
                  </a:lnTo>
                  <a:lnTo>
                    <a:pt x="220" y="320"/>
                  </a:lnTo>
                  <a:lnTo>
                    <a:pt x="201" y="321"/>
                  </a:lnTo>
                  <a:lnTo>
                    <a:pt x="181" y="321"/>
                  </a:lnTo>
                  <a:lnTo>
                    <a:pt x="162" y="320"/>
                  </a:lnTo>
                  <a:lnTo>
                    <a:pt x="142" y="317"/>
                  </a:lnTo>
                  <a:lnTo>
                    <a:pt x="123" y="313"/>
                  </a:lnTo>
                  <a:lnTo>
                    <a:pt x="104" y="309"/>
                  </a:lnTo>
                  <a:lnTo>
                    <a:pt x="85" y="305"/>
                  </a:lnTo>
                  <a:lnTo>
                    <a:pt x="67" y="299"/>
                  </a:lnTo>
                  <a:lnTo>
                    <a:pt x="49" y="292"/>
                  </a:lnTo>
                  <a:lnTo>
                    <a:pt x="32" y="285"/>
                  </a:lnTo>
                  <a:lnTo>
                    <a:pt x="16" y="276"/>
                  </a:lnTo>
                  <a:lnTo>
                    <a:pt x="0" y="268"/>
                  </a:lnTo>
                  <a:lnTo>
                    <a:pt x="17" y="255"/>
                  </a:lnTo>
                  <a:lnTo>
                    <a:pt x="33" y="242"/>
                  </a:lnTo>
                  <a:lnTo>
                    <a:pt x="49" y="230"/>
                  </a:lnTo>
                  <a:lnTo>
                    <a:pt x="65" y="216"/>
                  </a:lnTo>
                  <a:lnTo>
                    <a:pt x="79" y="202"/>
                  </a:lnTo>
                  <a:lnTo>
                    <a:pt x="94" y="188"/>
                  </a:lnTo>
                  <a:lnTo>
                    <a:pt x="108" y="174"/>
                  </a:lnTo>
                  <a:lnTo>
                    <a:pt x="123" y="159"/>
                  </a:lnTo>
                  <a:lnTo>
                    <a:pt x="137" y="145"/>
                  </a:lnTo>
                  <a:lnTo>
                    <a:pt x="150" y="129"/>
                  </a:lnTo>
                  <a:lnTo>
                    <a:pt x="164" y="114"/>
                  </a:lnTo>
                  <a:lnTo>
                    <a:pt x="177" y="98"/>
                  </a:lnTo>
                  <a:lnTo>
                    <a:pt x="190" y="82"/>
                  </a:lnTo>
                  <a:lnTo>
                    <a:pt x="204" y="67"/>
                  </a:lnTo>
                  <a:lnTo>
                    <a:pt x="219" y="51"/>
                  </a:lnTo>
                  <a:lnTo>
                    <a:pt x="233" y="35"/>
                  </a:lnTo>
                  <a:lnTo>
                    <a:pt x="242" y="29"/>
                  </a:lnTo>
                  <a:lnTo>
                    <a:pt x="252" y="23"/>
                  </a:lnTo>
                  <a:lnTo>
                    <a:pt x="261" y="18"/>
                  </a:lnTo>
                  <a:lnTo>
                    <a:pt x="272" y="12"/>
                  </a:lnTo>
                  <a:lnTo>
                    <a:pt x="281" y="8"/>
                  </a:lnTo>
                  <a:lnTo>
                    <a:pt x="291" y="4"/>
                  </a:lnTo>
                  <a:lnTo>
                    <a:pt x="301" y="2"/>
                  </a:lnTo>
                  <a:lnTo>
                    <a:pt x="313" y="0"/>
                  </a:lnTo>
                  <a:lnTo>
                    <a:pt x="310" y="16"/>
                  </a:lnTo>
                  <a:lnTo>
                    <a:pt x="304" y="29"/>
                  </a:lnTo>
                  <a:lnTo>
                    <a:pt x="294" y="41"/>
                  </a:lnTo>
                  <a:lnTo>
                    <a:pt x="281" y="52"/>
                  </a:lnTo>
                  <a:lnTo>
                    <a:pt x="268" y="61"/>
                  </a:lnTo>
                  <a:lnTo>
                    <a:pt x="253" y="71"/>
                  </a:lnTo>
                  <a:lnTo>
                    <a:pt x="239" y="80"/>
                  </a:lnTo>
                  <a:lnTo>
                    <a:pt x="225" y="9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736" name="Google Shape;736;p3"/>
          <p:cNvSpPr txBox="1"/>
          <p:nvPr/>
        </p:nvSpPr>
        <p:spPr>
          <a:xfrm>
            <a:off x="2695087" y="3452819"/>
            <a:ext cx="57164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  </a:t>
            </a:r>
            <a:r>
              <a:rPr lang="en-US" sz="1200">
                <a:solidFill>
                  <a:schemeClr val="dk1"/>
                </a:solidFill>
                <a:latin typeface="Tahoma"/>
                <a:ea typeface="Tahoma"/>
                <a:cs typeface="Tahoma"/>
                <a:sym typeface="Tahoma"/>
              </a:rPr>
              <a:t>+1</a:t>
            </a:r>
            <a:endParaRPr/>
          </a:p>
        </p:txBody>
      </p:sp>
      <p:sp>
        <p:nvSpPr>
          <p:cNvPr id="737" name="Google Shape;737;p3"/>
          <p:cNvSpPr txBox="1"/>
          <p:nvPr/>
        </p:nvSpPr>
        <p:spPr>
          <a:xfrm>
            <a:off x="2321134" y="3450437"/>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F(3)=2</a:t>
            </a:r>
            <a:endParaRPr sz="1200">
              <a:solidFill>
                <a:schemeClr val="dk1"/>
              </a:solidFill>
              <a:latin typeface="Tahoma"/>
              <a:ea typeface="Tahoma"/>
              <a:cs typeface="Tahoma"/>
              <a:sym typeface="Tahoma"/>
            </a:endParaRPr>
          </a:p>
        </p:txBody>
      </p:sp>
      <p:sp>
        <p:nvSpPr>
          <p:cNvPr id="738" name="Google Shape;738;p3"/>
          <p:cNvSpPr txBox="1"/>
          <p:nvPr/>
        </p:nvSpPr>
        <p:spPr>
          <a:xfrm>
            <a:off x="3142879" y="3452819"/>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F(4)=2</a:t>
            </a:r>
            <a:endParaRPr sz="1200">
              <a:solidFill>
                <a:schemeClr val="dk1"/>
              </a:solidFill>
              <a:latin typeface="Tahoma"/>
              <a:ea typeface="Tahoma"/>
              <a:cs typeface="Tahoma"/>
              <a:sym typeface="Tahoma"/>
            </a:endParaRPr>
          </a:p>
        </p:txBody>
      </p:sp>
      <p:sp>
        <p:nvSpPr>
          <p:cNvPr id="739" name="Google Shape;739;p3"/>
          <p:cNvSpPr txBox="1"/>
          <p:nvPr/>
        </p:nvSpPr>
        <p:spPr>
          <a:xfrm>
            <a:off x="3619253" y="3455201"/>
            <a:ext cx="40015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+1</a:t>
            </a:r>
            <a:endParaRPr/>
          </a:p>
        </p:txBody>
      </p:sp>
      <p:sp>
        <p:nvSpPr>
          <p:cNvPr id="740" name="Google Shape;740;p3"/>
          <p:cNvSpPr txBox="1"/>
          <p:nvPr/>
        </p:nvSpPr>
        <p:spPr>
          <a:xfrm>
            <a:off x="4600584" y="3452819"/>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F(5)=3</a:t>
            </a:r>
            <a:endParaRPr sz="1200">
              <a:solidFill>
                <a:schemeClr val="dk1"/>
              </a:solidFill>
              <a:latin typeface="Tahoma"/>
              <a:ea typeface="Tahoma"/>
              <a:cs typeface="Tahoma"/>
              <a:sym typeface="Tahoma"/>
            </a:endParaRPr>
          </a:p>
        </p:txBody>
      </p:sp>
      <p:sp>
        <p:nvSpPr>
          <p:cNvPr id="741" name="Google Shape;741;p3"/>
          <p:cNvSpPr txBox="1"/>
          <p:nvPr/>
        </p:nvSpPr>
        <p:spPr>
          <a:xfrm>
            <a:off x="5072194" y="3452819"/>
            <a:ext cx="45731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+2</a:t>
            </a:r>
            <a:endParaRPr/>
          </a:p>
        </p:txBody>
      </p:sp>
      <p:sp>
        <p:nvSpPr>
          <p:cNvPr id="742" name="Google Shape;742;p3"/>
          <p:cNvSpPr txBox="1"/>
          <p:nvPr/>
        </p:nvSpPr>
        <p:spPr>
          <a:xfrm>
            <a:off x="6429860" y="3452819"/>
            <a:ext cx="6623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F(6)=5</a:t>
            </a:r>
            <a:endParaRPr sz="1200">
              <a:solidFill>
                <a:schemeClr val="dk1"/>
              </a:solidFill>
              <a:latin typeface="Tahoma"/>
              <a:ea typeface="Tahoma"/>
              <a:cs typeface="Tahoma"/>
              <a:sym typeface="Tahoma"/>
            </a:endParaRPr>
          </a:p>
        </p:txBody>
      </p:sp>
      <p:sp>
        <p:nvSpPr>
          <p:cNvPr id="743" name="Google Shape;743;p3"/>
          <p:cNvSpPr txBox="1"/>
          <p:nvPr/>
        </p:nvSpPr>
        <p:spPr>
          <a:xfrm>
            <a:off x="6915761" y="3452819"/>
            <a:ext cx="45731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ahoma"/>
                <a:ea typeface="Tahoma"/>
                <a:cs typeface="Tahoma"/>
                <a:sym typeface="Tahoma"/>
              </a:rPr>
              <a:t>+3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5"/>
                                        </p:tgtEl>
                                        <p:attrNameLst>
                                          <p:attrName>style.visibility</p:attrName>
                                        </p:attrNameLst>
                                      </p:cBhvr>
                                      <p:to>
                                        <p:strVal val="visible"/>
                                      </p:to>
                                    </p:set>
                                    <p:animEffect transition="in" filter="fade">
                                      <p:cBhvr>
                                        <p:cTn id="21" dur="500"/>
                                        <p:tgtEl>
                                          <p:spTgt spid="325"/>
                                        </p:tgtEl>
                                      </p:cBhvr>
                                    </p:animEffect>
                                  </p:childTnLst>
                                </p:cTn>
                              </p:par>
                              <p:par>
                                <p:cTn id="22" presetID="10" presetClass="entr" presetSubtype="0" fill="hold" nodeType="withEffect">
                                  <p:stCondLst>
                                    <p:cond delay="0"/>
                                  </p:stCondLst>
                                  <p:childTnLst>
                                    <p:set>
                                      <p:cBhvr>
                                        <p:cTn id="23" dur="1" fill="hold">
                                          <p:stCondLst>
                                            <p:cond delay="0"/>
                                          </p:stCondLst>
                                        </p:cTn>
                                        <p:tgtEl>
                                          <p:spTgt spid="376"/>
                                        </p:tgtEl>
                                        <p:attrNameLst>
                                          <p:attrName>style.visibility</p:attrName>
                                        </p:attrNameLst>
                                      </p:cBhvr>
                                      <p:to>
                                        <p:strVal val="visible"/>
                                      </p:to>
                                    </p:set>
                                    <p:animEffect transition="in" filter="fade">
                                      <p:cBhvr>
                                        <p:cTn id="24" dur="500"/>
                                        <p:tgtEl>
                                          <p:spTgt spid="376"/>
                                        </p:tgtEl>
                                      </p:cBhvr>
                                    </p:animEffect>
                                  </p:childTnLst>
                                </p:cTn>
                              </p:par>
                              <p:par>
                                <p:cTn id="25" presetID="1" presetClass="entr" presetSubtype="0" fill="hold" nodeType="withEffect">
                                  <p:stCondLst>
                                    <p:cond delay="0"/>
                                  </p:stCondLst>
                                  <p:childTnLst>
                                    <p:set>
                                      <p:cBhvr>
                                        <p:cTn id="26" dur="1" fill="hold">
                                          <p:stCondLst>
                                            <p:cond delay="0"/>
                                          </p:stCondLst>
                                        </p:cTn>
                                        <p:tgtEl>
                                          <p:spTgt spid="73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736">
                                            <p:txEl>
                                              <p:pRg st="0" end="0"/>
                                            </p:txEl>
                                          </p:spTgt>
                                        </p:tgtEl>
                                      </p:cBhvr>
                                    </p:animEffect>
                                    <p:set>
                                      <p:cBhvr>
                                        <p:cTn id="31" dur="1" fill="hold">
                                          <p:stCondLst>
                                            <p:cond delay="500"/>
                                          </p:stCondLst>
                                        </p:cTn>
                                        <p:tgtEl>
                                          <p:spTgt spid="736">
                                            <p:txEl>
                                              <p:pRg st="0" end="0"/>
                                            </p:txEl>
                                          </p:spTgt>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326"/>
                                        </p:tgtEl>
                                      </p:cBhvr>
                                    </p:animEffect>
                                    <p:set>
                                      <p:cBhvr>
                                        <p:cTn id="34" dur="1" fill="hold">
                                          <p:stCondLst>
                                            <p:cond delay="500"/>
                                          </p:stCondLst>
                                        </p:cTn>
                                        <p:tgtEl>
                                          <p:spTgt spid="326"/>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7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5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27"/>
                                        </p:tgtEl>
                                        <p:attrNameLst>
                                          <p:attrName>style.visibility</p:attrName>
                                        </p:attrNameLst>
                                      </p:cBhvr>
                                      <p:to>
                                        <p:strVal val="visible"/>
                                      </p:to>
                                    </p:set>
                                    <p:animEffect transition="in" filter="fade">
                                      <p:cBhvr>
                                        <p:cTn id="51" dur="500"/>
                                        <p:tgtEl>
                                          <p:spTgt spid="327"/>
                                        </p:tgtEl>
                                      </p:cBhvr>
                                    </p:animEffect>
                                  </p:childTnLst>
                                </p:cTn>
                              </p:par>
                              <p:par>
                                <p:cTn id="52" presetID="10" presetClass="entr" presetSubtype="0" fill="hold" nodeType="withEffect">
                                  <p:stCondLst>
                                    <p:cond delay="0"/>
                                  </p:stCondLst>
                                  <p:childTnLst>
                                    <p:set>
                                      <p:cBhvr>
                                        <p:cTn id="53" dur="1" fill="hold">
                                          <p:stCondLst>
                                            <p:cond delay="0"/>
                                          </p:stCondLst>
                                        </p:cTn>
                                        <p:tgtEl>
                                          <p:spTgt spid="436"/>
                                        </p:tgtEl>
                                        <p:attrNameLst>
                                          <p:attrName>style.visibility</p:attrName>
                                        </p:attrNameLst>
                                      </p:cBhvr>
                                      <p:to>
                                        <p:strVal val="visible"/>
                                      </p:to>
                                    </p:set>
                                    <p:animEffect transition="in" filter="fade">
                                      <p:cBhvr>
                                        <p:cTn id="54" dur="500"/>
                                        <p:tgtEl>
                                          <p:spTgt spid="436"/>
                                        </p:tgtEl>
                                      </p:cBhvr>
                                    </p:animEffect>
                                  </p:childTnLst>
                                </p:cTn>
                              </p:par>
                              <p:par>
                                <p:cTn id="55" presetID="1" presetClass="entr" presetSubtype="0" fill="hold" nodeType="withEffect">
                                  <p:stCondLst>
                                    <p:cond delay="0"/>
                                  </p:stCondLst>
                                  <p:childTnLst>
                                    <p:set>
                                      <p:cBhvr>
                                        <p:cTn id="56" dur="1" fill="hold">
                                          <p:stCondLst>
                                            <p:cond delay="0"/>
                                          </p:stCondLst>
                                        </p:cTn>
                                        <p:tgtEl>
                                          <p:spTgt spid="73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500"/>
                                        <p:tgtEl>
                                          <p:spTgt spid="738"/>
                                        </p:tgtEl>
                                      </p:cBhvr>
                                    </p:animEffect>
                                    <p:set>
                                      <p:cBhvr>
                                        <p:cTn id="61" dur="1" fill="hold">
                                          <p:stCondLst>
                                            <p:cond delay="500"/>
                                          </p:stCondLst>
                                        </p:cTn>
                                        <p:tgtEl>
                                          <p:spTgt spid="738"/>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739"/>
                                        </p:tgtEl>
                                      </p:cBhvr>
                                    </p:animEffect>
                                    <p:set>
                                      <p:cBhvr>
                                        <p:cTn id="64" dur="1" fill="hold">
                                          <p:stCondLst>
                                            <p:cond delay="500"/>
                                          </p:stCondLst>
                                        </p:cTn>
                                        <p:tgtEl>
                                          <p:spTgt spid="739"/>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32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2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4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7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9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3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41"/>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330"/>
                                        </p:tgtEl>
                                        <p:attrNameLst>
                                          <p:attrName>style.visibility</p:attrName>
                                        </p:attrNameLst>
                                      </p:cBhvr>
                                      <p:to>
                                        <p:strVal val="visible"/>
                                      </p:to>
                                    </p:set>
                                    <p:animEffect transition="in" filter="fade">
                                      <p:cBhvr>
                                        <p:cTn id="85" dur="500"/>
                                        <p:tgtEl>
                                          <p:spTgt spid="330"/>
                                        </p:tgtEl>
                                      </p:cBhvr>
                                    </p:animEffect>
                                  </p:childTnLst>
                                </p:cTn>
                              </p:par>
                              <p:par>
                                <p:cTn id="86" presetID="10" presetClass="entr" presetSubtype="0" fill="hold" nodeType="withEffect">
                                  <p:stCondLst>
                                    <p:cond delay="0"/>
                                  </p:stCondLst>
                                  <p:childTnLst>
                                    <p:set>
                                      <p:cBhvr>
                                        <p:cTn id="87" dur="1" fill="hold">
                                          <p:stCondLst>
                                            <p:cond delay="0"/>
                                          </p:stCondLst>
                                        </p:cTn>
                                        <p:tgtEl>
                                          <p:spTgt spid="556"/>
                                        </p:tgtEl>
                                        <p:attrNameLst>
                                          <p:attrName>style.visibility</p:attrName>
                                        </p:attrNameLst>
                                      </p:cBhvr>
                                      <p:to>
                                        <p:strVal val="visible"/>
                                      </p:to>
                                    </p:set>
                                    <p:animEffect transition="in" filter="fade">
                                      <p:cBhvr>
                                        <p:cTn id="88" dur="500"/>
                                        <p:tgtEl>
                                          <p:spTgt spid="556"/>
                                        </p:tgtEl>
                                      </p:cBhvr>
                                    </p:animEffect>
                                  </p:childTnLst>
                                </p:cTn>
                              </p:par>
                              <p:par>
                                <p:cTn id="89" presetID="10" presetClass="entr" presetSubtype="0" fill="hold" nodeType="withEffect">
                                  <p:stCondLst>
                                    <p:cond delay="0"/>
                                  </p:stCondLst>
                                  <p:childTnLst>
                                    <p:set>
                                      <p:cBhvr>
                                        <p:cTn id="90" dur="1" fill="hold">
                                          <p:stCondLst>
                                            <p:cond delay="0"/>
                                          </p:stCondLst>
                                        </p:cTn>
                                        <p:tgtEl>
                                          <p:spTgt spid="329"/>
                                        </p:tgtEl>
                                        <p:attrNameLst>
                                          <p:attrName>style.visibility</p:attrName>
                                        </p:attrNameLst>
                                      </p:cBhvr>
                                      <p:to>
                                        <p:strVal val="visible"/>
                                      </p:to>
                                    </p:set>
                                    <p:animEffect transition="in" filter="fade">
                                      <p:cBhvr>
                                        <p:cTn id="91" dur="500"/>
                                        <p:tgtEl>
                                          <p:spTgt spid="329"/>
                                        </p:tgtEl>
                                      </p:cBhvr>
                                    </p:animEffect>
                                  </p:childTnLst>
                                </p:cTn>
                              </p:par>
                              <p:par>
                                <p:cTn id="92" presetID="10" presetClass="entr" presetSubtype="0" fill="hold" nodeType="withEffect">
                                  <p:stCondLst>
                                    <p:cond delay="0"/>
                                  </p:stCondLst>
                                  <p:childTnLst>
                                    <p:set>
                                      <p:cBhvr>
                                        <p:cTn id="93" dur="1" fill="hold">
                                          <p:stCondLst>
                                            <p:cond delay="0"/>
                                          </p:stCondLst>
                                        </p:cTn>
                                        <p:tgtEl>
                                          <p:spTgt spid="516"/>
                                        </p:tgtEl>
                                        <p:attrNameLst>
                                          <p:attrName>style.visibility</p:attrName>
                                        </p:attrNameLst>
                                      </p:cBhvr>
                                      <p:to>
                                        <p:strVal val="visible"/>
                                      </p:to>
                                    </p:set>
                                    <p:animEffect transition="in" filter="fade">
                                      <p:cBhvr>
                                        <p:cTn id="94" dur="500"/>
                                        <p:tgtEl>
                                          <p:spTgt spid="51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xit" presetSubtype="0" fill="hold" nodeType="clickEffect">
                                  <p:stCondLst>
                                    <p:cond delay="0"/>
                                  </p:stCondLst>
                                  <p:childTnLst>
                                    <p:animEffect transition="out" filter="fade">
                                      <p:cBhvr>
                                        <p:cTn id="98" dur="500"/>
                                        <p:tgtEl>
                                          <p:spTgt spid="740"/>
                                        </p:tgtEl>
                                      </p:cBhvr>
                                    </p:animEffect>
                                    <p:set>
                                      <p:cBhvr>
                                        <p:cTn id="99" dur="1" fill="hold">
                                          <p:stCondLst>
                                            <p:cond delay="500"/>
                                          </p:stCondLst>
                                        </p:cTn>
                                        <p:tgtEl>
                                          <p:spTgt spid="740"/>
                                        </p:tgtEl>
                                        <p:attrNameLst>
                                          <p:attrName>style.visibility</p:attrName>
                                        </p:attrNameLst>
                                      </p:cBhvr>
                                      <p:to>
                                        <p:strVal val="hidden"/>
                                      </p:to>
                                    </p:set>
                                  </p:childTnLst>
                                </p:cTn>
                              </p:par>
                              <p:par>
                                <p:cTn id="100" presetID="10" presetClass="exit" presetSubtype="0" fill="hold" nodeType="withEffect">
                                  <p:stCondLst>
                                    <p:cond delay="0"/>
                                  </p:stCondLst>
                                  <p:childTnLst>
                                    <p:animEffect transition="out" filter="fade">
                                      <p:cBhvr>
                                        <p:cTn id="101" dur="500"/>
                                        <p:tgtEl>
                                          <p:spTgt spid="741"/>
                                        </p:tgtEl>
                                      </p:cBhvr>
                                    </p:animEffect>
                                    <p:set>
                                      <p:cBhvr>
                                        <p:cTn id="102" dur="1" fill="hold">
                                          <p:stCondLst>
                                            <p:cond delay="500"/>
                                          </p:stCondLst>
                                        </p:cTn>
                                        <p:tgtEl>
                                          <p:spTgt spid="741"/>
                                        </p:tgtEl>
                                        <p:attrNameLst>
                                          <p:attrName>style.visibility</p:attrName>
                                        </p:attrNameLst>
                                      </p:cBhvr>
                                      <p:to>
                                        <p:strVal val="hidden"/>
                                      </p:to>
                                    </p:set>
                                  </p:childTnLst>
                                </p:cTn>
                              </p:par>
                              <p:par>
                                <p:cTn id="103" presetID="1" presetClass="entr" presetSubtype="0" fill="hold" nodeType="withEffect">
                                  <p:stCondLst>
                                    <p:cond delay="0"/>
                                  </p:stCondLst>
                                  <p:childTnLst>
                                    <p:set>
                                      <p:cBhvr>
                                        <p:cTn id="104" dur="1" fill="hold">
                                          <p:stCondLst>
                                            <p:cond delay="0"/>
                                          </p:stCondLst>
                                        </p:cTn>
                                        <p:tgtEl>
                                          <p:spTgt spid="33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2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7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9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16"/>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636"/>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676"/>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74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332"/>
                                        </p:tgtEl>
                                        <p:attrNameLst>
                                          <p:attrName>style.visibility</p:attrName>
                                        </p:attrNameLst>
                                      </p:cBhvr>
                                      <p:to>
                                        <p:strVal val="visible"/>
                                      </p:to>
                                    </p:set>
                                    <p:animEffect transition="in" filter="fade">
                                      <p:cBhvr>
                                        <p:cTn id="125" dur="500"/>
                                        <p:tgtEl>
                                          <p:spTgt spid="332"/>
                                        </p:tgtEl>
                                      </p:cBhvr>
                                    </p:animEffect>
                                  </p:childTnLst>
                                </p:cTn>
                              </p:par>
                              <p:par>
                                <p:cTn id="126" presetID="10" presetClass="entr" presetSubtype="0" fill="hold" nodeType="withEffect">
                                  <p:stCondLst>
                                    <p:cond delay="0"/>
                                  </p:stCondLst>
                                  <p:childTnLst>
                                    <p:set>
                                      <p:cBhvr>
                                        <p:cTn id="127" dur="1" fill="hold">
                                          <p:stCondLst>
                                            <p:cond delay="0"/>
                                          </p:stCondLst>
                                        </p:cTn>
                                        <p:tgtEl>
                                          <p:spTgt spid="656"/>
                                        </p:tgtEl>
                                        <p:attrNameLst>
                                          <p:attrName>style.visibility</p:attrName>
                                        </p:attrNameLst>
                                      </p:cBhvr>
                                      <p:to>
                                        <p:strVal val="visible"/>
                                      </p:to>
                                    </p:set>
                                    <p:animEffect transition="in" filter="fade">
                                      <p:cBhvr>
                                        <p:cTn id="128" dur="500"/>
                                        <p:tgtEl>
                                          <p:spTgt spid="656"/>
                                        </p:tgtEl>
                                      </p:cBhvr>
                                    </p:animEffect>
                                  </p:childTnLst>
                                </p:cTn>
                              </p:par>
                              <p:par>
                                <p:cTn id="129" presetID="10" presetClass="entr" presetSubtype="0" fill="hold" nodeType="withEffect">
                                  <p:stCondLst>
                                    <p:cond delay="0"/>
                                  </p:stCondLst>
                                  <p:childTnLst>
                                    <p:set>
                                      <p:cBhvr>
                                        <p:cTn id="130" dur="1" fill="hold">
                                          <p:stCondLst>
                                            <p:cond delay="0"/>
                                          </p:stCondLst>
                                        </p:cTn>
                                        <p:tgtEl>
                                          <p:spTgt spid="334"/>
                                        </p:tgtEl>
                                        <p:attrNameLst>
                                          <p:attrName>style.visibility</p:attrName>
                                        </p:attrNameLst>
                                      </p:cBhvr>
                                      <p:to>
                                        <p:strVal val="visible"/>
                                      </p:to>
                                    </p:set>
                                    <p:animEffect transition="in" filter="fade">
                                      <p:cBhvr>
                                        <p:cTn id="131" dur="500"/>
                                        <p:tgtEl>
                                          <p:spTgt spid="334"/>
                                        </p:tgtEl>
                                      </p:cBhvr>
                                    </p:animEffect>
                                  </p:childTnLst>
                                </p:cTn>
                              </p:par>
                              <p:par>
                                <p:cTn id="132" presetID="10" presetClass="entr" presetSubtype="0" fill="hold" nodeType="withEffect">
                                  <p:stCondLst>
                                    <p:cond delay="0"/>
                                  </p:stCondLst>
                                  <p:childTnLst>
                                    <p:set>
                                      <p:cBhvr>
                                        <p:cTn id="133" dur="1" fill="hold">
                                          <p:stCondLst>
                                            <p:cond delay="0"/>
                                          </p:stCondLst>
                                        </p:cTn>
                                        <p:tgtEl>
                                          <p:spTgt spid="716"/>
                                        </p:tgtEl>
                                        <p:attrNameLst>
                                          <p:attrName>style.visibility</p:attrName>
                                        </p:attrNameLst>
                                      </p:cBhvr>
                                      <p:to>
                                        <p:strVal val="visible"/>
                                      </p:to>
                                    </p:set>
                                    <p:animEffect transition="in" filter="fade">
                                      <p:cBhvr>
                                        <p:cTn id="134" dur="500"/>
                                        <p:tgtEl>
                                          <p:spTgt spid="716"/>
                                        </p:tgtEl>
                                      </p:cBhvr>
                                    </p:animEffect>
                                  </p:childTnLst>
                                </p:cTn>
                              </p:par>
                              <p:par>
                                <p:cTn id="135" presetID="10" presetClass="entr" presetSubtype="0" fill="hold" nodeType="withEffect">
                                  <p:stCondLst>
                                    <p:cond delay="0"/>
                                  </p:stCondLst>
                                  <p:childTnLst>
                                    <p:set>
                                      <p:cBhvr>
                                        <p:cTn id="136" dur="1" fill="hold">
                                          <p:stCondLst>
                                            <p:cond delay="0"/>
                                          </p:stCondLst>
                                        </p:cTn>
                                        <p:tgtEl>
                                          <p:spTgt spid="696"/>
                                        </p:tgtEl>
                                        <p:attrNameLst>
                                          <p:attrName>style.visibility</p:attrName>
                                        </p:attrNameLst>
                                      </p:cBhvr>
                                      <p:to>
                                        <p:strVal val="visible"/>
                                      </p:to>
                                    </p:set>
                                    <p:animEffect transition="in" filter="fade">
                                      <p:cBhvr>
                                        <p:cTn id="137" dur="500"/>
                                        <p:tgtEl>
                                          <p:spTgt spid="696"/>
                                        </p:tgtEl>
                                      </p:cBhvr>
                                    </p:animEffect>
                                  </p:childTnLst>
                                </p:cTn>
                              </p:par>
                              <p:par>
                                <p:cTn id="138" presetID="10" presetClass="entr" presetSubtype="0" fill="hold" nodeType="withEffect">
                                  <p:stCondLst>
                                    <p:cond delay="0"/>
                                  </p:stCondLst>
                                  <p:childTnLst>
                                    <p:set>
                                      <p:cBhvr>
                                        <p:cTn id="139" dur="1" fill="hold">
                                          <p:stCondLst>
                                            <p:cond delay="0"/>
                                          </p:stCondLst>
                                        </p:cTn>
                                        <p:tgtEl>
                                          <p:spTgt spid="333"/>
                                        </p:tgtEl>
                                        <p:attrNameLst>
                                          <p:attrName>style.visibility</p:attrName>
                                        </p:attrNameLst>
                                      </p:cBhvr>
                                      <p:to>
                                        <p:strVal val="visible"/>
                                      </p:to>
                                    </p:set>
                                    <p:animEffect transition="in" filter="fade">
                                      <p:cBhvr>
                                        <p:cTn id="140" dur="500"/>
                                        <p:tgtEl>
                                          <p:spTgt spid="333"/>
                                        </p:tgtEl>
                                      </p:cBhvr>
                                    </p:animEffect>
                                  </p:childTnLst>
                                </p:cTn>
                              </p:par>
                              <p:par>
                                <p:cTn id="141" presetID="1" presetClass="entr" presetSubtype="0" fill="hold" nodeType="withEffect">
                                  <p:stCondLst>
                                    <p:cond delay="0"/>
                                  </p:stCondLst>
                                  <p:childTnLst>
                                    <p:set>
                                      <p:cBhvr>
                                        <p:cTn id="142" dur="1" fill="hold">
                                          <p:stCondLst>
                                            <p:cond delay="0"/>
                                          </p:stCondLst>
                                        </p:cTn>
                                        <p:tgtEl>
                                          <p:spTgt spid="74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0" presetClass="exit" presetSubtype="0" fill="hold" nodeType="clickEffect">
                                  <p:stCondLst>
                                    <p:cond delay="0"/>
                                  </p:stCondLst>
                                  <p:childTnLst>
                                    <p:animEffect transition="out" filter="fade">
                                      <p:cBhvr>
                                        <p:cTn id="146" dur="500"/>
                                        <p:tgtEl>
                                          <p:spTgt spid="742"/>
                                        </p:tgtEl>
                                      </p:cBhvr>
                                    </p:animEffect>
                                    <p:set>
                                      <p:cBhvr>
                                        <p:cTn id="147" dur="1" fill="hold">
                                          <p:stCondLst>
                                            <p:cond delay="500"/>
                                          </p:stCondLst>
                                        </p:cTn>
                                        <p:tgtEl>
                                          <p:spTgt spid="742"/>
                                        </p:tgtEl>
                                        <p:attrNameLst>
                                          <p:attrName>style.visibility</p:attrName>
                                        </p:attrNameLst>
                                      </p:cBhvr>
                                      <p:to>
                                        <p:strVal val="hidden"/>
                                      </p:to>
                                    </p:set>
                                  </p:childTnLst>
                                </p:cTn>
                              </p:par>
                              <p:par>
                                <p:cTn id="148" presetID="10" presetClass="exit" presetSubtype="0" fill="hold" nodeType="withEffect">
                                  <p:stCondLst>
                                    <p:cond delay="0"/>
                                  </p:stCondLst>
                                  <p:childTnLst>
                                    <p:animEffect transition="out" filter="fade">
                                      <p:cBhvr>
                                        <p:cTn id="149" dur="500"/>
                                        <p:tgtEl>
                                          <p:spTgt spid="743"/>
                                        </p:tgtEl>
                                      </p:cBhvr>
                                    </p:animEffect>
                                    <p:set>
                                      <p:cBhvr>
                                        <p:cTn id="150" dur="1" fill="hold">
                                          <p:stCondLst>
                                            <p:cond delay="500"/>
                                          </p:stCondLst>
                                        </p:cTn>
                                        <p:tgtEl>
                                          <p:spTgt spid="743"/>
                                        </p:tgtEl>
                                        <p:attrNameLst>
                                          <p:attrName>style.visibility</p:attrName>
                                        </p:attrNameLst>
                                      </p:cBhvr>
                                      <p:to>
                                        <p:strVal val="hidden"/>
                                      </p:to>
                                    </p:set>
                                  </p:childTnLst>
                                </p:cTn>
                              </p:par>
                              <p:par>
                                <p:cTn id="151" presetID="1" presetClass="entr" presetSubtype="0" fill="hold" nodeType="withEffect">
                                  <p:stCondLst>
                                    <p:cond delay="0"/>
                                  </p:stCondLst>
                                  <p:childTnLst>
                                    <p:set>
                                      <p:cBhvr>
                                        <p:cTn id="152"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4"/>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…Fibonacci Numbers</a:t>
            </a:r>
            <a:endParaRPr/>
          </a:p>
        </p:txBody>
      </p:sp>
      <p:sp>
        <p:nvSpPr>
          <p:cNvPr id="750" name="Google Shape;750;p4"/>
          <p:cNvSpPr txBox="1">
            <a:spLocks noGrp="1"/>
          </p:cNvSpPr>
          <p:nvPr>
            <p:ph type="body" idx="4294967295"/>
          </p:nvPr>
        </p:nvSpPr>
        <p:spPr>
          <a:xfrm>
            <a:off x="1373981" y="2128838"/>
            <a:ext cx="6396037" cy="3586162"/>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i="1"/>
              <a:t>F(n)= F(n-1)+ F(n-2)</a:t>
            </a:r>
            <a:endParaRPr i="1" baseline="-25000"/>
          </a:p>
          <a:p>
            <a:pPr marL="454025" lvl="0" indent="-454025" algn="l" rtl="0">
              <a:spcBef>
                <a:spcPts val="2000"/>
              </a:spcBef>
              <a:spcAft>
                <a:spcPts val="0"/>
              </a:spcAft>
              <a:buSzPts val="2160"/>
              <a:buChar char="🡽"/>
            </a:pPr>
            <a:r>
              <a:rPr lang="en-US" i="1"/>
              <a:t>F(0)</a:t>
            </a:r>
            <a:r>
              <a:rPr lang="en-US" i="1" baseline="-25000"/>
              <a:t> </a:t>
            </a:r>
            <a:r>
              <a:rPr lang="en-US" i="1"/>
              <a:t>=0, F(1)</a:t>
            </a:r>
            <a:r>
              <a:rPr lang="en-US" i="1" baseline="-25000"/>
              <a:t> </a:t>
            </a:r>
            <a:r>
              <a:rPr lang="en-US" i="1"/>
              <a:t>=1</a:t>
            </a:r>
            <a:endParaRPr/>
          </a:p>
          <a:p>
            <a:pPr marL="914400" lvl="1" indent="-457200" algn="l" rtl="0">
              <a:spcBef>
                <a:spcPts val="600"/>
              </a:spcBef>
              <a:spcAft>
                <a:spcPts val="0"/>
              </a:spcAft>
              <a:buSzPts val="1980"/>
              <a:buChar char="🡽"/>
            </a:pPr>
            <a:r>
              <a:rPr lang="en-US"/>
              <a:t>0, 1, 1, 2, 3, 5, 8, 13, 21, 34 … </a:t>
            </a:r>
            <a:endParaRPr/>
          </a:p>
          <a:p>
            <a:pPr marL="914400" lvl="1" indent="-331469" algn="l" rtl="0">
              <a:spcBef>
                <a:spcPts val="600"/>
              </a:spcBef>
              <a:spcAft>
                <a:spcPts val="0"/>
              </a:spcAft>
              <a:buSzPts val="1980"/>
              <a:buNone/>
            </a:pPr>
            <a:endParaRPr/>
          </a:p>
          <a:p>
            <a:pPr marL="914400" lvl="1" indent="-331469" algn="l" rtl="0">
              <a:spcBef>
                <a:spcPts val="600"/>
              </a:spcBef>
              <a:spcAft>
                <a:spcPts val="0"/>
              </a:spcAft>
              <a:buSzPts val="1980"/>
              <a:buNone/>
            </a:pPr>
            <a:endParaRPr/>
          </a:p>
          <a:p>
            <a:pPr marL="914400" lvl="1" indent="-331469" algn="l" rtl="0">
              <a:spcBef>
                <a:spcPts val="600"/>
              </a:spcBef>
              <a:spcAft>
                <a:spcPts val="0"/>
              </a:spcAft>
              <a:buSzPts val="1980"/>
              <a:buNone/>
            </a:pPr>
            <a:endParaRPr/>
          </a:p>
          <a:p>
            <a:pPr marL="454025" lvl="0" indent="-454025" algn="l" rtl="0">
              <a:spcBef>
                <a:spcPts val="2000"/>
              </a:spcBef>
              <a:spcAft>
                <a:spcPts val="0"/>
              </a:spcAft>
              <a:buSzPts val="2160"/>
              <a:buChar char="🡽"/>
            </a:pPr>
            <a:r>
              <a:rPr lang="en-US"/>
              <a:t>Straightforward recursive procedure is slow!</a:t>
            </a:r>
            <a:endParaRPr/>
          </a:p>
        </p:txBody>
      </p:sp>
      <p:sp>
        <p:nvSpPr>
          <p:cNvPr id="751" name="Google Shape;751;p4"/>
          <p:cNvSpPr txBox="1"/>
          <p:nvPr/>
        </p:nvSpPr>
        <p:spPr>
          <a:xfrm>
            <a:off x="2274687" y="3741210"/>
            <a:ext cx="5263933" cy="715581"/>
          </a:xfrm>
          <a:prstGeom prst="rect">
            <a:avLst/>
          </a:prstGeom>
          <a:solidFill>
            <a:schemeClr val="lt1"/>
          </a:solidFill>
          <a:ln w="127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a:solidFill>
                  <a:schemeClr val="dk1"/>
                </a:solidFill>
                <a:latin typeface="Courier New"/>
                <a:ea typeface="Courier New"/>
                <a:cs typeface="Courier New"/>
                <a:sym typeface="Courier New"/>
              </a:rPr>
              <a:t>FibonacciR</a:t>
            </a:r>
            <a:r>
              <a:rPr lang="en-US" sz="1350">
                <a:solidFill>
                  <a:schemeClr val="dk1"/>
                </a:solidFill>
                <a:latin typeface="Courier New"/>
                <a:ea typeface="Courier New"/>
                <a:cs typeface="Courier New"/>
                <a:sym typeface="Courier New"/>
              </a:rPr>
              <a:t>(n)</a:t>
            </a:r>
            <a:endParaRPr/>
          </a:p>
          <a:p>
            <a:pPr marL="0" marR="0" lvl="0" indent="0" algn="l" rtl="0">
              <a:spcBef>
                <a:spcPts val="0"/>
              </a:spcBef>
              <a:spcAft>
                <a:spcPts val="0"/>
              </a:spcAft>
              <a:buNone/>
            </a:pPr>
            <a:r>
              <a:rPr lang="en-US" sz="1350">
                <a:solidFill>
                  <a:schemeClr val="dk1"/>
                </a:solidFill>
                <a:latin typeface="Courier New"/>
                <a:ea typeface="Courier New"/>
                <a:cs typeface="Courier New"/>
                <a:sym typeface="Courier New"/>
              </a:rPr>
              <a:t>01 </a:t>
            </a:r>
            <a:r>
              <a:rPr lang="en-US" sz="1350" b="1">
                <a:solidFill>
                  <a:schemeClr val="dk1"/>
                </a:solidFill>
                <a:latin typeface="Courier New"/>
                <a:ea typeface="Courier New"/>
                <a:cs typeface="Courier New"/>
                <a:sym typeface="Courier New"/>
              </a:rPr>
              <a:t>if</a:t>
            </a:r>
            <a:r>
              <a:rPr lang="en-US" sz="1350">
                <a:solidFill>
                  <a:schemeClr val="dk1"/>
                </a:solidFill>
                <a:latin typeface="Courier New"/>
                <a:ea typeface="Courier New"/>
                <a:cs typeface="Courier New"/>
                <a:sym typeface="Courier New"/>
              </a:rPr>
              <a:t> n </a:t>
            </a:r>
            <a:r>
              <a:rPr lang="en-US" sz="1350">
                <a:solidFill>
                  <a:schemeClr val="dk1"/>
                </a:solidFill>
                <a:latin typeface="Noto Sans Symbols"/>
                <a:ea typeface="Noto Sans Symbols"/>
                <a:cs typeface="Noto Sans Symbols"/>
                <a:sym typeface="Noto Sans Symbols"/>
              </a:rPr>
              <a:t>≤</a:t>
            </a:r>
            <a:r>
              <a:rPr lang="en-US" sz="1350">
                <a:solidFill>
                  <a:schemeClr val="dk1"/>
                </a:solidFill>
                <a:latin typeface="Arial"/>
                <a:ea typeface="Arial"/>
                <a:cs typeface="Arial"/>
                <a:sym typeface="Arial"/>
              </a:rPr>
              <a:t> </a:t>
            </a:r>
            <a:r>
              <a:rPr lang="en-US" sz="1350">
                <a:solidFill>
                  <a:schemeClr val="dk1"/>
                </a:solidFill>
                <a:latin typeface="Courier New"/>
                <a:ea typeface="Courier New"/>
                <a:cs typeface="Courier New"/>
                <a:sym typeface="Courier New"/>
              </a:rPr>
              <a:t>1 </a:t>
            </a:r>
            <a:r>
              <a:rPr lang="en-US" sz="1350" b="1">
                <a:solidFill>
                  <a:schemeClr val="dk1"/>
                </a:solidFill>
                <a:latin typeface="Courier New"/>
                <a:ea typeface="Courier New"/>
                <a:cs typeface="Courier New"/>
                <a:sym typeface="Courier New"/>
              </a:rPr>
              <a:t>then return </a:t>
            </a:r>
            <a:r>
              <a:rPr lang="en-US" sz="1350">
                <a:solidFill>
                  <a:schemeClr val="dk1"/>
                </a:solidFill>
                <a:latin typeface="Courier New"/>
                <a:ea typeface="Courier New"/>
                <a:cs typeface="Courier New"/>
                <a:sym typeface="Courier New"/>
              </a:rPr>
              <a:t>n</a:t>
            </a:r>
            <a:endParaRPr/>
          </a:p>
          <a:p>
            <a:pPr marL="0" marR="0" lvl="0" indent="0" algn="l" rtl="0">
              <a:spcBef>
                <a:spcPts val="0"/>
              </a:spcBef>
              <a:spcAft>
                <a:spcPts val="0"/>
              </a:spcAft>
              <a:buNone/>
            </a:pPr>
            <a:r>
              <a:rPr lang="en-US" sz="1350">
                <a:solidFill>
                  <a:schemeClr val="dk1"/>
                </a:solidFill>
                <a:latin typeface="Courier New"/>
                <a:ea typeface="Courier New"/>
                <a:cs typeface="Courier New"/>
                <a:sym typeface="Courier New"/>
              </a:rPr>
              <a:t>02 </a:t>
            </a:r>
            <a:r>
              <a:rPr lang="en-US" sz="1350" b="1">
                <a:solidFill>
                  <a:schemeClr val="dk1"/>
                </a:solidFill>
                <a:latin typeface="Courier New"/>
                <a:ea typeface="Courier New"/>
                <a:cs typeface="Courier New"/>
                <a:sym typeface="Courier New"/>
              </a:rPr>
              <a:t>else return </a:t>
            </a:r>
            <a:r>
              <a:rPr lang="en-US" sz="1350" b="1" i="1">
                <a:solidFill>
                  <a:schemeClr val="dk1"/>
                </a:solidFill>
                <a:latin typeface="Courier New"/>
                <a:ea typeface="Courier New"/>
                <a:cs typeface="Courier New"/>
                <a:sym typeface="Courier New"/>
              </a:rPr>
              <a:t>FibonacciR</a:t>
            </a:r>
            <a:r>
              <a:rPr lang="en-US" sz="1350" b="1">
                <a:solidFill>
                  <a:schemeClr val="dk1"/>
                </a:solidFill>
                <a:latin typeface="Courier New"/>
                <a:ea typeface="Courier New"/>
                <a:cs typeface="Courier New"/>
                <a:sym typeface="Courier New"/>
              </a:rPr>
              <a:t>(</a:t>
            </a:r>
            <a:r>
              <a:rPr lang="en-US" sz="1350">
                <a:solidFill>
                  <a:schemeClr val="dk1"/>
                </a:solidFill>
                <a:latin typeface="Courier New"/>
                <a:ea typeface="Courier New"/>
                <a:cs typeface="Courier New"/>
                <a:sym typeface="Courier New"/>
              </a:rPr>
              <a:t>n-1</a:t>
            </a:r>
            <a:r>
              <a:rPr lang="en-US" sz="1350" b="1">
                <a:solidFill>
                  <a:schemeClr val="dk1"/>
                </a:solidFill>
                <a:latin typeface="Courier New"/>
                <a:ea typeface="Courier New"/>
                <a:cs typeface="Courier New"/>
                <a:sym typeface="Courier New"/>
              </a:rPr>
              <a:t>) </a:t>
            </a:r>
            <a:r>
              <a:rPr lang="en-US" sz="1350">
                <a:solidFill>
                  <a:schemeClr val="dk1"/>
                </a:solidFill>
                <a:latin typeface="Courier New"/>
                <a:ea typeface="Courier New"/>
                <a:cs typeface="Courier New"/>
                <a:sym typeface="Courier New"/>
              </a:rPr>
              <a:t>+ </a:t>
            </a:r>
            <a:r>
              <a:rPr lang="en-US" sz="1350" b="1" i="1">
                <a:solidFill>
                  <a:schemeClr val="dk1"/>
                </a:solidFill>
                <a:latin typeface="Courier New"/>
                <a:ea typeface="Courier New"/>
                <a:cs typeface="Courier New"/>
                <a:sym typeface="Courier New"/>
              </a:rPr>
              <a:t>FibonacciR</a:t>
            </a:r>
            <a:r>
              <a:rPr lang="en-US" sz="1350" b="1">
                <a:solidFill>
                  <a:schemeClr val="dk1"/>
                </a:solidFill>
                <a:latin typeface="Courier New"/>
                <a:ea typeface="Courier New"/>
                <a:cs typeface="Courier New"/>
                <a:sym typeface="Courier New"/>
              </a:rPr>
              <a:t>(</a:t>
            </a:r>
            <a:r>
              <a:rPr lang="en-US" sz="1350">
                <a:solidFill>
                  <a:schemeClr val="dk1"/>
                </a:solidFill>
                <a:latin typeface="Courier New"/>
                <a:ea typeface="Courier New"/>
                <a:cs typeface="Courier New"/>
                <a:sym typeface="Courier New"/>
              </a:rPr>
              <a:t>n-2</a:t>
            </a:r>
            <a:r>
              <a:rPr lang="en-US" sz="1350" b="1">
                <a:solidFill>
                  <a:schemeClr val="dk1"/>
                </a:solidFill>
                <a:latin typeface="Courier New"/>
                <a:ea typeface="Courier New"/>
                <a:cs typeface="Courier New"/>
                <a:sym typeface="Courier New"/>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5"/>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…Fibonacci Numbers</a:t>
            </a:r>
            <a:endParaRPr/>
          </a:p>
        </p:txBody>
      </p:sp>
      <p:sp>
        <p:nvSpPr>
          <p:cNvPr id="758" name="Google Shape;758;p5"/>
          <p:cNvSpPr txBox="1">
            <a:spLocks noGrp="1"/>
          </p:cNvSpPr>
          <p:nvPr>
            <p:ph type="body" idx="4294967295"/>
          </p:nvPr>
        </p:nvSpPr>
        <p:spPr>
          <a:xfrm>
            <a:off x="1788468" y="4982377"/>
            <a:ext cx="6608762" cy="741362"/>
          </a:xfrm>
          <a:prstGeom prst="rect">
            <a:avLst/>
          </a:prstGeom>
          <a:noFill/>
          <a:ln>
            <a:noFill/>
          </a:ln>
        </p:spPr>
        <p:txBody>
          <a:bodyPr spcFirstLastPara="1" wrap="square" lIns="91425" tIns="45700" rIns="91425" bIns="45700" anchor="t" anchorCtr="0">
            <a:normAutofit/>
          </a:bodyPr>
          <a:lstStyle/>
          <a:p>
            <a:pPr marL="454025" lvl="0" indent="-454025" algn="l" rtl="0">
              <a:lnSpc>
                <a:spcPct val="90000"/>
              </a:lnSpc>
              <a:spcBef>
                <a:spcPts val="0"/>
              </a:spcBef>
              <a:spcAft>
                <a:spcPts val="0"/>
              </a:spcAft>
              <a:buSzPts val="1620"/>
              <a:buChar char="🡽"/>
            </a:pPr>
            <a:r>
              <a:rPr lang="en-US" sz="1800"/>
              <a:t>We keep calculating the same value over and over!</a:t>
            </a:r>
            <a:endParaRPr/>
          </a:p>
          <a:p>
            <a:pPr marL="914400" lvl="1" indent="-457200" algn="l" rtl="0">
              <a:lnSpc>
                <a:spcPct val="90000"/>
              </a:lnSpc>
              <a:spcBef>
                <a:spcPts val="600"/>
              </a:spcBef>
              <a:spcAft>
                <a:spcPts val="0"/>
              </a:spcAft>
              <a:buSzPts val="1350"/>
              <a:buChar char="🡽"/>
            </a:pPr>
            <a:r>
              <a:rPr lang="en-US" sz="1500"/>
              <a:t>Subproblems are overlapping – they share sub-subproblems</a:t>
            </a:r>
            <a:endParaRPr/>
          </a:p>
        </p:txBody>
      </p:sp>
      <p:grpSp>
        <p:nvGrpSpPr>
          <p:cNvPr id="759" name="Google Shape;759;p5"/>
          <p:cNvGrpSpPr/>
          <p:nvPr/>
        </p:nvGrpSpPr>
        <p:grpSpPr>
          <a:xfrm>
            <a:off x="2697469" y="2577482"/>
            <a:ext cx="5167467" cy="1537497"/>
            <a:chOff x="1306" y="1402"/>
            <a:chExt cx="4339" cy="1291"/>
          </a:xfrm>
        </p:grpSpPr>
        <p:sp>
          <p:nvSpPr>
            <p:cNvPr id="760" name="Google Shape;760;p5"/>
            <p:cNvSpPr/>
            <p:nvPr/>
          </p:nvSpPr>
          <p:spPr>
            <a:xfrm>
              <a:off x="3515" y="1402"/>
              <a:ext cx="2130" cy="1291"/>
            </a:xfrm>
            <a:prstGeom prst="triangle">
              <a:avLst>
                <a:gd name="adj" fmla="val 60046"/>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61" name="Google Shape;761;p5"/>
            <p:cNvSpPr/>
            <p:nvPr/>
          </p:nvSpPr>
          <p:spPr>
            <a:xfrm>
              <a:off x="2355" y="1783"/>
              <a:ext cx="1068" cy="910"/>
            </a:xfrm>
            <a:prstGeom prst="triangle">
              <a:avLst>
                <a:gd name="adj" fmla="val 56181"/>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62" name="Google Shape;762;p5"/>
            <p:cNvSpPr/>
            <p:nvPr/>
          </p:nvSpPr>
          <p:spPr>
            <a:xfrm>
              <a:off x="1712" y="2148"/>
              <a:ext cx="605" cy="545"/>
            </a:xfrm>
            <a:prstGeom prst="triangle">
              <a:avLst>
                <a:gd name="adj" fmla="val 59338"/>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763" name="Google Shape;763;p5"/>
            <p:cNvSpPr/>
            <p:nvPr/>
          </p:nvSpPr>
          <p:spPr>
            <a:xfrm>
              <a:off x="1306" y="2481"/>
              <a:ext cx="388" cy="212"/>
            </a:xfrm>
            <a:prstGeom prst="triangle">
              <a:avLst>
                <a:gd name="adj" fmla="val 50000"/>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764" name="Google Shape;764;p5"/>
          <p:cNvSpPr txBox="1"/>
          <p:nvPr/>
        </p:nvSpPr>
        <p:spPr>
          <a:xfrm>
            <a:off x="4392170" y="2015360"/>
            <a:ext cx="74571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1">
                <a:solidFill>
                  <a:schemeClr val="dk1"/>
                </a:solidFill>
                <a:latin typeface="Tahoma"/>
                <a:ea typeface="Tahoma"/>
                <a:cs typeface="Tahoma"/>
                <a:sym typeface="Tahoma"/>
              </a:rPr>
              <a:t>F(6) = 8</a:t>
            </a:r>
            <a:endParaRPr/>
          </a:p>
        </p:txBody>
      </p:sp>
      <p:sp>
        <p:nvSpPr>
          <p:cNvPr id="765" name="Google Shape;765;p5"/>
          <p:cNvSpPr txBox="1"/>
          <p:nvPr/>
        </p:nvSpPr>
        <p:spPr>
          <a:xfrm>
            <a:off x="3453712" y="2469106"/>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F(5)</a:t>
            </a:r>
            <a:endParaRPr/>
          </a:p>
        </p:txBody>
      </p:sp>
      <p:sp>
        <p:nvSpPr>
          <p:cNvPr id="766" name="Google Shape;766;p5"/>
          <p:cNvSpPr txBox="1"/>
          <p:nvPr/>
        </p:nvSpPr>
        <p:spPr>
          <a:xfrm>
            <a:off x="3008303" y="292285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F(4)</a:t>
            </a:r>
            <a:endParaRPr/>
          </a:p>
        </p:txBody>
      </p:sp>
      <p:sp>
        <p:nvSpPr>
          <p:cNvPr id="767" name="Google Shape;767;p5"/>
          <p:cNvSpPr txBox="1"/>
          <p:nvPr/>
        </p:nvSpPr>
        <p:spPr>
          <a:xfrm>
            <a:off x="2564084" y="3376599"/>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F(3)</a:t>
            </a:r>
            <a:endParaRPr/>
          </a:p>
        </p:txBody>
      </p:sp>
      <p:sp>
        <p:nvSpPr>
          <p:cNvPr id="768" name="Google Shape;768;p5"/>
          <p:cNvSpPr txBox="1"/>
          <p:nvPr/>
        </p:nvSpPr>
        <p:spPr>
          <a:xfrm>
            <a:off x="1674455" y="428528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F(1)</a:t>
            </a:r>
            <a:endParaRPr/>
          </a:p>
        </p:txBody>
      </p:sp>
      <p:sp>
        <p:nvSpPr>
          <p:cNvPr id="769" name="Google Shape;769;p5"/>
          <p:cNvSpPr txBox="1"/>
          <p:nvPr/>
        </p:nvSpPr>
        <p:spPr>
          <a:xfrm>
            <a:off x="2118675" y="383034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F(2)</a:t>
            </a:r>
            <a:endParaRPr/>
          </a:p>
        </p:txBody>
      </p:sp>
      <p:cxnSp>
        <p:nvCxnSpPr>
          <p:cNvPr id="770" name="Google Shape;770;p5"/>
          <p:cNvCxnSpPr>
            <a:stCxn id="764" idx="2"/>
            <a:endCxn id="765" idx="0"/>
          </p:cNvCxnSpPr>
          <p:nvPr/>
        </p:nvCxnSpPr>
        <p:spPr>
          <a:xfrm flipH="1">
            <a:off x="3669429" y="2269276"/>
            <a:ext cx="10956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771" name="Google Shape;771;p5"/>
          <p:cNvCxnSpPr>
            <a:stCxn id="765" idx="2"/>
            <a:endCxn id="766" idx="0"/>
          </p:cNvCxnSpPr>
          <p:nvPr/>
        </p:nvCxnSpPr>
        <p:spPr>
          <a:xfrm flipH="1">
            <a:off x="3223976" y="2723022"/>
            <a:ext cx="4455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772" name="Google Shape;772;p5"/>
          <p:cNvCxnSpPr>
            <a:stCxn id="767" idx="0"/>
            <a:endCxn id="766" idx="2"/>
          </p:cNvCxnSpPr>
          <p:nvPr/>
        </p:nvCxnSpPr>
        <p:spPr>
          <a:xfrm rot="10800000" flipH="1">
            <a:off x="2779848" y="3176799"/>
            <a:ext cx="4443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773" name="Google Shape;773;p5"/>
          <p:cNvCxnSpPr>
            <a:stCxn id="767" idx="2"/>
            <a:endCxn id="769" idx="0"/>
          </p:cNvCxnSpPr>
          <p:nvPr/>
        </p:nvCxnSpPr>
        <p:spPr>
          <a:xfrm flipH="1">
            <a:off x="2334348" y="3630515"/>
            <a:ext cx="4455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774" name="Google Shape;774;p5"/>
          <p:cNvCxnSpPr>
            <a:stCxn id="769" idx="2"/>
            <a:endCxn id="768" idx="0"/>
          </p:cNvCxnSpPr>
          <p:nvPr/>
        </p:nvCxnSpPr>
        <p:spPr>
          <a:xfrm flipH="1">
            <a:off x="1890139" y="4084261"/>
            <a:ext cx="444300" cy="201000"/>
          </a:xfrm>
          <a:prstGeom prst="straightConnector1">
            <a:avLst/>
          </a:prstGeom>
          <a:noFill/>
          <a:ln w="9525" cap="flat" cmpd="sng">
            <a:solidFill>
              <a:schemeClr val="dk1"/>
            </a:solidFill>
            <a:prstDash val="solid"/>
            <a:miter lim="800000"/>
            <a:headEnd type="none" w="med" len="med"/>
            <a:tailEnd type="none" w="med" len="med"/>
          </a:ln>
        </p:spPr>
      </p:cxnSp>
      <p:sp>
        <p:nvSpPr>
          <p:cNvPr id="775" name="Google Shape;775;p5"/>
          <p:cNvSpPr txBox="1"/>
          <p:nvPr/>
        </p:nvSpPr>
        <p:spPr>
          <a:xfrm>
            <a:off x="2383062" y="431029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F(0)</a:t>
            </a:r>
            <a:endParaRPr/>
          </a:p>
        </p:txBody>
      </p:sp>
      <p:cxnSp>
        <p:nvCxnSpPr>
          <p:cNvPr id="776" name="Google Shape;776;p5"/>
          <p:cNvCxnSpPr>
            <a:stCxn id="769" idx="2"/>
            <a:endCxn id="775" idx="0"/>
          </p:cNvCxnSpPr>
          <p:nvPr/>
        </p:nvCxnSpPr>
        <p:spPr>
          <a:xfrm>
            <a:off x="2334439" y="4084261"/>
            <a:ext cx="264300" cy="225900"/>
          </a:xfrm>
          <a:prstGeom prst="straightConnector1">
            <a:avLst/>
          </a:prstGeom>
          <a:noFill/>
          <a:ln w="9525" cap="flat" cmpd="sng">
            <a:solidFill>
              <a:schemeClr val="dk1"/>
            </a:solidFill>
            <a:prstDash val="solid"/>
            <a:miter lim="800000"/>
            <a:headEnd type="none" w="med" len="med"/>
            <a:tailEnd type="none" w="med" len="med"/>
          </a:ln>
        </p:spPr>
      </p:cxnSp>
      <p:sp>
        <p:nvSpPr>
          <p:cNvPr id="777" name="Google Shape;777;p5"/>
          <p:cNvSpPr txBox="1"/>
          <p:nvPr/>
        </p:nvSpPr>
        <p:spPr>
          <a:xfrm>
            <a:off x="2747488" y="3849400"/>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778" name="Google Shape;778;p5"/>
          <p:cNvCxnSpPr>
            <a:stCxn id="767" idx="2"/>
            <a:endCxn id="777" idx="0"/>
          </p:cNvCxnSpPr>
          <p:nvPr/>
        </p:nvCxnSpPr>
        <p:spPr>
          <a:xfrm>
            <a:off x="2779848" y="3630515"/>
            <a:ext cx="183300" cy="219000"/>
          </a:xfrm>
          <a:prstGeom prst="straightConnector1">
            <a:avLst/>
          </a:prstGeom>
          <a:noFill/>
          <a:ln w="9525" cap="flat" cmpd="sng">
            <a:solidFill>
              <a:schemeClr val="dk1"/>
            </a:solidFill>
            <a:prstDash val="solid"/>
            <a:miter lim="800000"/>
            <a:headEnd type="none" w="med" len="med"/>
            <a:tailEnd type="none" w="med" len="med"/>
          </a:ln>
        </p:spPr>
      </p:cxnSp>
      <p:sp>
        <p:nvSpPr>
          <p:cNvPr id="779" name="Google Shape;779;p5"/>
          <p:cNvSpPr txBox="1"/>
          <p:nvPr/>
        </p:nvSpPr>
        <p:spPr>
          <a:xfrm>
            <a:off x="3139306" y="385297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780" name="Google Shape;780;p5"/>
          <p:cNvSpPr txBox="1"/>
          <p:nvPr/>
        </p:nvSpPr>
        <p:spPr>
          <a:xfrm>
            <a:off x="3404884" y="339803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781" name="Google Shape;781;p5"/>
          <p:cNvCxnSpPr>
            <a:stCxn id="780" idx="2"/>
            <a:endCxn id="779" idx="0"/>
          </p:cNvCxnSpPr>
          <p:nvPr/>
        </p:nvCxnSpPr>
        <p:spPr>
          <a:xfrm flipH="1">
            <a:off x="3355148" y="3651951"/>
            <a:ext cx="265500" cy="201000"/>
          </a:xfrm>
          <a:prstGeom prst="straightConnector1">
            <a:avLst/>
          </a:prstGeom>
          <a:noFill/>
          <a:ln w="9525" cap="flat" cmpd="sng">
            <a:solidFill>
              <a:schemeClr val="dk1"/>
            </a:solidFill>
            <a:prstDash val="solid"/>
            <a:miter lim="800000"/>
            <a:headEnd type="none" w="med" len="med"/>
            <a:tailEnd type="none" w="med" len="med"/>
          </a:ln>
        </p:spPr>
      </p:cxnSp>
      <p:sp>
        <p:nvSpPr>
          <p:cNvPr id="782" name="Google Shape;782;p5"/>
          <p:cNvSpPr txBox="1"/>
          <p:nvPr/>
        </p:nvSpPr>
        <p:spPr>
          <a:xfrm>
            <a:off x="3573196" y="3877983"/>
            <a:ext cx="431529" cy="2539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783" name="Google Shape;783;p5"/>
          <p:cNvCxnSpPr>
            <a:stCxn id="780" idx="2"/>
            <a:endCxn id="782" idx="0"/>
          </p:cNvCxnSpPr>
          <p:nvPr/>
        </p:nvCxnSpPr>
        <p:spPr>
          <a:xfrm>
            <a:off x="3620648" y="3651951"/>
            <a:ext cx="168300" cy="225900"/>
          </a:xfrm>
          <a:prstGeom prst="straightConnector1">
            <a:avLst/>
          </a:prstGeom>
          <a:noFill/>
          <a:ln w="9525" cap="flat" cmpd="sng">
            <a:solidFill>
              <a:schemeClr val="dk1"/>
            </a:solidFill>
            <a:prstDash val="solid"/>
            <a:miter lim="800000"/>
            <a:headEnd type="none" w="med" len="med"/>
            <a:tailEnd type="none" w="med" len="med"/>
          </a:ln>
        </p:spPr>
      </p:cxnSp>
      <p:cxnSp>
        <p:nvCxnSpPr>
          <p:cNvPr id="784" name="Google Shape;784;p5"/>
          <p:cNvCxnSpPr>
            <a:stCxn id="766" idx="2"/>
            <a:endCxn id="780" idx="0"/>
          </p:cNvCxnSpPr>
          <p:nvPr/>
        </p:nvCxnSpPr>
        <p:spPr>
          <a:xfrm>
            <a:off x="3224067" y="3176769"/>
            <a:ext cx="396600" cy="221400"/>
          </a:xfrm>
          <a:prstGeom prst="straightConnector1">
            <a:avLst/>
          </a:prstGeom>
          <a:noFill/>
          <a:ln w="9525" cap="flat" cmpd="sng">
            <a:solidFill>
              <a:schemeClr val="dk1"/>
            </a:solidFill>
            <a:prstDash val="solid"/>
            <a:miter lim="800000"/>
            <a:headEnd type="none" w="med" len="med"/>
            <a:tailEnd type="none" w="med" len="med"/>
          </a:ln>
        </p:spPr>
      </p:cxnSp>
      <p:sp>
        <p:nvSpPr>
          <p:cNvPr id="785" name="Google Shape;785;p5"/>
          <p:cNvSpPr txBox="1"/>
          <p:nvPr/>
        </p:nvSpPr>
        <p:spPr>
          <a:xfrm>
            <a:off x="4435043" y="2958581"/>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786" name="Google Shape;786;p5"/>
          <p:cNvSpPr txBox="1"/>
          <p:nvPr/>
        </p:nvSpPr>
        <p:spPr>
          <a:xfrm>
            <a:off x="3952715" y="3874410"/>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787" name="Google Shape;787;p5"/>
          <p:cNvSpPr txBox="1"/>
          <p:nvPr/>
        </p:nvSpPr>
        <p:spPr>
          <a:xfrm>
            <a:off x="4225438" y="341947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788" name="Google Shape;788;p5"/>
          <p:cNvCxnSpPr>
            <a:stCxn id="785" idx="0"/>
            <a:endCxn id="765" idx="2"/>
          </p:cNvCxnSpPr>
          <p:nvPr/>
        </p:nvCxnSpPr>
        <p:spPr>
          <a:xfrm rot="10800000">
            <a:off x="3669507" y="2723081"/>
            <a:ext cx="981300" cy="235500"/>
          </a:xfrm>
          <a:prstGeom prst="straightConnector1">
            <a:avLst/>
          </a:prstGeom>
          <a:noFill/>
          <a:ln w="9525" cap="flat" cmpd="sng">
            <a:solidFill>
              <a:schemeClr val="dk1"/>
            </a:solidFill>
            <a:prstDash val="solid"/>
            <a:miter lim="800000"/>
            <a:headEnd type="none" w="med" len="med"/>
            <a:tailEnd type="none" w="med" len="med"/>
          </a:ln>
        </p:spPr>
      </p:cxnSp>
      <p:cxnSp>
        <p:nvCxnSpPr>
          <p:cNvPr id="789" name="Google Shape;789;p5"/>
          <p:cNvCxnSpPr>
            <a:stCxn id="785" idx="2"/>
            <a:endCxn id="787" idx="0"/>
          </p:cNvCxnSpPr>
          <p:nvPr/>
        </p:nvCxnSpPr>
        <p:spPr>
          <a:xfrm flipH="1">
            <a:off x="4441107" y="3212497"/>
            <a:ext cx="209700" cy="207000"/>
          </a:xfrm>
          <a:prstGeom prst="straightConnector1">
            <a:avLst/>
          </a:prstGeom>
          <a:noFill/>
          <a:ln w="9525" cap="flat" cmpd="sng">
            <a:solidFill>
              <a:schemeClr val="dk1"/>
            </a:solidFill>
            <a:prstDash val="solid"/>
            <a:miter lim="800000"/>
            <a:headEnd type="none" w="med" len="med"/>
            <a:tailEnd type="none" w="med" len="med"/>
          </a:ln>
        </p:spPr>
      </p:cxnSp>
      <p:cxnSp>
        <p:nvCxnSpPr>
          <p:cNvPr id="790" name="Google Shape;790;p5"/>
          <p:cNvCxnSpPr>
            <a:stCxn id="787" idx="2"/>
            <a:endCxn id="786" idx="0"/>
          </p:cNvCxnSpPr>
          <p:nvPr/>
        </p:nvCxnSpPr>
        <p:spPr>
          <a:xfrm flipH="1">
            <a:off x="4168502" y="3673388"/>
            <a:ext cx="272700" cy="201000"/>
          </a:xfrm>
          <a:prstGeom prst="straightConnector1">
            <a:avLst/>
          </a:prstGeom>
          <a:noFill/>
          <a:ln w="9525" cap="flat" cmpd="sng">
            <a:solidFill>
              <a:schemeClr val="dk1"/>
            </a:solidFill>
            <a:prstDash val="solid"/>
            <a:miter lim="800000"/>
            <a:headEnd type="none" w="med" len="med"/>
            <a:tailEnd type="none" w="med" len="med"/>
          </a:ln>
        </p:spPr>
      </p:cxnSp>
      <p:sp>
        <p:nvSpPr>
          <p:cNvPr id="791" name="Google Shape;791;p5"/>
          <p:cNvSpPr txBox="1"/>
          <p:nvPr/>
        </p:nvSpPr>
        <p:spPr>
          <a:xfrm>
            <a:off x="4418370" y="3892274"/>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792" name="Google Shape;792;p5"/>
          <p:cNvCxnSpPr>
            <a:stCxn id="787" idx="2"/>
            <a:endCxn id="791" idx="0"/>
          </p:cNvCxnSpPr>
          <p:nvPr/>
        </p:nvCxnSpPr>
        <p:spPr>
          <a:xfrm>
            <a:off x="4441202" y="3673388"/>
            <a:ext cx="192900" cy="219000"/>
          </a:xfrm>
          <a:prstGeom prst="straightConnector1">
            <a:avLst/>
          </a:prstGeom>
          <a:noFill/>
          <a:ln w="9525" cap="flat" cmpd="sng">
            <a:solidFill>
              <a:schemeClr val="dk1"/>
            </a:solidFill>
            <a:prstDash val="solid"/>
            <a:miter lim="800000"/>
            <a:headEnd type="none" w="med" len="med"/>
            <a:tailEnd type="none" w="med" len="med"/>
          </a:ln>
        </p:spPr>
      </p:cxnSp>
      <p:sp>
        <p:nvSpPr>
          <p:cNvPr id="793" name="Google Shape;793;p5"/>
          <p:cNvSpPr txBox="1"/>
          <p:nvPr/>
        </p:nvSpPr>
        <p:spPr>
          <a:xfrm>
            <a:off x="4661321" y="343138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794" name="Google Shape;794;p5"/>
          <p:cNvCxnSpPr>
            <a:stCxn id="785" idx="2"/>
            <a:endCxn id="793" idx="0"/>
          </p:cNvCxnSpPr>
          <p:nvPr/>
        </p:nvCxnSpPr>
        <p:spPr>
          <a:xfrm>
            <a:off x="4650807" y="3212497"/>
            <a:ext cx="226200" cy="219000"/>
          </a:xfrm>
          <a:prstGeom prst="straightConnector1">
            <a:avLst/>
          </a:prstGeom>
          <a:noFill/>
          <a:ln w="9525" cap="flat" cmpd="sng">
            <a:solidFill>
              <a:schemeClr val="dk1"/>
            </a:solidFill>
            <a:prstDash val="solid"/>
            <a:miter lim="800000"/>
            <a:headEnd type="none" w="med" len="med"/>
            <a:tailEnd type="none" w="med" len="med"/>
          </a:ln>
        </p:spPr>
      </p:cxnSp>
      <p:sp>
        <p:nvSpPr>
          <p:cNvPr id="795" name="Google Shape;795;p5"/>
          <p:cNvSpPr txBox="1"/>
          <p:nvPr/>
        </p:nvSpPr>
        <p:spPr>
          <a:xfrm>
            <a:off x="6639464" y="251912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F(4)</a:t>
            </a:r>
            <a:endParaRPr/>
          </a:p>
        </p:txBody>
      </p:sp>
      <p:sp>
        <p:nvSpPr>
          <p:cNvPr id="796" name="Google Shape;796;p5"/>
          <p:cNvSpPr txBox="1"/>
          <p:nvPr/>
        </p:nvSpPr>
        <p:spPr>
          <a:xfrm>
            <a:off x="6195245" y="297287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797" name="Google Shape;797;p5"/>
          <p:cNvSpPr txBox="1"/>
          <p:nvPr/>
        </p:nvSpPr>
        <p:spPr>
          <a:xfrm>
            <a:off x="5305617" y="388155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798" name="Google Shape;798;p5"/>
          <p:cNvSpPr txBox="1"/>
          <p:nvPr/>
        </p:nvSpPr>
        <p:spPr>
          <a:xfrm>
            <a:off x="5749835" y="3426618"/>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799" name="Google Shape;799;p5"/>
          <p:cNvCxnSpPr>
            <a:stCxn id="764" idx="2"/>
            <a:endCxn id="795" idx="0"/>
          </p:cNvCxnSpPr>
          <p:nvPr/>
        </p:nvCxnSpPr>
        <p:spPr>
          <a:xfrm>
            <a:off x="4765029" y="2269276"/>
            <a:ext cx="2090100" cy="249900"/>
          </a:xfrm>
          <a:prstGeom prst="straightConnector1">
            <a:avLst/>
          </a:prstGeom>
          <a:noFill/>
          <a:ln w="9525" cap="flat" cmpd="sng">
            <a:solidFill>
              <a:schemeClr val="dk1"/>
            </a:solidFill>
            <a:prstDash val="solid"/>
            <a:miter lim="800000"/>
            <a:headEnd type="none" w="med" len="med"/>
            <a:tailEnd type="none" w="med" len="med"/>
          </a:ln>
        </p:spPr>
      </p:cxnSp>
      <p:cxnSp>
        <p:nvCxnSpPr>
          <p:cNvPr id="800" name="Google Shape;800;p5"/>
          <p:cNvCxnSpPr>
            <a:stCxn id="796" idx="0"/>
            <a:endCxn id="795" idx="2"/>
          </p:cNvCxnSpPr>
          <p:nvPr/>
        </p:nvCxnSpPr>
        <p:spPr>
          <a:xfrm rot="10800000" flipH="1">
            <a:off x="6411009" y="2773072"/>
            <a:ext cx="4443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801" name="Google Shape;801;p5"/>
          <p:cNvCxnSpPr>
            <a:stCxn id="796" idx="2"/>
            <a:endCxn id="798" idx="0"/>
          </p:cNvCxnSpPr>
          <p:nvPr/>
        </p:nvCxnSpPr>
        <p:spPr>
          <a:xfrm flipH="1">
            <a:off x="5965509" y="3226788"/>
            <a:ext cx="4455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802" name="Google Shape;802;p5"/>
          <p:cNvCxnSpPr>
            <a:stCxn id="798" idx="2"/>
            <a:endCxn id="797" idx="0"/>
          </p:cNvCxnSpPr>
          <p:nvPr/>
        </p:nvCxnSpPr>
        <p:spPr>
          <a:xfrm flipH="1">
            <a:off x="5521299" y="3680534"/>
            <a:ext cx="444300" cy="201000"/>
          </a:xfrm>
          <a:prstGeom prst="straightConnector1">
            <a:avLst/>
          </a:prstGeom>
          <a:noFill/>
          <a:ln w="9525" cap="flat" cmpd="sng">
            <a:solidFill>
              <a:schemeClr val="dk1"/>
            </a:solidFill>
            <a:prstDash val="solid"/>
            <a:miter lim="800000"/>
            <a:headEnd type="none" w="med" len="med"/>
            <a:tailEnd type="none" w="med" len="med"/>
          </a:ln>
        </p:spPr>
      </p:cxnSp>
      <p:sp>
        <p:nvSpPr>
          <p:cNvPr id="803" name="Google Shape;803;p5"/>
          <p:cNvSpPr txBox="1"/>
          <p:nvPr/>
        </p:nvSpPr>
        <p:spPr>
          <a:xfrm>
            <a:off x="6014223" y="390656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804" name="Google Shape;804;p5"/>
          <p:cNvCxnSpPr>
            <a:stCxn id="798" idx="2"/>
            <a:endCxn id="803" idx="0"/>
          </p:cNvCxnSpPr>
          <p:nvPr/>
        </p:nvCxnSpPr>
        <p:spPr>
          <a:xfrm>
            <a:off x="5965599" y="3680534"/>
            <a:ext cx="264300" cy="225900"/>
          </a:xfrm>
          <a:prstGeom prst="straightConnector1">
            <a:avLst/>
          </a:prstGeom>
          <a:noFill/>
          <a:ln w="9525" cap="flat" cmpd="sng">
            <a:solidFill>
              <a:schemeClr val="dk1"/>
            </a:solidFill>
            <a:prstDash val="solid"/>
            <a:miter lim="800000"/>
            <a:headEnd type="none" w="med" len="med"/>
            <a:tailEnd type="none" w="med" len="med"/>
          </a:ln>
        </p:spPr>
      </p:cxnSp>
      <p:sp>
        <p:nvSpPr>
          <p:cNvPr id="805" name="Google Shape;805;p5"/>
          <p:cNvSpPr txBox="1"/>
          <p:nvPr/>
        </p:nvSpPr>
        <p:spPr>
          <a:xfrm>
            <a:off x="6378649" y="344567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806" name="Google Shape;806;p5"/>
          <p:cNvCxnSpPr>
            <a:stCxn id="796" idx="2"/>
            <a:endCxn id="805" idx="0"/>
          </p:cNvCxnSpPr>
          <p:nvPr/>
        </p:nvCxnSpPr>
        <p:spPr>
          <a:xfrm>
            <a:off x="6411009" y="3226788"/>
            <a:ext cx="183300" cy="219000"/>
          </a:xfrm>
          <a:prstGeom prst="straightConnector1">
            <a:avLst/>
          </a:prstGeom>
          <a:noFill/>
          <a:ln w="9525" cap="flat" cmpd="sng">
            <a:solidFill>
              <a:schemeClr val="dk1"/>
            </a:solidFill>
            <a:prstDash val="solid"/>
            <a:miter lim="800000"/>
            <a:headEnd type="none" w="med" len="med"/>
            <a:tailEnd type="none" w="med" len="med"/>
          </a:ln>
        </p:spPr>
      </p:cxnSp>
      <p:sp>
        <p:nvSpPr>
          <p:cNvPr id="807" name="Google Shape;807;p5"/>
          <p:cNvSpPr txBox="1"/>
          <p:nvPr/>
        </p:nvSpPr>
        <p:spPr>
          <a:xfrm>
            <a:off x="6770467" y="3449246"/>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808" name="Google Shape;808;p5"/>
          <p:cNvSpPr txBox="1"/>
          <p:nvPr/>
        </p:nvSpPr>
        <p:spPr>
          <a:xfrm>
            <a:off x="6928861" y="2994309"/>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809" name="Google Shape;809;p5"/>
          <p:cNvCxnSpPr>
            <a:stCxn id="808" idx="2"/>
            <a:endCxn id="807" idx="0"/>
          </p:cNvCxnSpPr>
          <p:nvPr/>
        </p:nvCxnSpPr>
        <p:spPr>
          <a:xfrm flipH="1">
            <a:off x="6986225" y="3248225"/>
            <a:ext cx="158400" cy="201000"/>
          </a:xfrm>
          <a:prstGeom prst="straightConnector1">
            <a:avLst/>
          </a:prstGeom>
          <a:noFill/>
          <a:ln w="9525" cap="flat" cmpd="sng">
            <a:solidFill>
              <a:schemeClr val="dk1"/>
            </a:solidFill>
            <a:prstDash val="solid"/>
            <a:miter lim="800000"/>
            <a:headEnd type="none" w="med" len="med"/>
            <a:tailEnd type="none" w="med" len="med"/>
          </a:ln>
        </p:spPr>
      </p:cxnSp>
      <p:sp>
        <p:nvSpPr>
          <p:cNvPr id="810" name="Google Shape;810;p5"/>
          <p:cNvSpPr txBox="1"/>
          <p:nvPr/>
        </p:nvSpPr>
        <p:spPr>
          <a:xfrm>
            <a:off x="7228977" y="347425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811" name="Google Shape;811;p5"/>
          <p:cNvCxnSpPr>
            <a:stCxn id="808" idx="2"/>
            <a:endCxn id="810" idx="0"/>
          </p:cNvCxnSpPr>
          <p:nvPr/>
        </p:nvCxnSpPr>
        <p:spPr>
          <a:xfrm>
            <a:off x="7144625" y="3248225"/>
            <a:ext cx="300000" cy="225900"/>
          </a:xfrm>
          <a:prstGeom prst="straightConnector1">
            <a:avLst/>
          </a:prstGeom>
          <a:noFill/>
          <a:ln w="9525" cap="flat" cmpd="sng">
            <a:solidFill>
              <a:schemeClr val="dk1"/>
            </a:solidFill>
            <a:prstDash val="solid"/>
            <a:miter lim="800000"/>
            <a:headEnd type="none" w="med" len="med"/>
            <a:tailEnd type="none" w="med" len="med"/>
          </a:ln>
        </p:spPr>
      </p:cxnSp>
      <p:cxnSp>
        <p:nvCxnSpPr>
          <p:cNvPr id="812" name="Google Shape;812;p5"/>
          <p:cNvCxnSpPr>
            <a:stCxn id="795" idx="2"/>
            <a:endCxn id="808" idx="0"/>
          </p:cNvCxnSpPr>
          <p:nvPr/>
        </p:nvCxnSpPr>
        <p:spPr>
          <a:xfrm>
            <a:off x="6855228" y="2773041"/>
            <a:ext cx="289500" cy="2214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6"/>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…Fibonacci Numbers</a:t>
            </a:r>
            <a:endParaRPr/>
          </a:p>
        </p:txBody>
      </p:sp>
      <p:sp>
        <p:nvSpPr>
          <p:cNvPr id="819" name="Google Shape;819;p6"/>
          <p:cNvSpPr txBox="1">
            <a:spLocks noGrp="1"/>
          </p:cNvSpPr>
          <p:nvPr>
            <p:ph type="body" idx="4294967295"/>
          </p:nvPr>
        </p:nvSpPr>
        <p:spPr>
          <a:xfrm>
            <a:off x="1486372" y="1791269"/>
            <a:ext cx="6804025" cy="41148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How many summations are there in F(</a:t>
            </a:r>
            <a:r>
              <a:rPr lang="en-US" i="1"/>
              <a:t>n</a:t>
            </a:r>
            <a:r>
              <a:rPr lang="en-US"/>
              <a:t>)?</a:t>
            </a:r>
            <a:endParaRPr/>
          </a:p>
          <a:p>
            <a:pPr marL="914400" lvl="1" indent="-457200" algn="l" rtl="0">
              <a:spcBef>
                <a:spcPts val="600"/>
              </a:spcBef>
              <a:spcAft>
                <a:spcPts val="0"/>
              </a:spcAft>
              <a:buSzPts val="1980"/>
              <a:buChar char="🡽"/>
            </a:pPr>
            <a:r>
              <a:rPr lang="en-US"/>
              <a:t>F(</a:t>
            </a:r>
            <a:r>
              <a:rPr lang="en-US" i="1"/>
              <a:t>n</a:t>
            </a:r>
            <a:r>
              <a:rPr lang="en-US"/>
              <a:t>) = F(</a:t>
            </a:r>
            <a:r>
              <a:rPr lang="en-US" i="1"/>
              <a:t>n </a:t>
            </a:r>
            <a:r>
              <a:rPr lang="en-US"/>
              <a:t>–</a:t>
            </a:r>
            <a:r>
              <a:rPr lang="en-US" i="1"/>
              <a:t> </a:t>
            </a:r>
            <a:r>
              <a:rPr lang="en-US"/>
              <a:t>1) + F(</a:t>
            </a:r>
            <a:r>
              <a:rPr lang="en-US" i="1"/>
              <a:t>n </a:t>
            </a:r>
            <a:r>
              <a:rPr lang="en-US"/>
              <a:t>– 2) + 1  </a:t>
            </a:r>
            <a:endParaRPr/>
          </a:p>
          <a:p>
            <a:pPr marL="914400" lvl="1" indent="-457200" algn="l" rtl="0">
              <a:spcBef>
                <a:spcPts val="600"/>
              </a:spcBef>
              <a:spcAft>
                <a:spcPts val="0"/>
              </a:spcAft>
              <a:buSzPts val="1980"/>
              <a:buChar char="🡽"/>
            </a:pPr>
            <a:r>
              <a:rPr lang="en-US"/>
              <a:t>F(</a:t>
            </a:r>
            <a:r>
              <a:rPr lang="en-US" i="1"/>
              <a:t>n</a:t>
            </a:r>
            <a:r>
              <a:rPr lang="en-US"/>
              <a:t>) </a:t>
            </a:r>
            <a:r>
              <a:rPr lang="en-US">
                <a:latin typeface="Noto Sans Symbols"/>
                <a:ea typeface="Noto Sans Symbols"/>
                <a:cs typeface="Noto Sans Symbols"/>
                <a:sym typeface="Noto Sans Symbols"/>
              </a:rPr>
              <a:t>≥  </a:t>
            </a:r>
            <a:r>
              <a:rPr lang="en-US"/>
              <a:t>2F(</a:t>
            </a:r>
            <a:r>
              <a:rPr lang="en-US" i="1"/>
              <a:t>n </a:t>
            </a:r>
            <a:r>
              <a:rPr lang="en-US"/>
              <a:t>– 2) +1  and  F(1) = F(0) = 0 </a:t>
            </a:r>
            <a:endParaRPr>
              <a:latin typeface="Arial"/>
              <a:ea typeface="Arial"/>
              <a:cs typeface="Arial"/>
              <a:sym typeface="Arial"/>
            </a:endParaRPr>
          </a:p>
          <a:p>
            <a:pPr marL="914400" lvl="1" indent="-457200" algn="l" rtl="0">
              <a:spcBef>
                <a:spcPts val="600"/>
              </a:spcBef>
              <a:spcAft>
                <a:spcPts val="0"/>
              </a:spcAft>
              <a:buSzPts val="1980"/>
              <a:buChar char="🡽"/>
            </a:pPr>
            <a:r>
              <a:rPr lang="en-US"/>
              <a:t>Solving the recurrence we get </a:t>
            </a:r>
            <a:endParaRPr/>
          </a:p>
          <a:p>
            <a:pPr marL="914400" lvl="1" indent="-457200" algn="l" rtl="0">
              <a:spcBef>
                <a:spcPts val="600"/>
              </a:spcBef>
              <a:spcAft>
                <a:spcPts val="0"/>
              </a:spcAft>
              <a:buSzPts val="1980"/>
              <a:buFont typeface="Calibri"/>
              <a:buNone/>
            </a:pPr>
            <a:r>
              <a:rPr lang="en-US"/>
              <a:t> 	F(n) </a:t>
            </a:r>
            <a:r>
              <a:rPr lang="en-US">
                <a:latin typeface="Noto Sans Symbols"/>
                <a:ea typeface="Noto Sans Symbols"/>
                <a:cs typeface="Noto Sans Symbols"/>
                <a:sym typeface="Noto Sans Symbols"/>
              </a:rPr>
              <a:t>≥  </a:t>
            </a:r>
            <a:r>
              <a:rPr lang="en-US"/>
              <a:t>2</a:t>
            </a:r>
            <a:r>
              <a:rPr lang="en-US" baseline="30000"/>
              <a:t>n/2</a:t>
            </a:r>
            <a:r>
              <a:rPr lang="en-US"/>
              <a:t> – 1 </a:t>
            </a:r>
            <a:r>
              <a:rPr lang="en-US">
                <a:latin typeface="Noto Sans Symbols"/>
                <a:ea typeface="Noto Sans Symbols"/>
                <a:cs typeface="Noto Sans Symbols"/>
                <a:sym typeface="Noto Sans Symbols"/>
              </a:rPr>
              <a:t>≈ </a:t>
            </a:r>
            <a:r>
              <a:rPr lang="en-US"/>
              <a:t>1.4</a:t>
            </a:r>
            <a:r>
              <a:rPr lang="en-US" baseline="30000"/>
              <a:t>n</a:t>
            </a:r>
            <a:r>
              <a:rPr lang="en-US"/>
              <a:t> </a:t>
            </a:r>
            <a:endParaRPr/>
          </a:p>
          <a:p>
            <a:pPr marL="454025" lvl="0" indent="-454025" algn="l" rtl="0">
              <a:spcBef>
                <a:spcPts val="2000"/>
              </a:spcBef>
              <a:spcAft>
                <a:spcPts val="0"/>
              </a:spcAft>
              <a:buSzPts val="2160"/>
              <a:buChar char="🡽"/>
            </a:pPr>
            <a:r>
              <a:rPr lang="en-US"/>
              <a:t>Running time is </a:t>
            </a:r>
            <a:r>
              <a:rPr lang="en-US" i="1">
                <a:solidFill>
                  <a:srgbClr val="FF3300"/>
                </a:solidFill>
              </a:rPr>
              <a:t>exponential</a:t>
            </a:r>
            <a:r>
              <a:rPr lang="en-US" i="1"/>
              <a:t>!</a:t>
            </a: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7"/>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…Fibonacci Numbers</a:t>
            </a:r>
            <a:endParaRPr/>
          </a:p>
        </p:txBody>
      </p:sp>
      <p:sp>
        <p:nvSpPr>
          <p:cNvPr id="826" name="Google Shape;826;p7"/>
          <p:cNvSpPr txBox="1">
            <a:spLocks noGrp="1"/>
          </p:cNvSpPr>
          <p:nvPr>
            <p:ph type="body" idx="4294967295"/>
          </p:nvPr>
        </p:nvSpPr>
        <p:spPr>
          <a:xfrm>
            <a:off x="511175" y="1530350"/>
            <a:ext cx="8632825" cy="2401888"/>
          </a:xfrm>
          <a:prstGeom prst="rect">
            <a:avLst/>
          </a:prstGeom>
          <a:noFill/>
          <a:ln>
            <a:noFill/>
          </a:ln>
        </p:spPr>
        <p:txBody>
          <a:bodyPr spcFirstLastPara="1" wrap="square" lIns="91425" tIns="45700" rIns="91425" bIns="45700" anchor="t" anchorCtr="0">
            <a:normAutofit/>
          </a:bodyPr>
          <a:lstStyle/>
          <a:p>
            <a:pPr marL="454025" lvl="0" indent="-454025" algn="just" rtl="0">
              <a:spcBef>
                <a:spcPts val="0"/>
              </a:spcBef>
              <a:spcAft>
                <a:spcPts val="0"/>
              </a:spcAft>
              <a:buSzPts val="2160"/>
              <a:buChar char="🡽"/>
            </a:pPr>
            <a:r>
              <a:rPr lang="en-US"/>
              <a:t>We can calculate </a:t>
            </a:r>
            <a:r>
              <a:rPr lang="en-US" i="1"/>
              <a:t>F</a:t>
            </a:r>
            <a:r>
              <a:rPr lang="en-US"/>
              <a:t>(</a:t>
            </a:r>
            <a:r>
              <a:rPr lang="en-US" i="1"/>
              <a:t>n</a:t>
            </a:r>
            <a:r>
              <a:rPr lang="en-US"/>
              <a:t>)</a:t>
            </a:r>
            <a:r>
              <a:rPr lang="en-US" i="1"/>
              <a:t> </a:t>
            </a:r>
            <a:r>
              <a:rPr lang="en-US" i="1" baseline="-25000"/>
              <a:t> </a:t>
            </a:r>
            <a:r>
              <a:rPr lang="en-US"/>
              <a:t>in </a:t>
            </a:r>
            <a:r>
              <a:rPr lang="en-US" i="1"/>
              <a:t>linear</a:t>
            </a:r>
            <a:r>
              <a:rPr lang="en-US"/>
              <a:t>  time by </a:t>
            </a:r>
            <a:r>
              <a:rPr lang="en-US" u="sng"/>
              <a:t>remembering solutions</a:t>
            </a:r>
            <a:r>
              <a:rPr lang="en-US"/>
              <a:t> to the solved sub-problems (= </a:t>
            </a:r>
            <a:r>
              <a:rPr lang="en-US" i="1">
                <a:solidFill>
                  <a:srgbClr val="FF3300"/>
                </a:solidFill>
              </a:rPr>
              <a:t>dynamic programming</a:t>
            </a:r>
            <a:r>
              <a:rPr lang="en-US" i="1"/>
              <a:t>).</a:t>
            </a:r>
            <a:endParaRPr/>
          </a:p>
          <a:p>
            <a:pPr marL="454025" lvl="0" indent="-454025" algn="l" rtl="0">
              <a:spcBef>
                <a:spcPts val="2000"/>
              </a:spcBef>
              <a:spcAft>
                <a:spcPts val="0"/>
              </a:spcAft>
              <a:buSzPts val="2160"/>
              <a:buChar char="🡽"/>
            </a:pPr>
            <a:r>
              <a:rPr lang="en-US"/>
              <a:t>Compute solution in a bottom-up fashion </a:t>
            </a:r>
            <a:endParaRPr/>
          </a:p>
          <a:p>
            <a:pPr marL="454025" lvl="0" indent="-454025" algn="l" rtl="0">
              <a:spcBef>
                <a:spcPts val="2000"/>
              </a:spcBef>
              <a:spcAft>
                <a:spcPts val="0"/>
              </a:spcAft>
              <a:buSzPts val="2160"/>
              <a:buChar char="🡽"/>
            </a:pPr>
            <a:r>
              <a:rPr lang="en-US"/>
              <a:t>Trade space for time! </a:t>
            </a:r>
            <a:endParaRPr/>
          </a:p>
        </p:txBody>
      </p:sp>
      <p:sp>
        <p:nvSpPr>
          <p:cNvPr id="827" name="Google Shape;827;p7"/>
          <p:cNvSpPr txBox="1"/>
          <p:nvPr/>
        </p:nvSpPr>
        <p:spPr>
          <a:xfrm>
            <a:off x="2285405" y="3657660"/>
            <a:ext cx="4458861" cy="2032095"/>
          </a:xfrm>
          <a:prstGeom prst="rect">
            <a:avLst/>
          </a:prstGeom>
          <a:solidFill>
            <a:schemeClr val="lt1"/>
          </a:solidFill>
          <a:ln w="127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t" anchorCtr="0">
            <a:spAutoFit/>
          </a:bodyPr>
          <a:lstStyle/>
          <a:p>
            <a:pPr marL="342991" marR="0" lvl="0" indent="-342991" algn="l" rtl="0">
              <a:spcBef>
                <a:spcPts val="0"/>
              </a:spcBef>
              <a:spcAft>
                <a:spcPts val="0"/>
              </a:spcAft>
              <a:buNone/>
            </a:pPr>
            <a:r>
              <a:rPr lang="en-US" sz="2101" b="1">
                <a:solidFill>
                  <a:schemeClr val="dk1"/>
                </a:solidFill>
                <a:latin typeface="Courier New"/>
                <a:ea typeface="Courier New"/>
                <a:cs typeface="Courier New"/>
                <a:sym typeface="Courier New"/>
              </a:rPr>
              <a:t>Fibonacci</a:t>
            </a:r>
            <a:r>
              <a:rPr lang="en-US" sz="2101">
                <a:solidFill>
                  <a:schemeClr val="dk1"/>
                </a:solidFill>
                <a:latin typeface="Courier New"/>
                <a:ea typeface="Courier New"/>
                <a:cs typeface="Courier New"/>
                <a:sym typeface="Courier New"/>
              </a:rPr>
              <a:t>(n)</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01 F[0]</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0</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02 F[1]</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1</a:t>
            </a:r>
            <a:endParaRPr sz="2101">
              <a:solidFill>
                <a:schemeClr val="dk1"/>
              </a:solidFill>
              <a:latin typeface="Courier New"/>
              <a:ea typeface="Courier New"/>
              <a:cs typeface="Courier New"/>
              <a:sym typeface="Courier New"/>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03</a:t>
            </a:r>
            <a:r>
              <a:rPr lang="en-US" sz="2101" b="1">
                <a:solidFill>
                  <a:schemeClr val="dk1"/>
                </a:solidFill>
                <a:latin typeface="Courier New"/>
                <a:ea typeface="Courier New"/>
                <a:cs typeface="Courier New"/>
                <a:sym typeface="Courier New"/>
              </a:rPr>
              <a:t> for </a:t>
            </a:r>
            <a:r>
              <a:rPr lang="en-US" sz="2101">
                <a:solidFill>
                  <a:schemeClr val="dk1"/>
                </a:solidFill>
                <a:latin typeface="Courier New"/>
                <a:ea typeface="Courier New"/>
                <a:cs typeface="Courier New"/>
                <a:sym typeface="Courier New"/>
              </a:rPr>
              <a:t>i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2 </a:t>
            </a:r>
            <a:r>
              <a:rPr lang="en-US" sz="2101" b="1">
                <a:solidFill>
                  <a:schemeClr val="dk1"/>
                </a:solidFill>
                <a:latin typeface="Courier New"/>
                <a:ea typeface="Courier New"/>
                <a:cs typeface="Courier New"/>
                <a:sym typeface="Courier New"/>
              </a:rPr>
              <a:t>to</a:t>
            </a:r>
            <a:r>
              <a:rPr lang="en-US" sz="2101">
                <a:solidFill>
                  <a:schemeClr val="dk1"/>
                </a:solidFill>
                <a:latin typeface="Courier New"/>
                <a:ea typeface="Courier New"/>
                <a:cs typeface="Courier New"/>
                <a:sym typeface="Courier New"/>
              </a:rPr>
              <a:t> n </a:t>
            </a:r>
            <a:r>
              <a:rPr lang="en-US" sz="2101" b="1">
                <a:solidFill>
                  <a:schemeClr val="dk1"/>
                </a:solidFill>
                <a:latin typeface="Courier New"/>
                <a:ea typeface="Courier New"/>
                <a:cs typeface="Courier New"/>
                <a:sym typeface="Courier New"/>
              </a:rPr>
              <a:t>do</a:t>
            </a:r>
            <a:endParaRPr sz="2101">
              <a:solidFill>
                <a:schemeClr val="dk1"/>
              </a:solidFill>
              <a:latin typeface="Courier New"/>
              <a:ea typeface="Courier New"/>
              <a:cs typeface="Courier New"/>
              <a:sym typeface="Courier New"/>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04   F[i]</a:t>
            </a:r>
            <a:r>
              <a:rPr lang="en-US" sz="2101" baseline="-25000">
                <a:solidFill>
                  <a:schemeClr val="dk1"/>
                </a:solidFill>
                <a:latin typeface="Courier New"/>
                <a:ea typeface="Courier New"/>
                <a:cs typeface="Courier New"/>
                <a:sym typeface="Courier New"/>
              </a:rPr>
              <a:t> </a:t>
            </a:r>
            <a:r>
              <a:rPr lang="en-US" sz="2101">
                <a:solidFill>
                  <a:schemeClr val="dk1"/>
                </a:solidFill>
                <a:latin typeface="Noto Sans Symbols"/>
                <a:ea typeface="Noto Sans Symbols"/>
                <a:cs typeface="Noto Sans Symbols"/>
                <a:sym typeface="Noto Sans Symbols"/>
              </a:rPr>
              <a:t>←</a:t>
            </a:r>
            <a:r>
              <a:rPr lang="en-US" sz="2101" baseline="-25000">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F[i-1]</a:t>
            </a:r>
            <a:r>
              <a:rPr lang="en-US" sz="2101" baseline="-25000">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 F[i-2]</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05 </a:t>
            </a:r>
            <a:r>
              <a:rPr lang="en-US" sz="2101" b="1">
                <a:solidFill>
                  <a:schemeClr val="dk1"/>
                </a:solidFill>
                <a:latin typeface="Courier New"/>
                <a:ea typeface="Courier New"/>
                <a:cs typeface="Courier New"/>
                <a:sym typeface="Courier New"/>
              </a:rPr>
              <a:t>return</a:t>
            </a:r>
            <a:r>
              <a:rPr lang="en-US" sz="2101">
                <a:solidFill>
                  <a:schemeClr val="dk1"/>
                </a:solidFill>
                <a:latin typeface="Courier New"/>
                <a:ea typeface="Courier New"/>
                <a:cs typeface="Courier New"/>
                <a:sym typeface="Courier New"/>
              </a:rPr>
              <a:t> F[n]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8"/>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…Fibonacci Numbers</a:t>
            </a:r>
            <a:endParaRPr sz="3200" b="1">
              <a:solidFill>
                <a:schemeClr val="dk1"/>
              </a:solidFill>
            </a:endParaRPr>
          </a:p>
        </p:txBody>
      </p:sp>
      <p:sp>
        <p:nvSpPr>
          <p:cNvPr id="834" name="Google Shape;834;p8"/>
          <p:cNvSpPr txBox="1">
            <a:spLocks noGrp="1"/>
          </p:cNvSpPr>
          <p:nvPr>
            <p:ph type="body" idx="4294967295"/>
          </p:nvPr>
        </p:nvSpPr>
        <p:spPr>
          <a:xfrm>
            <a:off x="879475" y="1466815"/>
            <a:ext cx="6815138" cy="120015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In fact, only two values need to be remembered at any time!</a:t>
            </a:r>
            <a:endParaRPr/>
          </a:p>
          <a:p>
            <a:pPr marL="454025" lvl="0" indent="-316865" algn="l" rtl="0">
              <a:spcBef>
                <a:spcPts val="2000"/>
              </a:spcBef>
              <a:spcAft>
                <a:spcPts val="0"/>
              </a:spcAft>
              <a:buSzPts val="2160"/>
              <a:buNone/>
            </a:pPr>
            <a:endParaRPr/>
          </a:p>
        </p:txBody>
      </p:sp>
      <p:sp>
        <p:nvSpPr>
          <p:cNvPr id="835" name="Google Shape;835;p8"/>
          <p:cNvSpPr txBox="1"/>
          <p:nvPr/>
        </p:nvSpPr>
        <p:spPr>
          <a:xfrm>
            <a:off x="2399735" y="2514362"/>
            <a:ext cx="4287367" cy="3001976"/>
          </a:xfrm>
          <a:prstGeom prst="rect">
            <a:avLst/>
          </a:prstGeom>
          <a:solidFill>
            <a:schemeClr val="lt1"/>
          </a:solidFill>
          <a:ln w="12700" cap="flat" cmpd="sng">
            <a:solidFill>
              <a:schemeClr val="dk1"/>
            </a:solidFill>
            <a:prstDash val="solid"/>
            <a:miter lim="800000"/>
            <a:headEnd type="none" w="sm" len="sm"/>
            <a:tailEnd type="none" w="sm" len="sm"/>
          </a:ln>
          <a:effectLst>
            <a:outerShdw dist="107763" dir="2700000" algn="ctr" rotWithShape="0">
              <a:schemeClr val="lt2"/>
            </a:outerShdw>
          </a:effectLst>
        </p:spPr>
        <p:txBody>
          <a:bodyPr spcFirstLastPara="1" wrap="square" lIns="91425" tIns="45700" rIns="91425" bIns="45700" anchor="t" anchorCtr="0">
            <a:spAutoFit/>
          </a:bodyPr>
          <a:lstStyle/>
          <a:p>
            <a:pPr marL="342991" marR="0" lvl="0" indent="-342991" algn="l" rtl="0">
              <a:spcBef>
                <a:spcPts val="0"/>
              </a:spcBef>
              <a:spcAft>
                <a:spcPts val="0"/>
              </a:spcAft>
              <a:buNone/>
            </a:pPr>
            <a:r>
              <a:rPr lang="en-US" sz="2101" b="1">
                <a:solidFill>
                  <a:schemeClr val="dk1"/>
                </a:solidFill>
                <a:latin typeface="Courier New"/>
                <a:ea typeface="Courier New"/>
                <a:cs typeface="Courier New"/>
                <a:sym typeface="Courier New"/>
              </a:rPr>
              <a:t>FibonacciImproved</a:t>
            </a:r>
            <a:r>
              <a:rPr lang="en-US" sz="2101">
                <a:solidFill>
                  <a:schemeClr val="dk1"/>
                </a:solidFill>
                <a:latin typeface="Courier New"/>
                <a:ea typeface="Courier New"/>
                <a:cs typeface="Courier New"/>
                <a:sym typeface="Courier New"/>
              </a:rPr>
              <a:t>(n)</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01 </a:t>
            </a:r>
            <a:r>
              <a:rPr lang="en-US" sz="2101" b="1">
                <a:solidFill>
                  <a:schemeClr val="dk1"/>
                </a:solidFill>
                <a:latin typeface="Courier New"/>
                <a:ea typeface="Courier New"/>
                <a:cs typeface="Courier New"/>
                <a:sym typeface="Courier New"/>
              </a:rPr>
              <a:t>if </a:t>
            </a:r>
            <a:r>
              <a:rPr lang="en-US" sz="2101">
                <a:solidFill>
                  <a:schemeClr val="dk1"/>
                </a:solidFill>
                <a:latin typeface="Courier New"/>
                <a:ea typeface="Courier New"/>
                <a:cs typeface="Courier New"/>
                <a:sym typeface="Courier New"/>
              </a:rPr>
              <a:t>n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Arial"/>
                <a:ea typeface="Arial"/>
                <a:cs typeface="Arial"/>
                <a:sym typeface="Arial"/>
              </a:rPr>
              <a:t> </a:t>
            </a:r>
            <a:r>
              <a:rPr lang="en-US" sz="2101">
                <a:solidFill>
                  <a:schemeClr val="dk1"/>
                </a:solidFill>
                <a:latin typeface="Courier New"/>
                <a:ea typeface="Courier New"/>
                <a:cs typeface="Courier New"/>
                <a:sym typeface="Courier New"/>
              </a:rPr>
              <a:t>1 </a:t>
            </a:r>
            <a:r>
              <a:rPr lang="en-US" sz="2101" b="1">
                <a:solidFill>
                  <a:schemeClr val="dk1"/>
                </a:solidFill>
                <a:latin typeface="Courier New"/>
                <a:ea typeface="Courier New"/>
                <a:cs typeface="Courier New"/>
                <a:sym typeface="Courier New"/>
              </a:rPr>
              <a:t>then return </a:t>
            </a:r>
            <a:r>
              <a:rPr lang="en-US" sz="2101">
                <a:solidFill>
                  <a:schemeClr val="dk1"/>
                </a:solidFill>
                <a:latin typeface="Courier New"/>
                <a:ea typeface="Courier New"/>
                <a:cs typeface="Courier New"/>
                <a:sym typeface="Courier New"/>
              </a:rPr>
              <a:t>n</a:t>
            </a:r>
            <a:endParaRPr sz="2101" b="1">
              <a:solidFill>
                <a:schemeClr val="dk1"/>
              </a:solidFill>
              <a:latin typeface="Courier New"/>
              <a:ea typeface="Courier New"/>
              <a:cs typeface="Courier New"/>
              <a:sym typeface="Courier New"/>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02 Fim2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0</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03 Fim1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1</a:t>
            </a:r>
            <a:endParaRPr sz="2101">
              <a:solidFill>
                <a:schemeClr val="dk1"/>
              </a:solidFill>
              <a:latin typeface="Courier New"/>
              <a:ea typeface="Courier New"/>
              <a:cs typeface="Courier New"/>
              <a:sym typeface="Courier New"/>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04</a:t>
            </a:r>
            <a:r>
              <a:rPr lang="en-US" sz="2101" b="1">
                <a:solidFill>
                  <a:schemeClr val="dk1"/>
                </a:solidFill>
                <a:latin typeface="Courier New"/>
                <a:ea typeface="Courier New"/>
                <a:cs typeface="Courier New"/>
                <a:sym typeface="Courier New"/>
              </a:rPr>
              <a:t> for </a:t>
            </a:r>
            <a:r>
              <a:rPr lang="en-US" sz="2101">
                <a:solidFill>
                  <a:schemeClr val="dk1"/>
                </a:solidFill>
                <a:latin typeface="Courier New"/>
                <a:ea typeface="Courier New"/>
                <a:cs typeface="Courier New"/>
                <a:sym typeface="Courier New"/>
              </a:rPr>
              <a:t>i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2 </a:t>
            </a:r>
            <a:r>
              <a:rPr lang="en-US" sz="2101" b="1">
                <a:solidFill>
                  <a:schemeClr val="dk1"/>
                </a:solidFill>
                <a:latin typeface="Courier New"/>
                <a:ea typeface="Courier New"/>
                <a:cs typeface="Courier New"/>
                <a:sym typeface="Courier New"/>
              </a:rPr>
              <a:t>to</a:t>
            </a:r>
            <a:r>
              <a:rPr lang="en-US" sz="2101">
                <a:solidFill>
                  <a:schemeClr val="dk1"/>
                </a:solidFill>
                <a:latin typeface="Courier New"/>
                <a:ea typeface="Courier New"/>
                <a:cs typeface="Courier New"/>
                <a:sym typeface="Courier New"/>
              </a:rPr>
              <a:t> n </a:t>
            </a:r>
            <a:r>
              <a:rPr lang="en-US" sz="2101" b="1">
                <a:solidFill>
                  <a:schemeClr val="dk1"/>
                </a:solidFill>
                <a:latin typeface="Courier New"/>
                <a:ea typeface="Courier New"/>
                <a:cs typeface="Courier New"/>
                <a:sym typeface="Courier New"/>
              </a:rPr>
              <a:t>do</a:t>
            </a:r>
            <a:endParaRPr sz="2101">
              <a:solidFill>
                <a:schemeClr val="dk1"/>
              </a:solidFill>
              <a:latin typeface="Courier New"/>
              <a:ea typeface="Courier New"/>
              <a:cs typeface="Courier New"/>
              <a:sym typeface="Courier New"/>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05   Fi</a:t>
            </a:r>
            <a:r>
              <a:rPr lang="en-US" sz="2101" baseline="-25000">
                <a:solidFill>
                  <a:schemeClr val="dk1"/>
                </a:solidFill>
                <a:latin typeface="Courier New"/>
                <a:ea typeface="Courier New"/>
                <a:cs typeface="Courier New"/>
                <a:sym typeface="Courier New"/>
              </a:rPr>
              <a:t> </a:t>
            </a:r>
            <a:r>
              <a:rPr lang="en-US" sz="2101">
                <a:solidFill>
                  <a:schemeClr val="dk1"/>
                </a:solidFill>
                <a:latin typeface="Noto Sans Symbols"/>
                <a:ea typeface="Noto Sans Symbols"/>
                <a:cs typeface="Noto Sans Symbols"/>
                <a:sym typeface="Noto Sans Symbols"/>
              </a:rPr>
              <a:t>←</a:t>
            </a:r>
            <a:r>
              <a:rPr lang="en-US" sz="2101" baseline="-25000">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Fim1</a:t>
            </a:r>
            <a:r>
              <a:rPr lang="en-US" sz="2101" baseline="-25000">
                <a:solidFill>
                  <a:schemeClr val="dk1"/>
                </a:solidFill>
                <a:latin typeface="Courier New"/>
                <a:ea typeface="Courier New"/>
                <a:cs typeface="Courier New"/>
                <a:sym typeface="Courier New"/>
              </a:rPr>
              <a:t> </a:t>
            </a:r>
            <a:r>
              <a:rPr lang="en-US" sz="2101">
                <a:solidFill>
                  <a:schemeClr val="dk1"/>
                </a:solidFill>
                <a:latin typeface="Courier New"/>
                <a:ea typeface="Courier New"/>
                <a:cs typeface="Courier New"/>
                <a:sym typeface="Courier New"/>
              </a:rPr>
              <a:t>+ Fim2</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06   Fim2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Fim1</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07   Fim1 </a:t>
            </a:r>
            <a:r>
              <a:rPr lang="en-US" sz="2101">
                <a:solidFill>
                  <a:schemeClr val="dk1"/>
                </a:solidFill>
                <a:latin typeface="Noto Sans Symbols"/>
                <a:ea typeface="Noto Sans Symbols"/>
                <a:cs typeface="Noto Sans Symbols"/>
                <a:sym typeface="Noto Sans Symbols"/>
              </a:rPr>
              <a:t>←</a:t>
            </a:r>
            <a:r>
              <a:rPr lang="en-US" sz="2101">
                <a:solidFill>
                  <a:schemeClr val="dk1"/>
                </a:solidFill>
                <a:latin typeface="Courier New"/>
                <a:ea typeface="Courier New"/>
                <a:cs typeface="Courier New"/>
                <a:sym typeface="Courier New"/>
              </a:rPr>
              <a:t> Fi</a:t>
            </a:r>
            <a:endParaRPr/>
          </a:p>
          <a:p>
            <a:pPr marL="342991" marR="0" lvl="0" indent="-342991" algn="l" rtl="0">
              <a:spcBef>
                <a:spcPts val="0"/>
              </a:spcBef>
              <a:spcAft>
                <a:spcPts val="0"/>
              </a:spcAft>
              <a:buNone/>
            </a:pPr>
            <a:r>
              <a:rPr lang="en-US" sz="2101">
                <a:solidFill>
                  <a:schemeClr val="dk1"/>
                </a:solidFill>
                <a:latin typeface="Courier New"/>
                <a:ea typeface="Courier New"/>
                <a:cs typeface="Courier New"/>
                <a:sym typeface="Courier New"/>
              </a:rPr>
              <a:t>05 </a:t>
            </a:r>
            <a:r>
              <a:rPr lang="en-US" sz="2101" b="1">
                <a:solidFill>
                  <a:schemeClr val="dk1"/>
                </a:solidFill>
                <a:latin typeface="Courier New"/>
                <a:ea typeface="Courier New"/>
                <a:cs typeface="Courier New"/>
                <a:sym typeface="Courier New"/>
              </a:rPr>
              <a:t>return</a:t>
            </a:r>
            <a:r>
              <a:rPr lang="en-US" sz="2101">
                <a:solidFill>
                  <a:schemeClr val="dk1"/>
                </a:solidFill>
                <a:latin typeface="Courier New"/>
                <a:ea typeface="Courier New"/>
                <a:cs typeface="Courier New"/>
                <a:sym typeface="Courier New"/>
              </a:rPr>
              <a:t> Fi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9"/>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History</a:t>
            </a:r>
            <a:endParaRPr sz="3200" b="1">
              <a:solidFill>
                <a:schemeClr val="dk1"/>
              </a:solidFill>
            </a:endParaRPr>
          </a:p>
        </p:txBody>
      </p:sp>
      <p:sp>
        <p:nvSpPr>
          <p:cNvPr id="842" name="Google Shape;842;p9"/>
          <p:cNvSpPr txBox="1">
            <a:spLocks noGrp="1"/>
          </p:cNvSpPr>
          <p:nvPr>
            <p:ph type="body" idx="4294967295"/>
          </p:nvPr>
        </p:nvSpPr>
        <p:spPr>
          <a:xfrm>
            <a:off x="382137" y="1788237"/>
            <a:ext cx="8761863" cy="3992563"/>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Dynamic programming</a:t>
            </a:r>
            <a:endParaRPr/>
          </a:p>
          <a:p>
            <a:pPr marL="914400" lvl="1" indent="-457200" algn="l" rtl="0">
              <a:spcBef>
                <a:spcPts val="600"/>
              </a:spcBef>
              <a:spcAft>
                <a:spcPts val="0"/>
              </a:spcAft>
              <a:buSzPts val="1980"/>
              <a:buChar char="🡽"/>
            </a:pPr>
            <a:r>
              <a:rPr lang="en-US"/>
              <a:t>Invented in the 1957 by </a:t>
            </a:r>
            <a:r>
              <a:rPr lang="en-US" i="1">
                <a:solidFill>
                  <a:srgbClr val="FF3300"/>
                </a:solidFill>
              </a:rPr>
              <a:t>Richard Bellman</a:t>
            </a:r>
            <a:r>
              <a:rPr lang="en-US"/>
              <a:t> as a general method for optimizing multistage decision processes</a:t>
            </a:r>
            <a:endParaRPr/>
          </a:p>
          <a:p>
            <a:pPr marL="914400" lvl="1" indent="-457200" algn="l" rtl="0">
              <a:spcBef>
                <a:spcPts val="600"/>
              </a:spcBef>
              <a:spcAft>
                <a:spcPts val="0"/>
              </a:spcAft>
              <a:buSzPts val="1980"/>
              <a:buChar char="🡽"/>
            </a:pPr>
            <a:r>
              <a:rPr lang="en-US"/>
              <a:t>The term “programming” refers to a </a:t>
            </a:r>
            <a:r>
              <a:rPr lang="en-US" i="1"/>
              <a:t>tabular method</a:t>
            </a:r>
            <a:r>
              <a:rPr lang="en-US"/>
              <a:t>.</a:t>
            </a:r>
            <a:endParaRPr/>
          </a:p>
          <a:p>
            <a:pPr marL="914400" lvl="1" indent="-457200" algn="l" rtl="0">
              <a:spcBef>
                <a:spcPts val="600"/>
              </a:spcBef>
              <a:spcAft>
                <a:spcPts val="0"/>
              </a:spcAft>
              <a:buSzPts val="1980"/>
              <a:buChar char="🡽"/>
            </a:pPr>
            <a:r>
              <a:rPr lang="en-US"/>
              <a:t>Often used for </a:t>
            </a:r>
            <a:r>
              <a:rPr lang="en-US" i="1"/>
              <a:t>optimization</a:t>
            </a:r>
            <a:r>
              <a:rPr lang="en-US"/>
              <a:t> problems.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10"/>
          <p:cNvSpPr txBox="1">
            <a:spLocks noGrp="1"/>
          </p:cNvSpPr>
          <p:nvPr>
            <p:ph type="title" idx="4294967295"/>
          </p:nvPr>
        </p:nvSpPr>
        <p:spPr>
          <a:xfrm>
            <a:off x="0" y="640133"/>
            <a:ext cx="9144000" cy="47625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orbel"/>
              <a:buNone/>
            </a:pPr>
            <a:r>
              <a:rPr lang="en-US" sz="3200" b="1">
                <a:solidFill>
                  <a:schemeClr val="dk1"/>
                </a:solidFill>
              </a:rPr>
              <a:t>Dynamic Programming</a:t>
            </a:r>
            <a:endParaRPr/>
          </a:p>
        </p:txBody>
      </p:sp>
      <p:sp>
        <p:nvSpPr>
          <p:cNvPr id="849" name="Google Shape;849;p10"/>
          <p:cNvSpPr txBox="1"/>
          <p:nvPr/>
        </p:nvSpPr>
        <p:spPr>
          <a:xfrm>
            <a:off x="289398" y="1705717"/>
            <a:ext cx="8684299" cy="3763355"/>
          </a:xfrm>
          <a:prstGeom prst="rect">
            <a:avLst/>
          </a:prstGeom>
          <a:noFill/>
          <a:ln>
            <a:noFill/>
          </a:ln>
        </p:spPr>
        <p:txBody>
          <a:bodyPr spcFirstLastPara="1" wrap="square" lIns="91425" tIns="45700" rIns="91425" bIns="45700" anchor="t" anchorCtr="0">
            <a:noAutofit/>
          </a:bodyPr>
          <a:lstStyle/>
          <a:p>
            <a:pPr marL="454025" marR="0" lvl="0" indent="-454025" algn="just" rtl="0">
              <a:spcBef>
                <a:spcPts val="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Solves problems by </a:t>
            </a:r>
            <a:r>
              <a:rPr lang="en-US" sz="1800" b="1">
                <a:solidFill>
                  <a:srgbClr val="262626"/>
                </a:solidFill>
                <a:latin typeface="Calibri"/>
                <a:ea typeface="Calibri"/>
                <a:cs typeface="Calibri"/>
                <a:sym typeface="Calibri"/>
              </a:rPr>
              <a:t>combining</a:t>
            </a:r>
            <a:r>
              <a:rPr lang="en-US" sz="1800">
                <a:solidFill>
                  <a:srgbClr val="262626"/>
                </a:solidFill>
                <a:latin typeface="Calibri"/>
                <a:ea typeface="Calibri"/>
                <a:cs typeface="Calibri"/>
                <a:sym typeface="Calibri"/>
              </a:rPr>
              <a:t> the solutions to sub problems that contain common sub-sub-problems.</a:t>
            </a:r>
            <a:endParaRPr/>
          </a:p>
          <a:p>
            <a:pPr marL="454025" marR="0" lvl="0" indent="-454025" algn="l" rtl="0">
              <a:spcBef>
                <a:spcPts val="126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Difference between DP and Divide-and-Conquer</a:t>
            </a:r>
            <a:endParaRPr/>
          </a:p>
          <a:p>
            <a:pPr marL="914400" marR="0" lvl="1" indent="-457200" algn="just" rtl="0">
              <a:spcBef>
                <a:spcPts val="1260"/>
              </a:spcBef>
              <a:spcAft>
                <a:spcPts val="0"/>
              </a:spcAft>
              <a:buClr>
                <a:srgbClr val="3F3F3F"/>
              </a:buClr>
              <a:buSzPts val="1620"/>
              <a:buFont typeface="Noto Sans Symbols"/>
              <a:buChar char="🡽"/>
            </a:pPr>
            <a:r>
              <a:rPr lang="en-US" sz="1800" b="0" i="0" u="none" strike="noStrike" cap="none">
                <a:solidFill>
                  <a:srgbClr val="262626"/>
                </a:solidFill>
                <a:latin typeface="Calibri"/>
                <a:ea typeface="Calibri"/>
                <a:cs typeface="Calibri"/>
                <a:sym typeface="Calibri"/>
              </a:rPr>
              <a:t>Using </a:t>
            </a:r>
            <a:r>
              <a:rPr lang="en-US" sz="1800" b="1" i="1" u="none" strike="noStrike" cap="none">
                <a:solidFill>
                  <a:srgbClr val="262626"/>
                </a:solidFill>
                <a:latin typeface="Calibri"/>
                <a:ea typeface="Calibri"/>
                <a:cs typeface="Calibri"/>
                <a:sym typeface="Calibri"/>
              </a:rPr>
              <a:t>Divide and Conquer</a:t>
            </a:r>
            <a:r>
              <a:rPr lang="en-US" sz="1800" b="0" i="0" u="none" strike="noStrike" cap="none">
                <a:solidFill>
                  <a:srgbClr val="262626"/>
                </a:solidFill>
                <a:latin typeface="Calibri"/>
                <a:ea typeface="Calibri"/>
                <a:cs typeface="Calibri"/>
                <a:sym typeface="Calibri"/>
              </a:rPr>
              <a:t> to solve these problems is </a:t>
            </a:r>
            <a:r>
              <a:rPr lang="en-US" sz="1800" b="1" i="0" u="none" strike="noStrike" cap="none">
                <a:solidFill>
                  <a:srgbClr val="262626"/>
                </a:solidFill>
                <a:latin typeface="Calibri"/>
                <a:ea typeface="Calibri"/>
                <a:cs typeface="Calibri"/>
                <a:sym typeface="Calibri"/>
              </a:rPr>
              <a:t>inefficient</a:t>
            </a:r>
            <a:r>
              <a:rPr lang="en-US" sz="1800" b="0" i="0" u="none" strike="noStrike" cap="none">
                <a:solidFill>
                  <a:srgbClr val="262626"/>
                </a:solidFill>
                <a:latin typeface="Calibri"/>
                <a:ea typeface="Calibri"/>
                <a:cs typeface="Calibri"/>
                <a:sym typeface="Calibri"/>
              </a:rPr>
              <a:t> as the same common sub-sub-problems must be solved </a:t>
            </a:r>
            <a:r>
              <a:rPr lang="en-US" sz="1800" b="1" i="0" u="none" strike="noStrike" cap="none">
                <a:solidFill>
                  <a:srgbClr val="262626"/>
                </a:solidFill>
                <a:latin typeface="Calibri"/>
                <a:ea typeface="Calibri"/>
                <a:cs typeface="Calibri"/>
                <a:sym typeface="Calibri"/>
              </a:rPr>
              <a:t>many times</a:t>
            </a:r>
            <a:r>
              <a:rPr lang="en-US" sz="1800" b="0" i="0" u="none" strike="noStrike" cap="none">
                <a:solidFill>
                  <a:srgbClr val="262626"/>
                </a:solidFill>
                <a:latin typeface="Calibri"/>
                <a:ea typeface="Calibri"/>
                <a:cs typeface="Calibri"/>
                <a:sym typeface="Calibri"/>
              </a:rPr>
              <a:t>.</a:t>
            </a:r>
            <a:endParaRPr/>
          </a:p>
          <a:p>
            <a:pPr marL="914400" marR="0" lvl="1" indent="-457200" algn="l" rtl="0">
              <a:spcBef>
                <a:spcPts val="1260"/>
              </a:spcBef>
              <a:spcAft>
                <a:spcPts val="0"/>
              </a:spcAft>
              <a:buClr>
                <a:srgbClr val="3F3F3F"/>
              </a:buClr>
              <a:buSzPts val="1620"/>
              <a:buFont typeface="Noto Sans Symbols"/>
              <a:buChar char="🡽"/>
            </a:pPr>
            <a:r>
              <a:rPr lang="en-US" sz="1800" b="0" i="0" u="none" strike="noStrike" cap="none">
                <a:solidFill>
                  <a:srgbClr val="262626"/>
                </a:solidFill>
                <a:latin typeface="Calibri"/>
                <a:ea typeface="Calibri"/>
                <a:cs typeface="Calibri"/>
                <a:sym typeface="Calibri"/>
              </a:rPr>
              <a:t>DP will solve each of them </a:t>
            </a:r>
            <a:r>
              <a:rPr lang="en-US" sz="1800" b="1" i="0" u="none" strike="noStrike" cap="none">
                <a:solidFill>
                  <a:srgbClr val="262626"/>
                </a:solidFill>
                <a:latin typeface="Calibri"/>
                <a:ea typeface="Calibri"/>
                <a:cs typeface="Calibri"/>
                <a:sym typeface="Calibri"/>
              </a:rPr>
              <a:t>once</a:t>
            </a:r>
            <a:r>
              <a:rPr lang="en-US" sz="1800" b="0" i="0" u="none" strike="noStrike" cap="none">
                <a:solidFill>
                  <a:srgbClr val="262626"/>
                </a:solidFill>
                <a:latin typeface="Calibri"/>
                <a:ea typeface="Calibri"/>
                <a:cs typeface="Calibri"/>
                <a:sym typeface="Calibri"/>
              </a:rPr>
              <a:t> and their </a:t>
            </a:r>
            <a:r>
              <a:rPr lang="en-US" sz="1800" b="1" i="0" u="none" strike="noStrike" cap="none">
                <a:solidFill>
                  <a:srgbClr val="262626"/>
                </a:solidFill>
                <a:latin typeface="Calibri"/>
                <a:ea typeface="Calibri"/>
                <a:cs typeface="Calibri"/>
                <a:sym typeface="Calibri"/>
              </a:rPr>
              <a:t>answers are stored in a table</a:t>
            </a:r>
            <a:r>
              <a:rPr lang="en-US" sz="1800" b="0" i="0" u="none" strike="noStrike" cap="none">
                <a:solidFill>
                  <a:srgbClr val="262626"/>
                </a:solidFill>
                <a:latin typeface="Calibri"/>
                <a:ea typeface="Calibri"/>
                <a:cs typeface="Calibri"/>
                <a:sym typeface="Calibri"/>
              </a:rPr>
              <a:t> for future reference.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1"/>
          <p:cNvSpPr txBox="1">
            <a:spLocks noGrp="1"/>
          </p:cNvSpPr>
          <p:nvPr>
            <p:ph type="title" idx="4294967295"/>
          </p:nvPr>
        </p:nvSpPr>
        <p:spPr>
          <a:xfrm>
            <a:off x="95250" y="607325"/>
            <a:ext cx="9048750" cy="62865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Intuitive Explanation</a:t>
            </a:r>
            <a:endParaRPr/>
          </a:p>
        </p:txBody>
      </p:sp>
      <p:sp>
        <p:nvSpPr>
          <p:cNvPr id="856" name="Google Shape;856;p11"/>
          <p:cNvSpPr txBox="1">
            <a:spLocks noGrp="1"/>
          </p:cNvSpPr>
          <p:nvPr>
            <p:ph type="body" idx="4294967295"/>
          </p:nvPr>
        </p:nvSpPr>
        <p:spPr>
          <a:xfrm>
            <a:off x="723213" y="1620838"/>
            <a:ext cx="3944321" cy="4629837"/>
          </a:xfrm>
          <a:prstGeom prst="rect">
            <a:avLst/>
          </a:prstGeom>
          <a:noFill/>
          <a:ln>
            <a:noFill/>
          </a:ln>
        </p:spPr>
        <p:txBody>
          <a:bodyPr spcFirstLastPara="1" wrap="square" lIns="91425" tIns="45700" rIns="91425" bIns="45700" anchor="t" anchorCtr="0">
            <a:normAutofit/>
          </a:bodyPr>
          <a:lstStyle/>
          <a:p>
            <a:pPr marL="454025" lvl="0" indent="-454025" algn="l" rtl="0">
              <a:lnSpc>
                <a:spcPct val="140000"/>
              </a:lnSpc>
              <a:spcBef>
                <a:spcPts val="0"/>
              </a:spcBef>
              <a:spcAft>
                <a:spcPts val="0"/>
              </a:spcAft>
              <a:buSzPts val="1891"/>
              <a:buChar char="🡽"/>
            </a:pPr>
            <a:r>
              <a:rPr lang="en-US" sz="2101"/>
              <a:t>Given a problem </a:t>
            </a:r>
            <a:r>
              <a:rPr lang="en-US" sz="2101" b="1"/>
              <a:t>P</a:t>
            </a:r>
            <a:r>
              <a:rPr lang="en-US" sz="2101"/>
              <a:t>, obtain a sequence of problems </a:t>
            </a:r>
            <a:r>
              <a:rPr lang="en-US" sz="2101" b="1"/>
              <a:t>Q</a:t>
            </a:r>
            <a:r>
              <a:rPr lang="en-US" sz="2101" b="1" baseline="-25000"/>
              <a:t>0</a:t>
            </a:r>
            <a:r>
              <a:rPr lang="en-US" sz="2101"/>
              <a:t>, </a:t>
            </a:r>
            <a:r>
              <a:rPr lang="en-US" sz="2101" b="1"/>
              <a:t>Q</a:t>
            </a:r>
            <a:r>
              <a:rPr lang="en-US" sz="2101" b="1" baseline="-25000"/>
              <a:t>1</a:t>
            </a:r>
            <a:r>
              <a:rPr lang="en-US" sz="2101"/>
              <a:t>, …., </a:t>
            </a:r>
            <a:r>
              <a:rPr lang="en-US" sz="2101" b="1"/>
              <a:t>Q</a:t>
            </a:r>
            <a:r>
              <a:rPr lang="en-US" sz="2101" b="1" baseline="-25000"/>
              <a:t>m</a:t>
            </a:r>
            <a:r>
              <a:rPr lang="en-US" sz="2101"/>
              <a:t>, where:</a:t>
            </a:r>
            <a:endParaRPr/>
          </a:p>
          <a:p>
            <a:pPr marL="914400" lvl="1" indent="-457200" algn="l" rtl="0">
              <a:lnSpc>
                <a:spcPct val="140000"/>
              </a:lnSpc>
              <a:spcBef>
                <a:spcPts val="600"/>
              </a:spcBef>
              <a:spcAft>
                <a:spcPts val="0"/>
              </a:spcAft>
              <a:buSzPts val="1620"/>
              <a:buChar char="🡽"/>
            </a:pPr>
            <a:r>
              <a:rPr lang="en-US" sz="1800"/>
              <a:t>You have a solution to </a:t>
            </a:r>
            <a:r>
              <a:rPr lang="en-US" sz="1800" b="1"/>
              <a:t>Q</a:t>
            </a:r>
            <a:r>
              <a:rPr lang="en-US" sz="1800" b="1" baseline="-25000"/>
              <a:t>0</a:t>
            </a:r>
            <a:endParaRPr/>
          </a:p>
          <a:p>
            <a:pPr marL="914400" lvl="1" indent="-457200" algn="l" rtl="0">
              <a:lnSpc>
                <a:spcPct val="140000"/>
              </a:lnSpc>
              <a:spcBef>
                <a:spcPts val="600"/>
              </a:spcBef>
              <a:spcAft>
                <a:spcPts val="0"/>
              </a:spcAft>
              <a:buSzPts val="1620"/>
              <a:buChar char="🡽"/>
            </a:pPr>
            <a:r>
              <a:rPr lang="en-US" sz="1800"/>
              <a:t>The solution to a problem </a:t>
            </a:r>
            <a:r>
              <a:rPr lang="en-US" sz="1800" b="1"/>
              <a:t>Q</a:t>
            </a:r>
            <a:r>
              <a:rPr lang="en-US" sz="1800" b="1" baseline="-25000"/>
              <a:t>j</a:t>
            </a:r>
            <a:r>
              <a:rPr lang="en-US" sz="1800"/>
              <a:t>,   </a:t>
            </a:r>
            <a:r>
              <a:rPr lang="en-US" sz="1800" b="1"/>
              <a:t>j &gt; 0</a:t>
            </a:r>
            <a:r>
              <a:rPr lang="en-US" sz="1800"/>
              <a:t>, can be obtained from solutions to problems </a:t>
            </a:r>
            <a:r>
              <a:rPr lang="en-US" sz="1800" b="1"/>
              <a:t>Q</a:t>
            </a:r>
            <a:r>
              <a:rPr lang="en-US" sz="1800" b="1" baseline="-25000"/>
              <a:t>0</a:t>
            </a:r>
            <a:r>
              <a:rPr lang="en-US" sz="1800"/>
              <a:t>...</a:t>
            </a:r>
            <a:r>
              <a:rPr lang="en-US" sz="1800" b="1"/>
              <a:t>Q</a:t>
            </a:r>
            <a:r>
              <a:rPr lang="en-US" sz="1800" b="1" baseline="-25000"/>
              <a:t>k</a:t>
            </a:r>
            <a:r>
              <a:rPr lang="en-US" sz="1800"/>
              <a:t>,  </a:t>
            </a:r>
            <a:r>
              <a:rPr lang="en-US" sz="1800" b="1"/>
              <a:t>k</a:t>
            </a:r>
            <a:r>
              <a:rPr lang="en-US" sz="1800"/>
              <a:t> </a:t>
            </a:r>
            <a:r>
              <a:rPr lang="en-US" sz="1800" b="1"/>
              <a:t>&lt; j</a:t>
            </a:r>
            <a:r>
              <a:rPr lang="en-US" sz="1800"/>
              <a:t>, that appear earlier in the “sequence”.</a:t>
            </a:r>
            <a:endParaRPr/>
          </a:p>
        </p:txBody>
      </p:sp>
      <p:pic>
        <p:nvPicPr>
          <p:cNvPr id="857" name="Google Shape;857;p11"/>
          <p:cNvPicPr preferRelativeResize="0">
            <a:picLocks noGrp="1"/>
          </p:cNvPicPr>
          <p:nvPr>
            <p:ph type="body" idx="4294967295"/>
          </p:nvPr>
        </p:nvPicPr>
        <p:blipFill rotWithShape="1">
          <a:blip r:embed="rId3">
            <a:alphaModFix/>
          </a:blip>
          <a:srcRect/>
          <a:stretch/>
        </p:blipFill>
        <p:spPr>
          <a:xfrm>
            <a:off x="4823513" y="1620838"/>
            <a:ext cx="3665306" cy="43354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12"/>
          <p:cNvSpPr txBox="1">
            <a:spLocks noGrp="1"/>
          </p:cNvSpPr>
          <p:nvPr>
            <p:ph type="title" idx="4294967295"/>
          </p:nvPr>
        </p:nvSpPr>
        <p:spPr>
          <a:xfrm>
            <a:off x="0" y="630238"/>
            <a:ext cx="9144000"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Elements of Dynamic Programming</a:t>
            </a:r>
            <a:endParaRPr/>
          </a:p>
        </p:txBody>
      </p:sp>
      <p:sp>
        <p:nvSpPr>
          <p:cNvPr id="864" name="Google Shape;864;p12"/>
          <p:cNvSpPr txBox="1">
            <a:spLocks noGrp="1"/>
          </p:cNvSpPr>
          <p:nvPr>
            <p:ph type="body" idx="4294967295"/>
          </p:nvPr>
        </p:nvSpPr>
        <p:spPr>
          <a:xfrm>
            <a:off x="0" y="2133600"/>
            <a:ext cx="8574088" cy="3992563"/>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b="1"/>
              <a:t>DP</a:t>
            </a:r>
            <a:r>
              <a:rPr lang="en-US"/>
              <a:t> is used to solve problems with the following characteristics:</a:t>
            </a:r>
            <a:endParaRPr/>
          </a:p>
          <a:p>
            <a:pPr marL="914400" lvl="1" indent="-457200" algn="l" rtl="0">
              <a:spcBef>
                <a:spcPts val="600"/>
              </a:spcBef>
              <a:spcAft>
                <a:spcPts val="0"/>
              </a:spcAft>
              <a:buSzPts val="1980"/>
              <a:buChar char="🡽"/>
            </a:pPr>
            <a:r>
              <a:rPr lang="en-US" b="1"/>
              <a:t>Optimal sub-structure</a:t>
            </a:r>
            <a:r>
              <a:rPr lang="en-US"/>
              <a:t> (</a:t>
            </a:r>
            <a:r>
              <a:rPr lang="en-US" sz="1500"/>
              <a:t>Principle of Optimality</a:t>
            </a:r>
            <a:r>
              <a:rPr lang="en-US"/>
              <a:t>) </a:t>
            </a:r>
            <a:endParaRPr/>
          </a:p>
          <a:p>
            <a:pPr marL="1260475" lvl="2" indent="-346075" algn="l" rtl="0">
              <a:spcBef>
                <a:spcPts val="600"/>
              </a:spcBef>
              <a:spcAft>
                <a:spcPts val="0"/>
              </a:spcAft>
              <a:buSzPts val="1800"/>
              <a:buChar char="🡽"/>
            </a:pPr>
            <a:r>
              <a:rPr lang="en-US"/>
              <a:t>an optimal solution to the problem contains within its optimal solutions to sub-problems.</a:t>
            </a:r>
            <a:endParaRPr/>
          </a:p>
          <a:p>
            <a:pPr marL="914400" lvl="1" indent="-457200" algn="l" rtl="0">
              <a:spcBef>
                <a:spcPts val="600"/>
              </a:spcBef>
              <a:spcAft>
                <a:spcPts val="0"/>
              </a:spcAft>
              <a:buSzPts val="1980"/>
              <a:buChar char="🡽"/>
            </a:pPr>
            <a:r>
              <a:rPr lang="en-US" b="1"/>
              <a:t>Overlapping sub problems</a:t>
            </a:r>
            <a:endParaRPr/>
          </a:p>
          <a:p>
            <a:pPr marL="1260475" lvl="2" indent="-346075" algn="l" rtl="0">
              <a:spcBef>
                <a:spcPts val="600"/>
              </a:spcBef>
              <a:spcAft>
                <a:spcPts val="0"/>
              </a:spcAft>
              <a:buSzPts val="1800"/>
              <a:buChar char="🡽"/>
            </a:pPr>
            <a:r>
              <a:rPr lang="en-US"/>
              <a:t>there exist some places where we solve the same sub problem more than once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13"/>
          <p:cNvSpPr txBox="1">
            <a:spLocks noGrp="1"/>
          </p:cNvSpPr>
          <p:nvPr>
            <p:ph type="title" idx="4294967295"/>
          </p:nvPr>
        </p:nvSpPr>
        <p:spPr>
          <a:xfrm>
            <a:off x="0" y="630238"/>
            <a:ext cx="857408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Example: Fibonacci Numbers</a:t>
            </a:r>
            <a:endParaRPr/>
          </a:p>
        </p:txBody>
      </p:sp>
      <p:sp>
        <p:nvSpPr>
          <p:cNvPr id="871" name="Google Shape;871;p13"/>
          <p:cNvSpPr txBox="1">
            <a:spLocks noGrp="1"/>
          </p:cNvSpPr>
          <p:nvPr>
            <p:ph type="body" idx="4294967295"/>
          </p:nvPr>
        </p:nvSpPr>
        <p:spPr>
          <a:xfrm>
            <a:off x="1136821" y="4936043"/>
            <a:ext cx="6608762" cy="741362"/>
          </a:xfrm>
          <a:prstGeom prst="rect">
            <a:avLst/>
          </a:prstGeom>
          <a:noFill/>
          <a:ln>
            <a:noFill/>
          </a:ln>
        </p:spPr>
        <p:txBody>
          <a:bodyPr spcFirstLastPara="1" wrap="square" lIns="91425" tIns="45700" rIns="91425" bIns="45700" anchor="t" anchorCtr="0">
            <a:normAutofit/>
          </a:bodyPr>
          <a:lstStyle/>
          <a:p>
            <a:pPr marL="454025" lvl="0" indent="-454025" algn="l" rtl="0">
              <a:lnSpc>
                <a:spcPct val="90000"/>
              </a:lnSpc>
              <a:spcBef>
                <a:spcPts val="0"/>
              </a:spcBef>
              <a:spcAft>
                <a:spcPts val="0"/>
              </a:spcAft>
              <a:buSzPts val="1620"/>
              <a:buChar char="🡽"/>
            </a:pPr>
            <a:r>
              <a:rPr lang="en-US" sz="1800"/>
              <a:t>We keep calculating the same value over and over!</a:t>
            </a:r>
            <a:endParaRPr/>
          </a:p>
          <a:p>
            <a:pPr marL="914400" lvl="1" indent="-457200" algn="l" rtl="0">
              <a:lnSpc>
                <a:spcPct val="90000"/>
              </a:lnSpc>
              <a:spcBef>
                <a:spcPts val="600"/>
              </a:spcBef>
              <a:spcAft>
                <a:spcPts val="0"/>
              </a:spcAft>
              <a:buSzPts val="1350"/>
              <a:buChar char="🡽"/>
            </a:pPr>
            <a:r>
              <a:rPr lang="en-US" sz="1500"/>
              <a:t>Subproblems are overlapping – they share sub-subproblems</a:t>
            </a:r>
            <a:endParaRPr/>
          </a:p>
        </p:txBody>
      </p:sp>
      <p:grpSp>
        <p:nvGrpSpPr>
          <p:cNvPr id="872" name="Google Shape;872;p13"/>
          <p:cNvGrpSpPr/>
          <p:nvPr/>
        </p:nvGrpSpPr>
        <p:grpSpPr>
          <a:xfrm>
            <a:off x="2697469" y="2526271"/>
            <a:ext cx="5167467" cy="1537498"/>
            <a:chOff x="1306" y="1402"/>
            <a:chExt cx="4339" cy="1291"/>
          </a:xfrm>
        </p:grpSpPr>
        <p:sp>
          <p:nvSpPr>
            <p:cNvPr id="873" name="Google Shape;873;p13"/>
            <p:cNvSpPr/>
            <p:nvPr/>
          </p:nvSpPr>
          <p:spPr>
            <a:xfrm>
              <a:off x="3515" y="1402"/>
              <a:ext cx="2130" cy="1291"/>
            </a:xfrm>
            <a:prstGeom prst="triangle">
              <a:avLst>
                <a:gd name="adj" fmla="val 60046"/>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74" name="Google Shape;874;p13"/>
            <p:cNvSpPr/>
            <p:nvPr/>
          </p:nvSpPr>
          <p:spPr>
            <a:xfrm>
              <a:off x="2355" y="1783"/>
              <a:ext cx="1068" cy="910"/>
            </a:xfrm>
            <a:prstGeom prst="triangle">
              <a:avLst>
                <a:gd name="adj" fmla="val 56181"/>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75" name="Google Shape;875;p13"/>
            <p:cNvSpPr/>
            <p:nvPr/>
          </p:nvSpPr>
          <p:spPr>
            <a:xfrm>
              <a:off x="1712" y="2148"/>
              <a:ext cx="605" cy="545"/>
            </a:xfrm>
            <a:prstGeom prst="triangle">
              <a:avLst>
                <a:gd name="adj" fmla="val 59338"/>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76" name="Google Shape;876;p13"/>
            <p:cNvSpPr/>
            <p:nvPr/>
          </p:nvSpPr>
          <p:spPr>
            <a:xfrm>
              <a:off x="1306" y="2481"/>
              <a:ext cx="388" cy="212"/>
            </a:xfrm>
            <a:prstGeom prst="triangle">
              <a:avLst>
                <a:gd name="adj" fmla="val 50000"/>
              </a:avLst>
            </a:prstGeom>
            <a:solidFill>
              <a:schemeClr val="lt2">
                <a:alpha val="4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877" name="Google Shape;877;p13"/>
          <p:cNvSpPr txBox="1"/>
          <p:nvPr/>
        </p:nvSpPr>
        <p:spPr>
          <a:xfrm>
            <a:off x="4392170" y="2015360"/>
            <a:ext cx="74571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1">
                <a:solidFill>
                  <a:schemeClr val="dk1"/>
                </a:solidFill>
                <a:latin typeface="Tahoma"/>
                <a:ea typeface="Tahoma"/>
                <a:cs typeface="Tahoma"/>
                <a:sym typeface="Tahoma"/>
              </a:rPr>
              <a:t>F(6) = 8</a:t>
            </a:r>
            <a:endParaRPr/>
          </a:p>
        </p:txBody>
      </p:sp>
      <p:sp>
        <p:nvSpPr>
          <p:cNvPr id="878" name="Google Shape;878;p13"/>
          <p:cNvSpPr txBox="1"/>
          <p:nvPr/>
        </p:nvSpPr>
        <p:spPr>
          <a:xfrm>
            <a:off x="3453712" y="2469106"/>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F(5)</a:t>
            </a:r>
            <a:endParaRPr/>
          </a:p>
        </p:txBody>
      </p:sp>
      <p:sp>
        <p:nvSpPr>
          <p:cNvPr id="879" name="Google Shape;879;p13"/>
          <p:cNvSpPr txBox="1"/>
          <p:nvPr/>
        </p:nvSpPr>
        <p:spPr>
          <a:xfrm>
            <a:off x="3008303" y="292285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F(4)</a:t>
            </a:r>
            <a:endParaRPr/>
          </a:p>
        </p:txBody>
      </p:sp>
      <p:sp>
        <p:nvSpPr>
          <p:cNvPr id="880" name="Google Shape;880;p13"/>
          <p:cNvSpPr txBox="1"/>
          <p:nvPr/>
        </p:nvSpPr>
        <p:spPr>
          <a:xfrm>
            <a:off x="2564084" y="3376599"/>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F(3)</a:t>
            </a:r>
            <a:endParaRPr/>
          </a:p>
        </p:txBody>
      </p:sp>
      <p:sp>
        <p:nvSpPr>
          <p:cNvPr id="881" name="Google Shape;881;p13"/>
          <p:cNvSpPr txBox="1"/>
          <p:nvPr/>
        </p:nvSpPr>
        <p:spPr>
          <a:xfrm>
            <a:off x="1674455" y="428528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F(1)</a:t>
            </a:r>
            <a:endParaRPr/>
          </a:p>
        </p:txBody>
      </p:sp>
      <p:sp>
        <p:nvSpPr>
          <p:cNvPr id="882" name="Google Shape;882;p13"/>
          <p:cNvSpPr txBox="1"/>
          <p:nvPr/>
        </p:nvSpPr>
        <p:spPr>
          <a:xfrm>
            <a:off x="2118675" y="383034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F(2)</a:t>
            </a:r>
            <a:endParaRPr/>
          </a:p>
        </p:txBody>
      </p:sp>
      <p:cxnSp>
        <p:nvCxnSpPr>
          <p:cNvPr id="883" name="Google Shape;883;p13"/>
          <p:cNvCxnSpPr>
            <a:stCxn id="877" idx="2"/>
            <a:endCxn id="878" idx="0"/>
          </p:cNvCxnSpPr>
          <p:nvPr/>
        </p:nvCxnSpPr>
        <p:spPr>
          <a:xfrm flipH="1">
            <a:off x="3669429" y="2269276"/>
            <a:ext cx="10956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884" name="Google Shape;884;p13"/>
          <p:cNvCxnSpPr>
            <a:stCxn id="878" idx="2"/>
            <a:endCxn id="879" idx="0"/>
          </p:cNvCxnSpPr>
          <p:nvPr/>
        </p:nvCxnSpPr>
        <p:spPr>
          <a:xfrm flipH="1">
            <a:off x="3223976" y="2723022"/>
            <a:ext cx="4455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885" name="Google Shape;885;p13"/>
          <p:cNvCxnSpPr>
            <a:stCxn id="880" idx="0"/>
            <a:endCxn id="879" idx="2"/>
          </p:cNvCxnSpPr>
          <p:nvPr/>
        </p:nvCxnSpPr>
        <p:spPr>
          <a:xfrm rot="10800000" flipH="1">
            <a:off x="2779848" y="3176799"/>
            <a:ext cx="4443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886" name="Google Shape;886;p13"/>
          <p:cNvCxnSpPr>
            <a:stCxn id="880" idx="2"/>
            <a:endCxn id="882" idx="0"/>
          </p:cNvCxnSpPr>
          <p:nvPr/>
        </p:nvCxnSpPr>
        <p:spPr>
          <a:xfrm flipH="1">
            <a:off x="2334348" y="3630515"/>
            <a:ext cx="4455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887" name="Google Shape;887;p13"/>
          <p:cNvCxnSpPr>
            <a:stCxn id="882" idx="2"/>
            <a:endCxn id="881" idx="0"/>
          </p:cNvCxnSpPr>
          <p:nvPr/>
        </p:nvCxnSpPr>
        <p:spPr>
          <a:xfrm flipH="1">
            <a:off x="1890139" y="4084261"/>
            <a:ext cx="444300" cy="201000"/>
          </a:xfrm>
          <a:prstGeom prst="straightConnector1">
            <a:avLst/>
          </a:prstGeom>
          <a:noFill/>
          <a:ln w="9525" cap="flat" cmpd="sng">
            <a:solidFill>
              <a:schemeClr val="dk1"/>
            </a:solidFill>
            <a:prstDash val="solid"/>
            <a:miter lim="800000"/>
            <a:headEnd type="none" w="med" len="med"/>
            <a:tailEnd type="none" w="med" len="med"/>
          </a:ln>
        </p:spPr>
      </p:cxnSp>
      <p:sp>
        <p:nvSpPr>
          <p:cNvPr id="888" name="Google Shape;888;p13"/>
          <p:cNvSpPr txBox="1"/>
          <p:nvPr/>
        </p:nvSpPr>
        <p:spPr>
          <a:xfrm>
            <a:off x="2383062" y="431029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Tahoma"/>
                <a:ea typeface="Tahoma"/>
                <a:cs typeface="Tahoma"/>
                <a:sym typeface="Tahoma"/>
              </a:rPr>
              <a:t>F(0)</a:t>
            </a:r>
            <a:endParaRPr/>
          </a:p>
        </p:txBody>
      </p:sp>
      <p:cxnSp>
        <p:nvCxnSpPr>
          <p:cNvPr id="889" name="Google Shape;889;p13"/>
          <p:cNvCxnSpPr>
            <a:stCxn id="882" idx="2"/>
            <a:endCxn id="888" idx="0"/>
          </p:cNvCxnSpPr>
          <p:nvPr/>
        </p:nvCxnSpPr>
        <p:spPr>
          <a:xfrm>
            <a:off x="2334439" y="4084261"/>
            <a:ext cx="264300" cy="225900"/>
          </a:xfrm>
          <a:prstGeom prst="straightConnector1">
            <a:avLst/>
          </a:prstGeom>
          <a:noFill/>
          <a:ln w="9525" cap="flat" cmpd="sng">
            <a:solidFill>
              <a:schemeClr val="dk1"/>
            </a:solidFill>
            <a:prstDash val="solid"/>
            <a:miter lim="800000"/>
            <a:headEnd type="none" w="med" len="med"/>
            <a:tailEnd type="none" w="med" len="med"/>
          </a:ln>
        </p:spPr>
      </p:cxnSp>
      <p:sp>
        <p:nvSpPr>
          <p:cNvPr id="890" name="Google Shape;890;p13"/>
          <p:cNvSpPr txBox="1"/>
          <p:nvPr/>
        </p:nvSpPr>
        <p:spPr>
          <a:xfrm>
            <a:off x="2747488" y="3849400"/>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891" name="Google Shape;891;p13"/>
          <p:cNvCxnSpPr>
            <a:stCxn id="880" idx="2"/>
            <a:endCxn id="890" idx="0"/>
          </p:cNvCxnSpPr>
          <p:nvPr/>
        </p:nvCxnSpPr>
        <p:spPr>
          <a:xfrm>
            <a:off x="2779848" y="3630515"/>
            <a:ext cx="183300" cy="219000"/>
          </a:xfrm>
          <a:prstGeom prst="straightConnector1">
            <a:avLst/>
          </a:prstGeom>
          <a:noFill/>
          <a:ln w="9525" cap="flat" cmpd="sng">
            <a:solidFill>
              <a:schemeClr val="dk1"/>
            </a:solidFill>
            <a:prstDash val="solid"/>
            <a:miter lim="800000"/>
            <a:headEnd type="none" w="med" len="med"/>
            <a:tailEnd type="none" w="med" len="med"/>
          </a:ln>
        </p:spPr>
      </p:cxnSp>
      <p:sp>
        <p:nvSpPr>
          <p:cNvPr id="892" name="Google Shape;892;p13"/>
          <p:cNvSpPr txBox="1"/>
          <p:nvPr/>
        </p:nvSpPr>
        <p:spPr>
          <a:xfrm>
            <a:off x="3139306" y="385297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893" name="Google Shape;893;p13"/>
          <p:cNvSpPr txBox="1"/>
          <p:nvPr/>
        </p:nvSpPr>
        <p:spPr>
          <a:xfrm>
            <a:off x="3404884" y="339803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894" name="Google Shape;894;p13"/>
          <p:cNvCxnSpPr>
            <a:stCxn id="893" idx="2"/>
            <a:endCxn id="892" idx="0"/>
          </p:cNvCxnSpPr>
          <p:nvPr/>
        </p:nvCxnSpPr>
        <p:spPr>
          <a:xfrm flipH="1">
            <a:off x="3355148" y="3651951"/>
            <a:ext cx="265500" cy="201000"/>
          </a:xfrm>
          <a:prstGeom prst="straightConnector1">
            <a:avLst/>
          </a:prstGeom>
          <a:noFill/>
          <a:ln w="9525" cap="flat" cmpd="sng">
            <a:solidFill>
              <a:schemeClr val="dk1"/>
            </a:solidFill>
            <a:prstDash val="solid"/>
            <a:miter lim="800000"/>
            <a:headEnd type="none" w="med" len="med"/>
            <a:tailEnd type="none" w="med" len="med"/>
          </a:ln>
        </p:spPr>
      </p:cxnSp>
      <p:sp>
        <p:nvSpPr>
          <p:cNvPr id="895" name="Google Shape;895;p13"/>
          <p:cNvSpPr txBox="1"/>
          <p:nvPr/>
        </p:nvSpPr>
        <p:spPr>
          <a:xfrm>
            <a:off x="3573196" y="3877983"/>
            <a:ext cx="431529" cy="25391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896" name="Google Shape;896;p13"/>
          <p:cNvCxnSpPr>
            <a:stCxn id="893" idx="2"/>
            <a:endCxn id="895" idx="0"/>
          </p:cNvCxnSpPr>
          <p:nvPr/>
        </p:nvCxnSpPr>
        <p:spPr>
          <a:xfrm>
            <a:off x="3620648" y="3651951"/>
            <a:ext cx="168300" cy="225900"/>
          </a:xfrm>
          <a:prstGeom prst="straightConnector1">
            <a:avLst/>
          </a:prstGeom>
          <a:noFill/>
          <a:ln w="9525" cap="flat" cmpd="sng">
            <a:solidFill>
              <a:schemeClr val="dk1"/>
            </a:solidFill>
            <a:prstDash val="solid"/>
            <a:miter lim="800000"/>
            <a:headEnd type="none" w="med" len="med"/>
            <a:tailEnd type="none" w="med" len="med"/>
          </a:ln>
        </p:spPr>
      </p:cxnSp>
      <p:cxnSp>
        <p:nvCxnSpPr>
          <p:cNvPr id="897" name="Google Shape;897;p13"/>
          <p:cNvCxnSpPr>
            <a:stCxn id="879" idx="2"/>
            <a:endCxn id="893" idx="0"/>
          </p:cNvCxnSpPr>
          <p:nvPr/>
        </p:nvCxnSpPr>
        <p:spPr>
          <a:xfrm>
            <a:off x="3224067" y="3176769"/>
            <a:ext cx="396600" cy="221400"/>
          </a:xfrm>
          <a:prstGeom prst="straightConnector1">
            <a:avLst/>
          </a:prstGeom>
          <a:noFill/>
          <a:ln w="9525" cap="flat" cmpd="sng">
            <a:solidFill>
              <a:schemeClr val="dk1"/>
            </a:solidFill>
            <a:prstDash val="solid"/>
            <a:miter lim="800000"/>
            <a:headEnd type="none" w="med" len="med"/>
            <a:tailEnd type="none" w="med" len="med"/>
          </a:ln>
        </p:spPr>
      </p:cxnSp>
      <p:sp>
        <p:nvSpPr>
          <p:cNvPr id="898" name="Google Shape;898;p13"/>
          <p:cNvSpPr txBox="1"/>
          <p:nvPr/>
        </p:nvSpPr>
        <p:spPr>
          <a:xfrm>
            <a:off x="4435043" y="2958581"/>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899" name="Google Shape;899;p13"/>
          <p:cNvSpPr txBox="1"/>
          <p:nvPr/>
        </p:nvSpPr>
        <p:spPr>
          <a:xfrm>
            <a:off x="3952715" y="3874410"/>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900" name="Google Shape;900;p13"/>
          <p:cNvSpPr txBox="1"/>
          <p:nvPr/>
        </p:nvSpPr>
        <p:spPr>
          <a:xfrm>
            <a:off x="4225438" y="341947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901" name="Google Shape;901;p13"/>
          <p:cNvCxnSpPr>
            <a:stCxn id="898" idx="0"/>
            <a:endCxn id="878" idx="2"/>
          </p:cNvCxnSpPr>
          <p:nvPr/>
        </p:nvCxnSpPr>
        <p:spPr>
          <a:xfrm rot="10800000">
            <a:off x="3669507" y="2723081"/>
            <a:ext cx="981300" cy="235500"/>
          </a:xfrm>
          <a:prstGeom prst="straightConnector1">
            <a:avLst/>
          </a:prstGeom>
          <a:noFill/>
          <a:ln w="9525" cap="flat" cmpd="sng">
            <a:solidFill>
              <a:schemeClr val="dk1"/>
            </a:solidFill>
            <a:prstDash val="solid"/>
            <a:miter lim="800000"/>
            <a:headEnd type="none" w="med" len="med"/>
            <a:tailEnd type="none" w="med" len="med"/>
          </a:ln>
        </p:spPr>
      </p:cxnSp>
      <p:cxnSp>
        <p:nvCxnSpPr>
          <p:cNvPr id="902" name="Google Shape;902;p13"/>
          <p:cNvCxnSpPr>
            <a:stCxn id="898" idx="2"/>
            <a:endCxn id="900" idx="0"/>
          </p:cNvCxnSpPr>
          <p:nvPr/>
        </p:nvCxnSpPr>
        <p:spPr>
          <a:xfrm flipH="1">
            <a:off x="4441107" y="3212497"/>
            <a:ext cx="209700" cy="207000"/>
          </a:xfrm>
          <a:prstGeom prst="straightConnector1">
            <a:avLst/>
          </a:prstGeom>
          <a:noFill/>
          <a:ln w="9525" cap="flat" cmpd="sng">
            <a:solidFill>
              <a:schemeClr val="dk1"/>
            </a:solidFill>
            <a:prstDash val="solid"/>
            <a:miter lim="800000"/>
            <a:headEnd type="none" w="med" len="med"/>
            <a:tailEnd type="none" w="med" len="med"/>
          </a:ln>
        </p:spPr>
      </p:cxnSp>
      <p:cxnSp>
        <p:nvCxnSpPr>
          <p:cNvPr id="903" name="Google Shape;903;p13"/>
          <p:cNvCxnSpPr>
            <a:stCxn id="900" idx="2"/>
            <a:endCxn id="899" idx="0"/>
          </p:cNvCxnSpPr>
          <p:nvPr/>
        </p:nvCxnSpPr>
        <p:spPr>
          <a:xfrm flipH="1">
            <a:off x="4168502" y="3673388"/>
            <a:ext cx="272700" cy="201000"/>
          </a:xfrm>
          <a:prstGeom prst="straightConnector1">
            <a:avLst/>
          </a:prstGeom>
          <a:noFill/>
          <a:ln w="9525" cap="flat" cmpd="sng">
            <a:solidFill>
              <a:schemeClr val="dk1"/>
            </a:solidFill>
            <a:prstDash val="solid"/>
            <a:miter lim="800000"/>
            <a:headEnd type="none" w="med" len="med"/>
            <a:tailEnd type="none" w="med" len="med"/>
          </a:ln>
        </p:spPr>
      </p:cxnSp>
      <p:sp>
        <p:nvSpPr>
          <p:cNvPr id="904" name="Google Shape;904;p13"/>
          <p:cNvSpPr txBox="1"/>
          <p:nvPr/>
        </p:nvSpPr>
        <p:spPr>
          <a:xfrm>
            <a:off x="4418370" y="3892274"/>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905" name="Google Shape;905;p13"/>
          <p:cNvCxnSpPr>
            <a:stCxn id="900" idx="2"/>
            <a:endCxn id="904" idx="0"/>
          </p:cNvCxnSpPr>
          <p:nvPr/>
        </p:nvCxnSpPr>
        <p:spPr>
          <a:xfrm>
            <a:off x="4441202" y="3673388"/>
            <a:ext cx="192900" cy="219000"/>
          </a:xfrm>
          <a:prstGeom prst="straightConnector1">
            <a:avLst/>
          </a:prstGeom>
          <a:noFill/>
          <a:ln w="9525" cap="flat" cmpd="sng">
            <a:solidFill>
              <a:schemeClr val="dk1"/>
            </a:solidFill>
            <a:prstDash val="solid"/>
            <a:miter lim="800000"/>
            <a:headEnd type="none" w="med" len="med"/>
            <a:tailEnd type="none" w="med" len="med"/>
          </a:ln>
        </p:spPr>
      </p:cxnSp>
      <p:sp>
        <p:nvSpPr>
          <p:cNvPr id="906" name="Google Shape;906;p13"/>
          <p:cNvSpPr txBox="1"/>
          <p:nvPr/>
        </p:nvSpPr>
        <p:spPr>
          <a:xfrm>
            <a:off x="4661321" y="343138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907" name="Google Shape;907;p13"/>
          <p:cNvCxnSpPr>
            <a:stCxn id="898" idx="2"/>
            <a:endCxn id="906" idx="0"/>
          </p:cNvCxnSpPr>
          <p:nvPr/>
        </p:nvCxnSpPr>
        <p:spPr>
          <a:xfrm>
            <a:off x="4650807" y="3212497"/>
            <a:ext cx="226200" cy="219000"/>
          </a:xfrm>
          <a:prstGeom prst="straightConnector1">
            <a:avLst/>
          </a:prstGeom>
          <a:noFill/>
          <a:ln w="9525" cap="flat" cmpd="sng">
            <a:solidFill>
              <a:schemeClr val="dk1"/>
            </a:solidFill>
            <a:prstDash val="solid"/>
            <a:miter lim="800000"/>
            <a:headEnd type="none" w="med" len="med"/>
            <a:tailEnd type="none" w="med" len="med"/>
          </a:ln>
        </p:spPr>
      </p:cxnSp>
      <p:sp>
        <p:nvSpPr>
          <p:cNvPr id="908" name="Google Shape;908;p13"/>
          <p:cNvSpPr txBox="1"/>
          <p:nvPr/>
        </p:nvSpPr>
        <p:spPr>
          <a:xfrm>
            <a:off x="6639464" y="251912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F(4)</a:t>
            </a:r>
            <a:endParaRPr/>
          </a:p>
        </p:txBody>
      </p:sp>
      <p:sp>
        <p:nvSpPr>
          <p:cNvPr id="909" name="Google Shape;909;p13"/>
          <p:cNvSpPr txBox="1"/>
          <p:nvPr/>
        </p:nvSpPr>
        <p:spPr>
          <a:xfrm>
            <a:off x="6195245" y="2972872"/>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F(3)</a:t>
            </a:r>
            <a:endParaRPr/>
          </a:p>
        </p:txBody>
      </p:sp>
      <p:sp>
        <p:nvSpPr>
          <p:cNvPr id="910" name="Google Shape;910;p13"/>
          <p:cNvSpPr txBox="1"/>
          <p:nvPr/>
        </p:nvSpPr>
        <p:spPr>
          <a:xfrm>
            <a:off x="5305617" y="388155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911" name="Google Shape;911;p13"/>
          <p:cNvSpPr txBox="1"/>
          <p:nvPr/>
        </p:nvSpPr>
        <p:spPr>
          <a:xfrm>
            <a:off x="5749835" y="3426618"/>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912" name="Google Shape;912;p13"/>
          <p:cNvCxnSpPr>
            <a:stCxn id="877" idx="2"/>
            <a:endCxn id="908" idx="0"/>
          </p:cNvCxnSpPr>
          <p:nvPr/>
        </p:nvCxnSpPr>
        <p:spPr>
          <a:xfrm>
            <a:off x="4765029" y="2269276"/>
            <a:ext cx="2090100" cy="249900"/>
          </a:xfrm>
          <a:prstGeom prst="straightConnector1">
            <a:avLst/>
          </a:prstGeom>
          <a:noFill/>
          <a:ln w="9525" cap="flat" cmpd="sng">
            <a:solidFill>
              <a:schemeClr val="dk1"/>
            </a:solidFill>
            <a:prstDash val="solid"/>
            <a:miter lim="800000"/>
            <a:headEnd type="none" w="med" len="med"/>
            <a:tailEnd type="none" w="med" len="med"/>
          </a:ln>
        </p:spPr>
      </p:cxnSp>
      <p:cxnSp>
        <p:nvCxnSpPr>
          <p:cNvPr id="913" name="Google Shape;913;p13"/>
          <p:cNvCxnSpPr>
            <a:stCxn id="909" idx="0"/>
            <a:endCxn id="908" idx="2"/>
          </p:cNvCxnSpPr>
          <p:nvPr/>
        </p:nvCxnSpPr>
        <p:spPr>
          <a:xfrm rot="10800000" flipH="1">
            <a:off x="6411009" y="2773072"/>
            <a:ext cx="4443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914" name="Google Shape;914;p13"/>
          <p:cNvCxnSpPr>
            <a:stCxn id="909" idx="2"/>
            <a:endCxn id="911" idx="0"/>
          </p:cNvCxnSpPr>
          <p:nvPr/>
        </p:nvCxnSpPr>
        <p:spPr>
          <a:xfrm flipH="1">
            <a:off x="5965509" y="3226788"/>
            <a:ext cx="445500" cy="199800"/>
          </a:xfrm>
          <a:prstGeom prst="straightConnector1">
            <a:avLst/>
          </a:prstGeom>
          <a:noFill/>
          <a:ln w="9525" cap="flat" cmpd="sng">
            <a:solidFill>
              <a:schemeClr val="dk1"/>
            </a:solidFill>
            <a:prstDash val="solid"/>
            <a:miter lim="800000"/>
            <a:headEnd type="none" w="med" len="med"/>
            <a:tailEnd type="none" w="med" len="med"/>
          </a:ln>
        </p:spPr>
      </p:cxnSp>
      <p:cxnSp>
        <p:nvCxnSpPr>
          <p:cNvPr id="915" name="Google Shape;915;p13"/>
          <p:cNvCxnSpPr>
            <a:stCxn id="911" idx="2"/>
            <a:endCxn id="910" idx="0"/>
          </p:cNvCxnSpPr>
          <p:nvPr/>
        </p:nvCxnSpPr>
        <p:spPr>
          <a:xfrm flipH="1">
            <a:off x="5521299" y="3680534"/>
            <a:ext cx="444300" cy="201000"/>
          </a:xfrm>
          <a:prstGeom prst="straightConnector1">
            <a:avLst/>
          </a:prstGeom>
          <a:noFill/>
          <a:ln w="9525" cap="flat" cmpd="sng">
            <a:solidFill>
              <a:schemeClr val="dk1"/>
            </a:solidFill>
            <a:prstDash val="solid"/>
            <a:miter lim="800000"/>
            <a:headEnd type="none" w="med" len="med"/>
            <a:tailEnd type="none" w="med" len="med"/>
          </a:ln>
        </p:spPr>
      </p:cxnSp>
      <p:sp>
        <p:nvSpPr>
          <p:cNvPr id="916" name="Google Shape;916;p13"/>
          <p:cNvSpPr txBox="1"/>
          <p:nvPr/>
        </p:nvSpPr>
        <p:spPr>
          <a:xfrm>
            <a:off x="6014223" y="390656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917" name="Google Shape;917;p13"/>
          <p:cNvCxnSpPr>
            <a:stCxn id="911" idx="2"/>
            <a:endCxn id="916" idx="0"/>
          </p:cNvCxnSpPr>
          <p:nvPr/>
        </p:nvCxnSpPr>
        <p:spPr>
          <a:xfrm>
            <a:off x="5965599" y="3680534"/>
            <a:ext cx="264300" cy="225900"/>
          </a:xfrm>
          <a:prstGeom prst="straightConnector1">
            <a:avLst/>
          </a:prstGeom>
          <a:noFill/>
          <a:ln w="9525" cap="flat" cmpd="sng">
            <a:solidFill>
              <a:schemeClr val="dk1"/>
            </a:solidFill>
            <a:prstDash val="solid"/>
            <a:miter lim="800000"/>
            <a:headEnd type="none" w="med" len="med"/>
            <a:tailEnd type="none" w="med" len="med"/>
          </a:ln>
        </p:spPr>
      </p:cxnSp>
      <p:sp>
        <p:nvSpPr>
          <p:cNvPr id="918" name="Google Shape;918;p13"/>
          <p:cNvSpPr txBox="1"/>
          <p:nvPr/>
        </p:nvSpPr>
        <p:spPr>
          <a:xfrm>
            <a:off x="6378649" y="3445673"/>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cxnSp>
        <p:nvCxnSpPr>
          <p:cNvPr id="919" name="Google Shape;919;p13"/>
          <p:cNvCxnSpPr>
            <a:stCxn id="909" idx="2"/>
            <a:endCxn id="918" idx="0"/>
          </p:cNvCxnSpPr>
          <p:nvPr/>
        </p:nvCxnSpPr>
        <p:spPr>
          <a:xfrm>
            <a:off x="6411009" y="3226788"/>
            <a:ext cx="183300" cy="219000"/>
          </a:xfrm>
          <a:prstGeom prst="straightConnector1">
            <a:avLst/>
          </a:prstGeom>
          <a:noFill/>
          <a:ln w="9525" cap="flat" cmpd="sng">
            <a:solidFill>
              <a:schemeClr val="dk1"/>
            </a:solidFill>
            <a:prstDash val="solid"/>
            <a:miter lim="800000"/>
            <a:headEnd type="none" w="med" len="med"/>
            <a:tailEnd type="none" w="med" len="med"/>
          </a:ln>
        </p:spPr>
      </p:cxnSp>
      <p:sp>
        <p:nvSpPr>
          <p:cNvPr id="920" name="Google Shape;920;p13"/>
          <p:cNvSpPr txBox="1"/>
          <p:nvPr/>
        </p:nvSpPr>
        <p:spPr>
          <a:xfrm>
            <a:off x="6770467" y="3449246"/>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F(1)</a:t>
            </a:r>
            <a:endParaRPr/>
          </a:p>
        </p:txBody>
      </p:sp>
      <p:sp>
        <p:nvSpPr>
          <p:cNvPr id="921" name="Google Shape;921;p13"/>
          <p:cNvSpPr txBox="1"/>
          <p:nvPr/>
        </p:nvSpPr>
        <p:spPr>
          <a:xfrm>
            <a:off x="6928861" y="2994309"/>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F(2)</a:t>
            </a:r>
            <a:endParaRPr/>
          </a:p>
        </p:txBody>
      </p:sp>
      <p:cxnSp>
        <p:nvCxnSpPr>
          <p:cNvPr id="922" name="Google Shape;922;p13"/>
          <p:cNvCxnSpPr>
            <a:stCxn id="921" idx="2"/>
            <a:endCxn id="920" idx="0"/>
          </p:cNvCxnSpPr>
          <p:nvPr/>
        </p:nvCxnSpPr>
        <p:spPr>
          <a:xfrm flipH="1">
            <a:off x="6986225" y="3248225"/>
            <a:ext cx="158400" cy="201000"/>
          </a:xfrm>
          <a:prstGeom prst="straightConnector1">
            <a:avLst/>
          </a:prstGeom>
          <a:noFill/>
          <a:ln w="9525" cap="flat" cmpd="sng">
            <a:solidFill>
              <a:schemeClr val="dk1"/>
            </a:solidFill>
            <a:prstDash val="solid"/>
            <a:miter lim="800000"/>
            <a:headEnd type="none" w="med" len="med"/>
            <a:tailEnd type="none" w="med" len="med"/>
          </a:ln>
        </p:spPr>
      </p:cxnSp>
      <p:sp>
        <p:nvSpPr>
          <p:cNvPr id="923" name="Google Shape;923;p13"/>
          <p:cNvSpPr txBox="1"/>
          <p:nvPr/>
        </p:nvSpPr>
        <p:spPr>
          <a:xfrm>
            <a:off x="7228977" y="3474255"/>
            <a:ext cx="43152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rgbClr val="FF3300"/>
                </a:solidFill>
                <a:latin typeface="Tahoma"/>
                <a:ea typeface="Tahoma"/>
                <a:cs typeface="Tahoma"/>
                <a:sym typeface="Tahoma"/>
              </a:rPr>
              <a:t>F(0)</a:t>
            </a:r>
            <a:endParaRPr/>
          </a:p>
        </p:txBody>
      </p:sp>
      <p:cxnSp>
        <p:nvCxnSpPr>
          <p:cNvPr id="924" name="Google Shape;924;p13"/>
          <p:cNvCxnSpPr>
            <a:stCxn id="921" idx="2"/>
            <a:endCxn id="923" idx="0"/>
          </p:cNvCxnSpPr>
          <p:nvPr/>
        </p:nvCxnSpPr>
        <p:spPr>
          <a:xfrm>
            <a:off x="7144625" y="3248225"/>
            <a:ext cx="300000" cy="225900"/>
          </a:xfrm>
          <a:prstGeom prst="straightConnector1">
            <a:avLst/>
          </a:prstGeom>
          <a:noFill/>
          <a:ln w="9525" cap="flat" cmpd="sng">
            <a:solidFill>
              <a:schemeClr val="dk1"/>
            </a:solidFill>
            <a:prstDash val="solid"/>
            <a:miter lim="800000"/>
            <a:headEnd type="none" w="med" len="med"/>
            <a:tailEnd type="none" w="med" len="med"/>
          </a:ln>
        </p:spPr>
      </p:cxnSp>
      <p:cxnSp>
        <p:nvCxnSpPr>
          <p:cNvPr id="925" name="Google Shape;925;p13"/>
          <p:cNvCxnSpPr>
            <a:stCxn id="908" idx="2"/>
            <a:endCxn id="921" idx="0"/>
          </p:cNvCxnSpPr>
          <p:nvPr/>
        </p:nvCxnSpPr>
        <p:spPr>
          <a:xfrm>
            <a:off x="6855228" y="2773041"/>
            <a:ext cx="289500" cy="221400"/>
          </a:xfrm>
          <a:prstGeom prst="straightConnector1">
            <a:avLst/>
          </a:prstGeom>
          <a:noFill/>
          <a:ln w="9525" cap="flat" cmpd="sng">
            <a:solidFill>
              <a:schemeClr val="dk1"/>
            </a:solidFill>
            <a:prstDash val="solid"/>
            <a:miter lim="800000"/>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p14"/>
          <p:cNvSpPr txBox="1">
            <a:spLocks noGrp="1"/>
          </p:cNvSpPr>
          <p:nvPr>
            <p:ph type="title" idx="4294967295"/>
          </p:nvPr>
        </p:nvSpPr>
        <p:spPr>
          <a:xfrm>
            <a:off x="85060" y="663437"/>
            <a:ext cx="9058940" cy="85725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orbel"/>
              <a:buNone/>
            </a:pPr>
            <a:r>
              <a:rPr lang="en-US" sz="3200" b="1">
                <a:solidFill>
                  <a:schemeClr val="dk1"/>
                </a:solidFill>
              </a:rPr>
              <a:t>Steps to Designing a</a:t>
            </a:r>
            <a:br>
              <a:rPr lang="en-US" sz="3200" b="1">
                <a:solidFill>
                  <a:schemeClr val="dk1"/>
                </a:solidFill>
              </a:rPr>
            </a:br>
            <a:r>
              <a:rPr lang="en-US" sz="3200" b="1">
                <a:solidFill>
                  <a:schemeClr val="dk1"/>
                </a:solidFill>
              </a:rPr>
              <a:t>Dynamic Programming Algorithm</a:t>
            </a:r>
            <a:endParaRPr/>
          </a:p>
        </p:txBody>
      </p:sp>
      <p:sp>
        <p:nvSpPr>
          <p:cNvPr id="932" name="Google Shape;932;p14"/>
          <p:cNvSpPr txBox="1">
            <a:spLocks noGrp="1"/>
          </p:cNvSpPr>
          <p:nvPr>
            <p:ph type="body" idx="4294967295"/>
          </p:nvPr>
        </p:nvSpPr>
        <p:spPr>
          <a:xfrm>
            <a:off x="515938" y="2286000"/>
            <a:ext cx="8628062" cy="3028950"/>
          </a:xfrm>
          <a:prstGeom prst="rect">
            <a:avLst/>
          </a:prstGeom>
          <a:noFill/>
          <a:ln>
            <a:noFill/>
          </a:ln>
        </p:spPr>
        <p:txBody>
          <a:bodyPr spcFirstLastPara="1" wrap="square" lIns="91425" tIns="45700" rIns="91425" bIns="45700" anchor="t" anchorCtr="0">
            <a:normAutofit/>
          </a:bodyPr>
          <a:lstStyle/>
          <a:p>
            <a:pPr marL="457322" lvl="0" indent="-457322" algn="l" rtl="0">
              <a:spcBef>
                <a:spcPts val="0"/>
              </a:spcBef>
              <a:spcAft>
                <a:spcPts val="0"/>
              </a:spcAft>
              <a:buSzPts val="2160"/>
              <a:buFont typeface="Noto Sans Symbols"/>
              <a:buAutoNum type="arabicPeriod"/>
            </a:pPr>
            <a:r>
              <a:rPr lang="en-US"/>
              <a:t>Characterize </a:t>
            </a:r>
            <a:r>
              <a:rPr lang="en-US" b="1" i="1"/>
              <a:t>optimal sub-structure</a:t>
            </a:r>
            <a:endParaRPr/>
          </a:p>
          <a:p>
            <a:pPr marL="457322" lvl="0" indent="-457322" algn="l" rtl="0">
              <a:spcBef>
                <a:spcPts val="2000"/>
              </a:spcBef>
              <a:spcAft>
                <a:spcPts val="0"/>
              </a:spcAft>
              <a:buSzPts val="2160"/>
              <a:buFont typeface="Noto Sans Symbols"/>
              <a:buAutoNum type="arabicPeriod"/>
            </a:pPr>
            <a:r>
              <a:rPr lang="en-US"/>
              <a:t> </a:t>
            </a:r>
            <a:r>
              <a:rPr lang="en-US" b="1" i="1"/>
              <a:t>Recursively</a:t>
            </a:r>
            <a:r>
              <a:rPr lang="en-US"/>
              <a:t> define the value of an optimal solution</a:t>
            </a:r>
            <a:endParaRPr/>
          </a:p>
          <a:p>
            <a:pPr marL="457322" lvl="0" indent="-457322" algn="l" rtl="0">
              <a:spcBef>
                <a:spcPts val="2000"/>
              </a:spcBef>
              <a:spcAft>
                <a:spcPts val="0"/>
              </a:spcAft>
              <a:buSzPts val="2160"/>
              <a:buFont typeface="Noto Sans Symbols"/>
              <a:buAutoNum type="arabicPeriod"/>
            </a:pPr>
            <a:r>
              <a:rPr lang="en-US"/>
              <a:t>Compute the value </a:t>
            </a:r>
            <a:r>
              <a:rPr lang="en-US" b="1" i="1"/>
              <a:t>bottom up</a:t>
            </a:r>
            <a:endParaRPr/>
          </a:p>
          <a:p>
            <a:pPr marL="457322" lvl="0" indent="-457322" algn="l" rtl="0">
              <a:spcBef>
                <a:spcPts val="2000"/>
              </a:spcBef>
              <a:spcAft>
                <a:spcPts val="0"/>
              </a:spcAft>
              <a:buSzPts val="2160"/>
              <a:buFont typeface="Noto Sans Symbols"/>
              <a:buAutoNum type="arabicPeriod"/>
            </a:pPr>
            <a:r>
              <a:rPr lang="en-US"/>
              <a:t>(if needed) </a:t>
            </a:r>
            <a:r>
              <a:rPr lang="en-US" b="1" i="1"/>
              <a:t>Construct</a:t>
            </a:r>
            <a:r>
              <a:rPr lang="en-US"/>
              <a:t> an optimal solution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15"/>
          <p:cNvSpPr txBox="1">
            <a:spLocks noGrp="1"/>
          </p:cNvSpPr>
          <p:nvPr>
            <p:ph type="title" idx="4294967295"/>
          </p:nvPr>
        </p:nvSpPr>
        <p:spPr>
          <a:xfrm>
            <a:off x="0" y="677862"/>
            <a:ext cx="9144000" cy="39211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orbel"/>
              <a:buNone/>
            </a:pPr>
            <a:r>
              <a:rPr lang="en-US" sz="3200" b="1">
                <a:solidFill>
                  <a:schemeClr val="dk1"/>
                </a:solidFill>
              </a:rPr>
              <a:t>1.Optimal Sub-Structure</a:t>
            </a:r>
            <a:endParaRPr/>
          </a:p>
        </p:txBody>
      </p:sp>
      <p:sp>
        <p:nvSpPr>
          <p:cNvPr id="939" name="Google Shape;939;p15"/>
          <p:cNvSpPr txBox="1">
            <a:spLocks noGrp="1"/>
          </p:cNvSpPr>
          <p:nvPr>
            <p:ph type="body" idx="4294967295"/>
          </p:nvPr>
        </p:nvSpPr>
        <p:spPr>
          <a:xfrm>
            <a:off x="0" y="1509713"/>
            <a:ext cx="8804275" cy="4278312"/>
          </a:xfrm>
          <a:prstGeom prst="rect">
            <a:avLst/>
          </a:prstGeom>
          <a:noFill/>
          <a:ln>
            <a:noFill/>
          </a:ln>
        </p:spPr>
        <p:txBody>
          <a:bodyPr spcFirstLastPara="1" wrap="square" lIns="91425" tIns="45700" rIns="91425" bIns="45700" anchor="t" anchorCtr="0">
            <a:normAutofit/>
          </a:bodyPr>
          <a:lstStyle/>
          <a:p>
            <a:pPr marL="454025" lvl="0" indent="-454025" algn="l" rtl="0">
              <a:lnSpc>
                <a:spcPct val="150000"/>
              </a:lnSpc>
              <a:spcBef>
                <a:spcPts val="0"/>
              </a:spcBef>
              <a:spcAft>
                <a:spcPts val="0"/>
              </a:spcAft>
              <a:buSzPts val="1891"/>
              <a:buChar char="🡽"/>
            </a:pPr>
            <a:r>
              <a:rPr lang="en-US" sz="2101"/>
              <a:t>An optimal solution to the problem contains optimal solutions to sub-problems</a:t>
            </a:r>
            <a:endParaRPr/>
          </a:p>
          <a:p>
            <a:pPr marL="914400" lvl="1" indent="-457200" algn="l" rtl="0">
              <a:lnSpc>
                <a:spcPct val="150000"/>
              </a:lnSpc>
              <a:spcBef>
                <a:spcPts val="600"/>
              </a:spcBef>
              <a:spcAft>
                <a:spcPts val="0"/>
              </a:spcAft>
              <a:buSzPts val="1620"/>
              <a:buChar char="🡽"/>
            </a:pPr>
            <a:r>
              <a:rPr lang="en-US" sz="1800"/>
              <a:t>Solution to a problem: </a:t>
            </a:r>
            <a:endParaRPr/>
          </a:p>
          <a:p>
            <a:pPr marL="1260475" lvl="2" indent="-346075" algn="l" rtl="0">
              <a:lnSpc>
                <a:spcPct val="150000"/>
              </a:lnSpc>
              <a:spcBef>
                <a:spcPts val="600"/>
              </a:spcBef>
              <a:spcAft>
                <a:spcPts val="0"/>
              </a:spcAft>
              <a:buSzPts val="1350"/>
              <a:buChar char="🡽"/>
            </a:pPr>
            <a:r>
              <a:rPr lang="en-US" sz="1500"/>
              <a:t>Making a </a:t>
            </a:r>
            <a:r>
              <a:rPr lang="en-US" sz="1500" b="1"/>
              <a:t>choice</a:t>
            </a:r>
            <a:r>
              <a:rPr lang="en-US" sz="1500"/>
              <a:t> out of a number of </a:t>
            </a:r>
            <a:r>
              <a:rPr lang="en-US" sz="1500" b="1"/>
              <a:t>possibilities</a:t>
            </a:r>
            <a:r>
              <a:rPr lang="en-US" sz="1500"/>
              <a:t> (look what possible choices there can be)</a:t>
            </a:r>
            <a:endParaRPr/>
          </a:p>
          <a:p>
            <a:pPr marL="1260475" lvl="2" indent="-346075" algn="l" rtl="0">
              <a:lnSpc>
                <a:spcPct val="150000"/>
              </a:lnSpc>
              <a:spcBef>
                <a:spcPts val="600"/>
              </a:spcBef>
              <a:spcAft>
                <a:spcPts val="0"/>
              </a:spcAft>
              <a:buSzPts val="1350"/>
              <a:buChar char="🡽"/>
            </a:pPr>
            <a:r>
              <a:rPr lang="en-US" sz="1500" b="1"/>
              <a:t>Solving</a:t>
            </a:r>
            <a:r>
              <a:rPr lang="en-US" sz="1500"/>
              <a:t> one or more </a:t>
            </a:r>
            <a:r>
              <a:rPr lang="en-US" sz="1500" b="1"/>
              <a:t>sub-problems</a:t>
            </a:r>
            <a:r>
              <a:rPr lang="en-US" sz="1500"/>
              <a:t> that are the </a:t>
            </a:r>
            <a:r>
              <a:rPr lang="en-US" sz="1500" b="1"/>
              <a:t>result of a choice</a:t>
            </a:r>
            <a:r>
              <a:rPr lang="en-US" sz="1500"/>
              <a:t> (characterize the space of sub-problems)</a:t>
            </a:r>
            <a:endParaRPr/>
          </a:p>
          <a:p>
            <a:pPr marL="914400" lvl="1" indent="-457200" algn="l" rtl="0">
              <a:lnSpc>
                <a:spcPct val="150000"/>
              </a:lnSpc>
              <a:spcBef>
                <a:spcPts val="600"/>
              </a:spcBef>
              <a:spcAft>
                <a:spcPts val="0"/>
              </a:spcAft>
              <a:buSzPts val="1620"/>
              <a:buChar char="🡽"/>
            </a:pPr>
            <a:r>
              <a:rPr lang="en-US" sz="1800"/>
              <a:t>Show that solutions to sub-problems must themselves be optimal for the whole solution to be optimal.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16"/>
          <p:cNvSpPr txBox="1">
            <a:spLocks noGrp="1"/>
          </p:cNvSpPr>
          <p:nvPr>
            <p:ph type="title" idx="4294967295"/>
          </p:nvPr>
        </p:nvSpPr>
        <p:spPr>
          <a:xfrm>
            <a:off x="0" y="367507"/>
            <a:ext cx="9144000"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2. Recursive Solution</a:t>
            </a:r>
            <a:endParaRPr/>
          </a:p>
        </p:txBody>
      </p:sp>
      <p:sp>
        <p:nvSpPr>
          <p:cNvPr id="946" name="Google Shape;946;p16"/>
          <p:cNvSpPr txBox="1">
            <a:spLocks noGrp="1"/>
          </p:cNvSpPr>
          <p:nvPr>
            <p:ph type="body" idx="4294967295"/>
          </p:nvPr>
        </p:nvSpPr>
        <p:spPr>
          <a:xfrm>
            <a:off x="0" y="1866900"/>
            <a:ext cx="8804275" cy="379095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Write a recursive solution for the value of an optimal solution.</a:t>
            </a:r>
            <a:endParaRPr/>
          </a:p>
          <a:p>
            <a:pPr marL="454025" lvl="0" indent="-316865" algn="l" rtl="0">
              <a:spcBef>
                <a:spcPts val="1560"/>
              </a:spcBef>
              <a:spcAft>
                <a:spcPts val="0"/>
              </a:spcAft>
              <a:buSzPts val="2160"/>
              <a:buNone/>
            </a:pPr>
            <a:endParaRPr/>
          </a:p>
          <a:p>
            <a:pPr marL="454025" lvl="0" indent="-316865" algn="l" rtl="0">
              <a:spcBef>
                <a:spcPts val="1560"/>
              </a:spcBef>
              <a:spcAft>
                <a:spcPts val="0"/>
              </a:spcAft>
              <a:buSzPts val="2160"/>
              <a:buNone/>
            </a:pPr>
            <a:endParaRPr/>
          </a:p>
          <a:p>
            <a:pPr marL="454025" lvl="0" indent="-454025" algn="l" rtl="0">
              <a:spcBef>
                <a:spcPts val="1560"/>
              </a:spcBef>
              <a:spcAft>
                <a:spcPts val="0"/>
              </a:spcAft>
              <a:buSzPts val="2160"/>
              <a:buChar char="🡽"/>
            </a:pPr>
            <a:r>
              <a:rPr lang="en-US"/>
              <a:t>Show that the number of different instances of sub-problems is bounded by a polynomial.</a:t>
            </a:r>
            <a:endParaRPr/>
          </a:p>
        </p:txBody>
      </p:sp>
      <p:pic>
        <p:nvPicPr>
          <p:cNvPr id="947" name="Google Shape;947;p16"/>
          <p:cNvPicPr preferRelativeResize="0"/>
          <p:nvPr/>
        </p:nvPicPr>
        <p:blipFill rotWithShape="1">
          <a:blip r:embed="rId3">
            <a:alphaModFix/>
          </a:blip>
          <a:srcRect/>
          <a:stretch/>
        </p:blipFill>
        <p:spPr>
          <a:xfrm>
            <a:off x="1450560" y="2806141"/>
            <a:ext cx="6242882" cy="5716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7"/>
          <p:cNvSpPr txBox="1">
            <a:spLocks noGrp="1"/>
          </p:cNvSpPr>
          <p:nvPr>
            <p:ph type="title" idx="4294967295"/>
          </p:nvPr>
        </p:nvSpPr>
        <p:spPr>
          <a:xfrm>
            <a:off x="69111" y="369957"/>
            <a:ext cx="9005777"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3. Bottom Up</a:t>
            </a:r>
            <a:endParaRPr/>
          </a:p>
        </p:txBody>
      </p:sp>
      <p:sp>
        <p:nvSpPr>
          <p:cNvPr id="954" name="Google Shape;954;p17"/>
          <p:cNvSpPr txBox="1">
            <a:spLocks noGrp="1"/>
          </p:cNvSpPr>
          <p:nvPr>
            <p:ph type="body" idx="4294967295"/>
          </p:nvPr>
        </p:nvSpPr>
        <p:spPr>
          <a:xfrm>
            <a:off x="0" y="1530350"/>
            <a:ext cx="8918575" cy="4002088"/>
          </a:xfrm>
          <a:prstGeom prst="rect">
            <a:avLst/>
          </a:prstGeom>
          <a:noFill/>
          <a:ln>
            <a:noFill/>
          </a:ln>
        </p:spPr>
        <p:txBody>
          <a:bodyPr spcFirstLastPara="1" wrap="square" lIns="91425" tIns="45700" rIns="91425" bIns="45700" anchor="t" anchorCtr="0">
            <a:normAutofit/>
          </a:bodyPr>
          <a:lstStyle/>
          <a:p>
            <a:pPr marL="454025" lvl="0" indent="-454025" algn="just" rtl="0">
              <a:lnSpc>
                <a:spcPct val="140000"/>
              </a:lnSpc>
              <a:spcBef>
                <a:spcPts val="0"/>
              </a:spcBef>
              <a:spcAft>
                <a:spcPts val="0"/>
              </a:spcAft>
              <a:buSzPts val="2160"/>
              <a:buChar char="🡽"/>
            </a:pPr>
            <a:r>
              <a:rPr lang="en-US" b="1"/>
              <a:t>Compute</a:t>
            </a:r>
            <a:r>
              <a:rPr lang="en-US"/>
              <a:t> the value of an optimal solution in a bottom-up fashion, so that you always have the necessary </a:t>
            </a:r>
            <a:r>
              <a:rPr lang="en-US" b="1"/>
              <a:t>sub-results pre-computed</a:t>
            </a:r>
            <a:r>
              <a:rPr lang="en-US"/>
              <a:t> (or use memoization) </a:t>
            </a:r>
            <a:endParaRPr/>
          </a:p>
          <a:p>
            <a:pPr marL="454025" lvl="0" indent="-454025" algn="just" rtl="0">
              <a:lnSpc>
                <a:spcPct val="140000"/>
              </a:lnSpc>
              <a:spcBef>
                <a:spcPts val="1200"/>
              </a:spcBef>
              <a:spcAft>
                <a:spcPts val="0"/>
              </a:spcAft>
              <a:buSzPts val="2160"/>
              <a:buChar char="🡽"/>
            </a:pPr>
            <a:r>
              <a:rPr lang="en-US"/>
              <a:t>Check if it is possible to </a:t>
            </a:r>
            <a:r>
              <a:rPr lang="en-US" b="1"/>
              <a:t>reduce</a:t>
            </a:r>
            <a:r>
              <a:rPr lang="en-US"/>
              <a:t> the </a:t>
            </a:r>
            <a:r>
              <a:rPr lang="en-US" b="1"/>
              <a:t>space</a:t>
            </a:r>
            <a:r>
              <a:rPr lang="en-US"/>
              <a:t> requirements, by “</a:t>
            </a:r>
            <a:r>
              <a:rPr lang="en-US" b="1"/>
              <a:t>forgetting</a:t>
            </a:r>
            <a:r>
              <a:rPr lang="en-US"/>
              <a:t>” solutions to sub-problems that will not be used any more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18"/>
          <p:cNvSpPr txBox="1">
            <a:spLocks noGrp="1"/>
          </p:cNvSpPr>
          <p:nvPr>
            <p:ph type="title" idx="4294967295"/>
          </p:nvPr>
        </p:nvSpPr>
        <p:spPr>
          <a:xfrm>
            <a:off x="0" y="404952"/>
            <a:ext cx="9083675"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4. Construct Optimal Solution</a:t>
            </a:r>
            <a:endParaRPr/>
          </a:p>
        </p:txBody>
      </p:sp>
      <p:sp>
        <p:nvSpPr>
          <p:cNvPr id="961" name="Google Shape;961;p18"/>
          <p:cNvSpPr txBox="1">
            <a:spLocks noGrp="1"/>
          </p:cNvSpPr>
          <p:nvPr>
            <p:ph type="body" idx="4294967295"/>
          </p:nvPr>
        </p:nvSpPr>
        <p:spPr>
          <a:xfrm>
            <a:off x="0" y="2420938"/>
            <a:ext cx="9083675" cy="1865312"/>
          </a:xfrm>
          <a:prstGeom prst="rect">
            <a:avLst/>
          </a:prstGeom>
          <a:noFill/>
          <a:ln>
            <a:noFill/>
          </a:ln>
        </p:spPr>
        <p:txBody>
          <a:bodyPr spcFirstLastPara="1" wrap="square" lIns="91425" tIns="45700" rIns="91425" bIns="45700" anchor="t" anchorCtr="0">
            <a:normAutofit/>
          </a:bodyPr>
          <a:lstStyle/>
          <a:p>
            <a:pPr marL="454025" lvl="0" indent="-454025" algn="just" rtl="0">
              <a:spcBef>
                <a:spcPts val="0"/>
              </a:spcBef>
              <a:spcAft>
                <a:spcPts val="0"/>
              </a:spcAft>
              <a:buSzPts val="2701"/>
              <a:buChar char="🡽"/>
            </a:pPr>
            <a:r>
              <a:rPr lang="en-US" sz="3001"/>
              <a:t>Construct an optimal solution from </a:t>
            </a:r>
            <a:r>
              <a:rPr lang="en-US" sz="3001" b="1"/>
              <a:t>computed information</a:t>
            </a:r>
            <a:r>
              <a:rPr lang="en-US" sz="3001"/>
              <a:t> (which records a sequence of choices made that lead to an optimal solution)</a:t>
            </a:r>
            <a:r>
              <a:rPr lang="en-US"/>
              <a:t> </a:t>
            </a:r>
            <a:endParaRPr/>
          </a:p>
          <a:p>
            <a:pPr marL="454025" lvl="0" indent="-454025" algn="l" rtl="0">
              <a:spcBef>
                <a:spcPts val="2000"/>
              </a:spcBef>
              <a:spcAft>
                <a:spcPts val="0"/>
              </a:spcAft>
              <a:buSzPts val="2160"/>
              <a:buFont typeface="Calibri"/>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pic>
        <p:nvPicPr>
          <p:cNvPr id="967" name="Google Shape;967;g2f8122dc4e2_0_0"/>
          <p:cNvPicPr preferRelativeResize="0"/>
          <p:nvPr/>
        </p:nvPicPr>
        <p:blipFill>
          <a:blip r:embed="rId3">
            <a:alphaModFix/>
          </a:blip>
          <a:stretch>
            <a:fillRect/>
          </a:stretch>
        </p:blipFill>
        <p:spPr>
          <a:xfrm>
            <a:off x="556251" y="728325"/>
            <a:ext cx="7359325" cy="59772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972"/>
        <p:cNvGrpSpPr/>
        <p:nvPr/>
      </p:nvGrpSpPr>
      <p:grpSpPr>
        <a:xfrm>
          <a:off x="0" y="0"/>
          <a:ext cx="0" cy="0"/>
          <a:chOff x="0" y="0"/>
          <a:chExt cx="0" cy="0"/>
        </a:xfrm>
      </p:grpSpPr>
      <p:sp>
        <p:nvSpPr>
          <p:cNvPr id="973" name="Google Shape;973;g2f8122dc4e2_0_5"/>
          <p:cNvSpPr txBox="1"/>
          <p:nvPr/>
        </p:nvSpPr>
        <p:spPr>
          <a:xfrm>
            <a:off x="356100" y="2604825"/>
            <a:ext cx="843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https://testbook.com/key-differences/difference-between-divide-and-conquer-and-dynamic-programming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9"/>
          <p:cNvSpPr txBox="1">
            <a:spLocks noGrp="1"/>
          </p:cNvSpPr>
          <p:nvPr>
            <p:ph type="ctrTitle" idx="4294967295"/>
          </p:nvPr>
        </p:nvSpPr>
        <p:spPr>
          <a:xfrm>
            <a:off x="667543" y="2980428"/>
            <a:ext cx="7808913" cy="1087437"/>
          </a:xfrm>
          <a:prstGeom prst="rect">
            <a:avLst/>
          </a:prstGeom>
          <a:solidFill>
            <a:srgbClr val="262626">
              <a:alpha val="69803"/>
            </a:srgbClr>
          </a:solidFill>
          <a:ln>
            <a:noFill/>
          </a:ln>
        </p:spPr>
        <p:txBody>
          <a:bodyPr spcFirstLastPara="1" wrap="square" lIns="91425" tIns="45700" rIns="91425" bIns="45700" anchor="ctr" anchorCtr="0">
            <a:normAutofit/>
          </a:bodyPr>
          <a:lstStyle/>
          <a:p>
            <a:pPr marL="0" marR="0" lvl="0" indent="0" algn="ctr" rtl="0">
              <a:spcBef>
                <a:spcPts val="0"/>
              </a:spcBef>
              <a:spcAft>
                <a:spcPts val="0"/>
              </a:spcAft>
              <a:buClr>
                <a:schemeClr val="lt1"/>
              </a:buClr>
              <a:buSzPts val="4200"/>
              <a:buFont typeface="Corbel"/>
              <a:buNone/>
            </a:pPr>
            <a:r>
              <a:rPr lang="en-US" sz="4200" b="0" i="0" u="none" strike="noStrike" cap="none">
                <a:solidFill>
                  <a:schemeClr val="lt1"/>
                </a:solidFill>
                <a:latin typeface="Corbel"/>
                <a:ea typeface="Corbel"/>
                <a:cs typeface="Corbel"/>
                <a:sym typeface="Corbel"/>
              </a:rPr>
              <a:t>Knapsack Problem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20"/>
          <p:cNvSpPr txBox="1">
            <a:spLocks noGrp="1"/>
          </p:cNvSpPr>
          <p:nvPr>
            <p:ph type="title" idx="4294967295"/>
          </p:nvPr>
        </p:nvSpPr>
        <p:spPr>
          <a:xfrm>
            <a:off x="132521" y="113403"/>
            <a:ext cx="8878957" cy="968375"/>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orbel"/>
              <a:buNone/>
            </a:pPr>
            <a:r>
              <a:rPr lang="en-US" sz="3200" b="1">
                <a:solidFill>
                  <a:schemeClr val="dk1"/>
                </a:solidFill>
              </a:rPr>
              <a:t> </a:t>
            </a:r>
            <a:br>
              <a:rPr lang="en-US" sz="3200" b="1">
                <a:solidFill>
                  <a:schemeClr val="dk1"/>
                </a:solidFill>
              </a:rPr>
            </a:br>
            <a:r>
              <a:rPr lang="en-US" sz="3200" b="1">
                <a:solidFill>
                  <a:schemeClr val="dk1"/>
                </a:solidFill>
              </a:rPr>
              <a:t>The Knapsack Problem</a:t>
            </a:r>
            <a:endParaRPr/>
          </a:p>
        </p:txBody>
      </p:sp>
      <p:sp>
        <p:nvSpPr>
          <p:cNvPr id="984" name="Google Shape;984;p20"/>
          <p:cNvSpPr txBox="1">
            <a:spLocks noGrp="1"/>
          </p:cNvSpPr>
          <p:nvPr>
            <p:ph type="body" idx="4294967295"/>
          </p:nvPr>
        </p:nvSpPr>
        <p:spPr>
          <a:xfrm>
            <a:off x="238539" y="1752600"/>
            <a:ext cx="8458200" cy="51054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The famous </a:t>
            </a:r>
            <a:r>
              <a:rPr lang="en-US" i="1">
                <a:solidFill>
                  <a:schemeClr val="dk2"/>
                </a:solidFill>
              </a:rPr>
              <a:t>knapsack problem</a:t>
            </a:r>
            <a:r>
              <a:rPr lang="en-US"/>
              <a:t>:</a:t>
            </a:r>
            <a:endParaRPr/>
          </a:p>
          <a:p>
            <a:pPr marL="914400" lvl="1" indent="-457200" algn="l" rtl="0">
              <a:spcBef>
                <a:spcPts val="600"/>
              </a:spcBef>
              <a:spcAft>
                <a:spcPts val="0"/>
              </a:spcAft>
              <a:buSzPts val="1980"/>
              <a:buChar char="🡽"/>
            </a:pPr>
            <a:r>
              <a:rPr lang="en-US"/>
              <a:t>A thief breaks into a museum.  Fabulous paintings, sculptures, and jewels are everywhere.  The thief has a good eye for the value of these objects, and knows that each will fetch hundreds or thousands of dollars on the clandestine art collector’s market.  But, the thief has only brought a single knapsack to the scene of the robbery, and can take away only what he can carry.  What items should the thief take to maximize the haul?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p21"/>
          <p:cNvSpPr txBox="1">
            <a:spLocks noGrp="1"/>
          </p:cNvSpPr>
          <p:nvPr>
            <p:ph type="title" idx="4294967295"/>
          </p:nvPr>
        </p:nvSpPr>
        <p:spPr>
          <a:xfrm>
            <a:off x="0" y="308112"/>
            <a:ext cx="91440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0-1 Knapsack problem</a:t>
            </a:r>
            <a:endParaRPr/>
          </a:p>
        </p:txBody>
      </p:sp>
      <p:sp>
        <p:nvSpPr>
          <p:cNvPr id="990" name="Google Shape;990;p21"/>
          <p:cNvSpPr txBox="1">
            <a:spLocks noGrp="1"/>
          </p:cNvSpPr>
          <p:nvPr>
            <p:ph type="body" idx="4294967295"/>
          </p:nvPr>
        </p:nvSpPr>
        <p:spPr>
          <a:xfrm>
            <a:off x="291548" y="2133600"/>
            <a:ext cx="8282540" cy="3992563"/>
          </a:xfrm>
          <a:prstGeom prst="rect">
            <a:avLst/>
          </a:prstGeom>
          <a:noFill/>
          <a:ln>
            <a:noFill/>
          </a:ln>
        </p:spPr>
        <p:txBody>
          <a:bodyPr spcFirstLastPara="1" wrap="square" lIns="91425" tIns="45700" rIns="91425" bIns="45700" anchor="t" anchorCtr="0">
            <a:normAutofit/>
          </a:bodyPr>
          <a:lstStyle/>
          <a:p>
            <a:pPr marL="454025" lvl="0" indent="-454025" algn="l" rtl="0">
              <a:lnSpc>
                <a:spcPct val="110000"/>
              </a:lnSpc>
              <a:spcBef>
                <a:spcPts val="0"/>
              </a:spcBef>
              <a:spcAft>
                <a:spcPts val="0"/>
              </a:spcAft>
              <a:buSzPts val="2160"/>
              <a:buChar char="🡽"/>
            </a:pPr>
            <a:r>
              <a:rPr lang="en-US"/>
              <a:t>Given a knapsack with maximum capacity </a:t>
            </a:r>
            <a:r>
              <a:rPr lang="en-US" i="1"/>
              <a:t>W</a:t>
            </a:r>
            <a:r>
              <a:rPr lang="en-US"/>
              <a:t>, and a set </a:t>
            </a:r>
            <a:r>
              <a:rPr lang="en-US" i="1"/>
              <a:t>S</a:t>
            </a:r>
            <a:r>
              <a:rPr lang="en-US"/>
              <a:t> consisting of </a:t>
            </a:r>
            <a:r>
              <a:rPr lang="en-US" i="1"/>
              <a:t>n</a:t>
            </a:r>
            <a:r>
              <a:rPr lang="en-US"/>
              <a:t> items</a:t>
            </a:r>
            <a:endParaRPr/>
          </a:p>
          <a:p>
            <a:pPr marL="454025" lvl="0" indent="-454025" algn="l" rtl="0">
              <a:lnSpc>
                <a:spcPct val="110000"/>
              </a:lnSpc>
              <a:spcBef>
                <a:spcPts val="2000"/>
              </a:spcBef>
              <a:spcAft>
                <a:spcPts val="0"/>
              </a:spcAft>
              <a:buSzPts val="2160"/>
              <a:buChar char="🡽"/>
            </a:pPr>
            <a:r>
              <a:rPr lang="en-US"/>
              <a:t>Each item </a:t>
            </a:r>
            <a:r>
              <a:rPr lang="en-US" i="1"/>
              <a:t>i</a:t>
            </a:r>
            <a:r>
              <a:rPr lang="en-US"/>
              <a:t> has some weight </a:t>
            </a:r>
            <a:r>
              <a:rPr lang="en-US" i="1"/>
              <a:t>w</a:t>
            </a:r>
            <a:r>
              <a:rPr lang="en-US" i="1" baseline="-25000"/>
              <a:t>i</a:t>
            </a:r>
            <a:r>
              <a:rPr lang="en-US"/>
              <a:t> and benefit value </a:t>
            </a:r>
            <a:r>
              <a:rPr lang="en-US" i="1"/>
              <a:t>b</a:t>
            </a:r>
            <a:r>
              <a:rPr lang="en-US" i="1" baseline="-25000"/>
              <a:t>i</a:t>
            </a:r>
            <a:r>
              <a:rPr lang="en-US" baseline="-25000"/>
              <a:t>  </a:t>
            </a:r>
            <a:r>
              <a:rPr lang="en-US"/>
              <a:t>(all </a:t>
            </a:r>
            <a:r>
              <a:rPr lang="en-US" i="1"/>
              <a:t>w</a:t>
            </a:r>
            <a:r>
              <a:rPr lang="en-US" i="1" baseline="-25000"/>
              <a:t>i</a:t>
            </a:r>
            <a:r>
              <a:rPr lang="en-US" i="1"/>
              <a:t> , b</a:t>
            </a:r>
            <a:r>
              <a:rPr lang="en-US" i="1" baseline="-25000"/>
              <a:t>i</a:t>
            </a:r>
            <a:r>
              <a:rPr lang="en-US" baseline="-25000"/>
              <a:t> </a:t>
            </a:r>
            <a:r>
              <a:rPr lang="en-US"/>
              <a:t>and </a:t>
            </a:r>
            <a:r>
              <a:rPr lang="en-US" i="1"/>
              <a:t>W</a:t>
            </a:r>
            <a:r>
              <a:rPr lang="en-US"/>
              <a:t> are integer values)</a:t>
            </a:r>
            <a:endParaRPr/>
          </a:p>
          <a:p>
            <a:pPr marL="454025" lvl="0" indent="-454025" algn="l" rtl="0">
              <a:lnSpc>
                <a:spcPct val="110000"/>
              </a:lnSpc>
              <a:spcBef>
                <a:spcPts val="2000"/>
              </a:spcBef>
              <a:spcAft>
                <a:spcPts val="0"/>
              </a:spcAft>
              <a:buSzPts val="2160"/>
              <a:buChar char="🡽"/>
            </a:pPr>
            <a:r>
              <a:rPr lang="en-US" u="sng"/>
              <a:t>Problem</a:t>
            </a:r>
            <a:r>
              <a:rPr lang="en-US"/>
              <a:t>: How to pack the knapsack to achieve maximum total value of packed items?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pic>
        <p:nvPicPr>
          <p:cNvPr id="995" name="Google Shape;995;p22"/>
          <p:cNvPicPr preferRelativeResize="0">
            <a:picLocks noGrp="1"/>
          </p:cNvPicPr>
          <p:nvPr>
            <p:ph type="body" idx="4294967295"/>
          </p:nvPr>
        </p:nvPicPr>
        <p:blipFill rotWithShape="1">
          <a:blip r:embed="rId3">
            <a:alphaModFix/>
          </a:blip>
          <a:srcRect/>
          <a:stretch/>
        </p:blipFill>
        <p:spPr>
          <a:xfrm>
            <a:off x="397605" y="1663282"/>
            <a:ext cx="8539163" cy="1600200"/>
          </a:xfrm>
          <a:prstGeom prst="rect">
            <a:avLst/>
          </a:prstGeom>
          <a:noFill/>
          <a:ln>
            <a:noFill/>
          </a:ln>
        </p:spPr>
      </p:pic>
      <p:sp>
        <p:nvSpPr>
          <p:cNvPr id="996" name="Google Shape;996;p22"/>
          <p:cNvSpPr txBox="1"/>
          <p:nvPr/>
        </p:nvSpPr>
        <p:spPr>
          <a:xfrm>
            <a:off x="2372139" y="3332627"/>
            <a:ext cx="41148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none">
                <a:solidFill>
                  <a:schemeClr val="dk1"/>
                </a:solidFill>
                <a:latin typeface="Calibri"/>
                <a:ea typeface="Calibri"/>
                <a:cs typeface="Calibri"/>
                <a:sym typeface="Calibri"/>
              </a:rPr>
              <a:t>Knapsack Size = 25</a:t>
            </a:r>
            <a:endParaRPr/>
          </a:p>
        </p:txBody>
      </p:sp>
      <p:pic>
        <p:nvPicPr>
          <p:cNvPr id="997" name="Google Shape;997;p22"/>
          <p:cNvPicPr preferRelativeResize="0"/>
          <p:nvPr/>
        </p:nvPicPr>
        <p:blipFill rotWithShape="1">
          <a:blip r:embed="rId4">
            <a:alphaModFix/>
          </a:blip>
          <a:srcRect/>
          <a:stretch/>
        </p:blipFill>
        <p:spPr>
          <a:xfrm>
            <a:off x="397605" y="3962324"/>
            <a:ext cx="8539123" cy="2259102"/>
          </a:xfrm>
          <a:prstGeom prst="rect">
            <a:avLst/>
          </a:prstGeom>
          <a:noFill/>
          <a:ln>
            <a:noFill/>
          </a:ln>
        </p:spPr>
      </p:pic>
      <p:sp>
        <p:nvSpPr>
          <p:cNvPr id="998" name="Google Shape;998;p22"/>
          <p:cNvSpPr txBox="1"/>
          <p:nvPr/>
        </p:nvSpPr>
        <p:spPr>
          <a:xfrm>
            <a:off x="2372139" y="6221426"/>
            <a:ext cx="5334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u="none">
                <a:solidFill>
                  <a:schemeClr val="dk1"/>
                </a:solidFill>
                <a:latin typeface="Calibri"/>
                <a:ea typeface="Calibri"/>
                <a:cs typeface="Calibri"/>
                <a:sym typeface="Calibri"/>
              </a:rPr>
              <a:t>Knapsack size = 60</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23"/>
          <p:cNvSpPr txBox="1">
            <a:spLocks noGrp="1"/>
          </p:cNvSpPr>
          <p:nvPr>
            <p:ph type="title" idx="4294967295"/>
          </p:nvPr>
        </p:nvSpPr>
        <p:spPr>
          <a:xfrm>
            <a:off x="123825" y="341106"/>
            <a:ext cx="9020175"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0-1 Knapsack problem: a picture</a:t>
            </a:r>
            <a:endParaRPr/>
          </a:p>
        </p:txBody>
      </p:sp>
      <p:grpSp>
        <p:nvGrpSpPr>
          <p:cNvPr id="1004" name="Google Shape;1004;p23"/>
          <p:cNvGrpSpPr/>
          <p:nvPr/>
        </p:nvGrpSpPr>
        <p:grpSpPr>
          <a:xfrm>
            <a:off x="1676400" y="4114800"/>
            <a:ext cx="1371600" cy="2133600"/>
            <a:chOff x="1008" y="1824"/>
            <a:chExt cx="864" cy="1344"/>
          </a:xfrm>
        </p:grpSpPr>
        <p:cxnSp>
          <p:nvCxnSpPr>
            <p:cNvPr id="1005" name="Google Shape;1005;p23"/>
            <p:cNvCxnSpPr/>
            <p:nvPr/>
          </p:nvCxnSpPr>
          <p:spPr>
            <a:xfrm>
              <a:off x="1008" y="1824"/>
              <a:ext cx="0" cy="1344"/>
            </a:xfrm>
            <a:prstGeom prst="straightConnector1">
              <a:avLst/>
            </a:prstGeom>
            <a:noFill/>
            <a:ln w="9525" cap="flat" cmpd="sng">
              <a:solidFill>
                <a:schemeClr val="dk1"/>
              </a:solidFill>
              <a:prstDash val="solid"/>
              <a:round/>
              <a:headEnd type="none" w="med" len="med"/>
              <a:tailEnd type="none" w="med" len="med"/>
            </a:ln>
          </p:spPr>
        </p:cxnSp>
        <p:cxnSp>
          <p:nvCxnSpPr>
            <p:cNvPr id="1006" name="Google Shape;1006;p23"/>
            <p:cNvCxnSpPr/>
            <p:nvPr/>
          </p:nvCxnSpPr>
          <p:spPr>
            <a:xfrm>
              <a:off x="1008" y="3168"/>
              <a:ext cx="864" cy="0"/>
            </a:xfrm>
            <a:prstGeom prst="straightConnector1">
              <a:avLst/>
            </a:prstGeom>
            <a:noFill/>
            <a:ln w="9525" cap="flat" cmpd="sng">
              <a:solidFill>
                <a:schemeClr val="dk1"/>
              </a:solidFill>
              <a:prstDash val="solid"/>
              <a:round/>
              <a:headEnd type="none" w="med" len="med"/>
              <a:tailEnd type="none" w="med" len="med"/>
            </a:ln>
          </p:spPr>
        </p:cxnSp>
        <p:cxnSp>
          <p:nvCxnSpPr>
            <p:cNvPr id="1007" name="Google Shape;1007;p23"/>
            <p:cNvCxnSpPr/>
            <p:nvPr/>
          </p:nvCxnSpPr>
          <p:spPr>
            <a:xfrm rot="10800000">
              <a:off x="1872" y="1824"/>
              <a:ext cx="0" cy="1344"/>
            </a:xfrm>
            <a:prstGeom prst="straightConnector1">
              <a:avLst/>
            </a:prstGeom>
            <a:noFill/>
            <a:ln w="9525" cap="flat" cmpd="sng">
              <a:solidFill>
                <a:schemeClr val="dk1"/>
              </a:solidFill>
              <a:prstDash val="solid"/>
              <a:round/>
              <a:headEnd type="none" w="med" len="med"/>
              <a:tailEnd type="none" w="med" len="med"/>
            </a:ln>
          </p:spPr>
        </p:cxnSp>
        <p:sp>
          <p:nvSpPr>
            <p:cNvPr id="1008" name="Google Shape;1008;p23"/>
            <p:cNvSpPr txBox="1"/>
            <p:nvPr/>
          </p:nvSpPr>
          <p:spPr>
            <a:xfrm>
              <a:off x="1046" y="2106"/>
              <a:ext cx="789" cy="3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W = 20</a:t>
              </a:r>
              <a:endParaRPr sz="1800">
                <a:solidFill>
                  <a:schemeClr val="dk1"/>
                </a:solidFill>
                <a:latin typeface="Calibri"/>
                <a:ea typeface="Calibri"/>
                <a:cs typeface="Calibri"/>
                <a:sym typeface="Calibri"/>
              </a:endParaRPr>
            </a:p>
          </p:txBody>
        </p:sp>
      </p:grpSp>
      <p:sp>
        <p:nvSpPr>
          <p:cNvPr id="1009" name="Google Shape;1009;p23"/>
          <p:cNvSpPr/>
          <p:nvPr/>
        </p:nvSpPr>
        <p:spPr>
          <a:xfrm>
            <a:off x="4267200" y="5029200"/>
            <a:ext cx="838200" cy="12192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0" name="Google Shape;1010;p23"/>
          <p:cNvSpPr/>
          <p:nvPr/>
        </p:nvSpPr>
        <p:spPr>
          <a:xfrm>
            <a:off x="4267200" y="4191000"/>
            <a:ext cx="838200" cy="6858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1" name="Google Shape;1011;p23"/>
          <p:cNvSpPr/>
          <p:nvPr/>
        </p:nvSpPr>
        <p:spPr>
          <a:xfrm>
            <a:off x="4267200" y="3657600"/>
            <a:ext cx="838200" cy="3810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2" name="Google Shape;1012;p23"/>
          <p:cNvSpPr/>
          <p:nvPr/>
        </p:nvSpPr>
        <p:spPr>
          <a:xfrm>
            <a:off x="4267200" y="2743200"/>
            <a:ext cx="838200" cy="228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3" name="Google Shape;1013;p23"/>
          <p:cNvSpPr txBox="1"/>
          <p:nvPr/>
        </p:nvSpPr>
        <p:spPr>
          <a:xfrm>
            <a:off x="5715000" y="1752600"/>
            <a:ext cx="55245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w</a:t>
            </a:r>
            <a:r>
              <a:rPr lang="en-US" sz="3200" baseline="-250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14" name="Google Shape;1014;p23"/>
          <p:cNvSpPr txBox="1"/>
          <p:nvPr/>
        </p:nvSpPr>
        <p:spPr>
          <a:xfrm>
            <a:off x="7315200" y="1727200"/>
            <a:ext cx="55245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b</a:t>
            </a:r>
            <a:r>
              <a:rPr lang="en-US" sz="3200" baseline="-250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15" name="Google Shape;1015;p23"/>
          <p:cNvSpPr/>
          <p:nvPr/>
        </p:nvSpPr>
        <p:spPr>
          <a:xfrm>
            <a:off x="4267200" y="3124200"/>
            <a:ext cx="838200" cy="3810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6" name="Google Shape;1016;p23"/>
          <p:cNvSpPr txBox="1"/>
          <p:nvPr/>
        </p:nvSpPr>
        <p:spPr>
          <a:xfrm>
            <a:off x="7299325" y="5527675"/>
            <a:ext cx="4889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10</a:t>
            </a:r>
            <a:endParaRPr/>
          </a:p>
        </p:txBody>
      </p:sp>
      <p:sp>
        <p:nvSpPr>
          <p:cNvPr id="1017" name="Google Shape;1017;p23"/>
          <p:cNvSpPr txBox="1"/>
          <p:nvPr/>
        </p:nvSpPr>
        <p:spPr>
          <a:xfrm>
            <a:off x="5867400" y="55626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9</a:t>
            </a:r>
            <a:endParaRPr/>
          </a:p>
        </p:txBody>
      </p:sp>
      <p:sp>
        <p:nvSpPr>
          <p:cNvPr id="1018" name="Google Shape;1018;p23"/>
          <p:cNvSpPr txBox="1"/>
          <p:nvPr/>
        </p:nvSpPr>
        <p:spPr>
          <a:xfrm>
            <a:off x="7315200" y="42672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8</a:t>
            </a:r>
            <a:endParaRPr/>
          </a:p>
        </p:txBody>
      </p:sp>
      <p:sp>
        <p:nvSpPr>
          <p:cNvPr id="1019" name="Google Shape;1019;p23"/>
          <p:cNvSpPr txBox="1"/>
          <p:nvPr/>
        </p:nvSpPr>
        <p:spPr>
          <a:xfrm>
            <a:off x="5867400" y="43434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20" name="Google Shape;1020;p23"/>
          <p:cNvSpPr txBox="1"/>
          <p:nvPr/>
        </p:nvSpPr>
        <p:spPr>
          <a:xfrm>
            <a:off x="7315200" y="35814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21" name="Google Shape;1021;p23"/>
          <p:cNvSpPr txBox="1"/>
          <p:nvPr/>
        </p:nvSpPr>
        <p:spPr>
          <a:xfrm>
            <a:off x="5867400" y="36576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22" name="Google Shape;1022;p23"/>
          <p:cNvSpPr txBox="1"/>
          <p:nvPr/>
        </p:nvSpPr>
        <p:spPr>
          <a:xfrm>
            <a:off x="7315200" y="30480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23" name="Google Shape;1023;p23"/>
          <p:cNvSpPr txBox="1"/>
          <p:nvPr/>
        </p:nvSpPr>
        <p:spPr>
          <a:xfrm>
            <a:off x="5867400" y="31242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24" name="Google Shape;1024;p23"/>
          <p:cNvSpPr txBox="1"/>
          <p:nvPr/>
        </p:nvSpPr>
        <p:spPr>
          <a:xfrm>
            <a:off x="7315200" y="25146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25" name="Google Shape;1025;p23"/>
          <p:cNvSpPr txBox="1"/>
          <p:nvPr/>
        </p:nvSpPr>
        <p:spPr>
          <a:xfrm>
            <a:off x="5867400" y="26670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1026" name="Google Shape;1026;p23"/>
          <p:cNvSpPr txBox="1"/>
          <p:nvPr/>
        </p:nvSpPr>
        <p:spPr>
          <a:xfrm>
            <a:off x="5257800" y="1295400"/>
            <a:ext cx="1228725"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Weight</a:t>
            </a:r>
            <a:endParaRPr sz="1800">
              <a:solidFill>
                <a:schemeClr val="dk1"/>
              </a:solidFill>
              <a:latin typeface="Calibri"/>
              <a:ea typeface="Calibri"/>
              <a:cs typeface="Calibri"/>
              <a:sym typeface="Calibri"/>
            </a:endParaRPr>
          </a:p>
        </p:txBody>
      </p:sp>
      <p:sp>
        <p:nvSpPr>
          <p:cNvPr id="1027" name="Google Shape;1027;p23"/>
          <p:cNvSpPr txBox="1"/>
          <p:nvPr/>
        </p:nvSpPr>
        <p:spPr>
          <a:xfrm>
            <a:off x="6934200" y="1295400"/>
            <a:ext cx="2085975"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Benefit value</a:t>
            </a:r>
            <a:endParaRPr sz="1800">
              <a:solidFill>
                <a:schemeClr val="dk1"/>
              </a:solidFill>
              <a:latin typeface="Calibri"/>
              <a:ea typeface="Calibri"/>
              <a:cs typeface="Calibri"/>
              <a:sym typeface="Calibri"/>
            </a:endParaRPr>
          </a:p>
        </p:txBody>
      </p:sp>
      <p:sp>
        <p:nvSpPr>
          <p:cNvPr id="1028" name="Google Shape;1028;p23"/>
          <p:cNvSpPr txBox="1"/>
          <p:nvPr/>
        </p:nvSpPr>
        <p:spPr>
          <a:xfrm>
            <a:off x="914400" y="3048000"/>
            <a:ext cx="3146425" cy="9461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This is a knapsack</a:t>
            </a:r>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Max weight: W = 20</a:t>
            </a:r>
            <a:endParaRPr sz="1800">
              <a:solidFill>
                <a:schemeClr val="dk1"/>
              </a:solidFill>
              <a:latin typeface="Calibri"/>
              <a:ea typeface="Calibri"/>
              <a:cs typeface="Calibri"/>
              <a:sym typeface="Calibri"/>
            </a:endParaRPr>
          </a:p>
        </p:txBody>
      </p:sp>
      <p:sp>
        <p:nvSpPr>
          <p:cNvPr id="1029" name="Google Shape;1029;p23"/>
          <p:cNvSpPr txBox="1"/>
          <p:nvPr/>
        </p:nvSpPr>
        <p:spPr>
          <a:xfrm>
            <a:off x="4191000" y="1981200"/>
            <a:ext cx="973138"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Items</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p24"/>
          <p:cNvSpPr txBox="1">
            <a:spLocks noGrp="1"/>
          </p:cNvSpPr>
          <p:nvPr>
            <p:ph type="title" idx="4294967295"/>
          </p:nvPr>
        </p:nvSpPr>
        <p:spPr>
          <a:xfrm>
            <a:off x="99391" y="365195"/>
            <a:ext cx="8945217"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The Knapsack Problem</a:t>
            </a:r>
            <a:endParaRPr/>
          </a:p>
        </p:txBody>
      </p:sp>
      <p:sp>
        <p:nvSpPr>
          <p:cNvPr id="1035" name="Google Shape;1035;p24"/>
          <p:cNvSpPr txBox="1">
            <a:spLocks noGrp="1"/>
          </p:cNvSpPr>
          <p:nvPr>
            <p:ph type="body" idx="4294967295"/>
          </p:nvPr>
        </p:nvSpPr>
        <p:spPr>
          <a:xfrm>
            <a:off x="0" y="2133600"/>
            <a:ext cx="8574088" cy="3992563"/>
          </a:xfrm>
          <a:prstGeom prst="rect">
            <a:avLst/>
          </a:prstGeom>
          <a:noFill/>
          <a:ln>
            <a:noFill/>
          </a:ln>
        </p:spPr>
        <p:txBody>
          <a:bodyPr spcFirstLastPara="1" wrap="square" lIns="91425" tIns="45700" rIns="91425" bIns="45700" anchor="t" anchorCtr="0">
            <a:normAutofit lnSpcReduction="10000"/>
          </a:bodyPr>
          <a:lstStyle/>
          <a:p>
            <a:pPr marL="454025" lvl="0" indent="-454025" algn="l" rtl="0">
              <a:spcBef>
                <a:spcPts val="0"/>
              </a:spcBef>
              <a:spcAft>
                <a:spcPts val="0"/>
              </a:spcAft>
              <a:buSzPts val="2160"/>
              <a:buChar char="🡽"/>
            </a:pPr>
            <a:r>
              <a:rPr lang="en-US"/>
              <a:t>More formally, the </a:t>
            </a:r>
            <a:r>
              <a:rPr lang="en-US" i="1">
                <a:solidFill>
                  <a:schemeClr val="dk2"/>
                </a:solidFill>
              </a:rPr>
              <a:t>0-1 knapsack problem</a:t>
            </a:r>
            <a:r>
              <a:rPr lang="en-US"/>
              <a:t>:</a:t>
            </a:r>
            <a:endParaRPr/>
          </a:p>
          <a:p>
            <a:pPr marL="914400" lvl="1" indent="-457200" algn="l" rtl="0">
              <a:spcBef>
                <a:spcPts val="600"/>
              </a:spcBef>
              <a:spcAft>
                <a:spcPts val="0"/>
              </a:spcAft>
              <a:buSzPts val="1980"/>
              <a:buChar char="🡽"/>
            </a:pPr>
            <a:r>
              <a:rPr lang="en-US"/>
              <a:t>The thief must choose among </a:t>
            </a:r>
            <a:r>
              <a:rPr lang="en-US" i="1"/>
              <a:t>n</a:t>
            </a:r>
            <a:r>
              <a:rPr lang="en-US"/>
              <a:t> items, where the </a:t>
            </a:r>
            <a:r>
              <a:rPr lang="en-US" i="1"/>
              <a:t>i</a:t>
            </a:r>
            <a:r>
              <a:rPr lang="en-US"/>
              <a:t>th item worth </a:t>
            </a:r>
            <a:r>
              <a:rPr lang="en-US" i="1"/>
              <a:t>v</a:t>
            </a:r>
            <a:r>
              <a:rPr lang="en-US" i="1" baseline="-25000"/>
              <a:t>i</a:t>
            </a:r>
            <a:r>
              <a:rPr lang="en-US" i="1"/>
              <a:t> </a:t>
            </a:r>
            <a:r>
              <a:rPr lang="en-US"/>
              <a:t>dollars and weighs </a:t>
            </a:r>
            <a:r>
              <a:rPr lang="en-US" i="1"/>
              <a:t>w</a:t>
            </a:r>
            <a:r>
              <a:rPr lang="en-US" i="1" baseline="-25000"/>
              <a:t>i</a:t>
            </a:r>
            <a:r>
              <a:rPr lang="en-US"/>
              <a:t> pounds</a:t>
            </a:r>
            <a:endParaRPr/>
          </a:p>
          <a:p>
            <a:pPr marL="914400" lvl="1" indent="-457200" algn="l" rtl="0">
              <a:spcBef>
                <a:spcPts val="600"/>
              </a:spcBef>
              <a:spcAft>
                <a:spcPts val="0"/>
              </a:spcAft>
              <a:buSzPts val="1980"/>
              <a:buChar char="🡽"/>
            </a:pPr>
            <a:r>
              <a:rPr lang="en-US"/>
              <a:t>Carrying at most </a:t>
            </a:r>
            <a:r>
              <a:rPr lang="en-US" i="1"/>
              <a:t>W</a:t>
            </a:r>
            <a:r>
              <a:rPr lang="en-US"/>
              <a:t> pounds, maximize value</a:t>
            </a:r>
            <a:endParaRPr/>
          </a:p>
          <a:p>
            <a:pPr marL="1260475" lvl="2" indent="-346075" algn="l" rtl="0">
              <a:spcBef>
                <a:spcPts val="600"/>
              </a:spcBef>
              <a:spcAft>
                <a:spcPts val="0"/>
              </a:spcAft>
              <a:buSzPts val="1800"/>
              <a:buChar char="🡽"/>
            </a:pPr>
            <a:r>
              <a:rPr lang="en-US"/>
              <a:t>Note: assume </a:t>
            </a:r>
            <a:r>
              <a:rPr lang="en-US" i="1"/>
              <a:t>v</a:t>
            </a:r>
            <a:r>
              <a:rPr lang="en-US" i="1" baseline="-25000"/>
              <a:t>i</a:t>
            </a:r>
            <a:r>
              <a:rPr lang="en-US" i="1"/>
              <a:t>, w</a:t>
            </a:r>
            <a:r>
              <a:rPr lang="en-US" i="1" baseline="-25000"/>
              <a:t>i</a:t>
            </a:r>
            <a:r>
              <a:rPr lang="en-US" i="1"/>
              <a:t>, </a:t>
            </a:r>
            <a:r>
              <a:rPr lang="en-US"/>
              <a:t>and </a:t>
            </a:r>
            <a:r>
              <a:rPr lang="en-US" i="1"/>
              <a:t>W </a:t>
            </a:r>
            <a:r>
              <a:rPr lang="en-US"/>
              <a:t>are all integers</a:t>
            </a:r>
            <a:endParaRPr/>
          </a:p>
          <a:p>
            <a:pPr marL="1260475" lvl="2" indent="-346075" algn="l" rtl="0">
              <a:spcBef>
                <a:spcPts val="600"/>
              </a:spcBef>
              <a:spcAft>
                <a:spcPts val="0"/>
              </a:spcAft>
              <a:buSzPts val="1800"/>
              <a:buChar char="🡽"/>
            </a:pPr>
            <a:r>
              <a:rPr lang="en-US"/>
              <a:t>“0-1” b/c each item must be taken or left in entirety</a:t>
            </a:r>
            <a:endParaRPr/>
          </a:p>
          <a:p>
            <a:pPr marL="454025" lvl="0" indent="-454025" algn="l" rtl="0">
              <a:spcBef>
                <a:spcPts val="2000"/>
              </a:spcBef>
              <a:spcAft>
                <a:spcPts val="0"/>
              </a:spcAft>
              <a:buSzPts val="2160"/>
              <a:buChar char="🡽"/>
            </a:pPr>
            <a:r>
              <a:rPr lang="en-US"/>
              <a:t>A variation, the </a:t>
            </a:r>
            <a:r>
              <a:rPr lang="en-US" i="1">
                <a:solidFill>
                  <a:schemeClr val="dk2"/>
                </a:solidFill>
              </a:rPr>
              <a:t>fractional knapsack problem</a:t>
            </a:r>
            <a:r>
              <a:rPr lang="en-US"/>
              <a:t>:</a:t>
            </a:r>
            <a:endParaRPr/>
          </a:p>
          <a:p>
            <a:pPr marL="914400" lvl="1" indent="-457200" algn="l" rtl="0">
              <a:spcBef>
                <a:spcPts val="600"/>
              </a:spcBef>
              <a:spcAft>
                <a:spcPts val="0"/>
              </a:spcAft>
              <a:buSzPts val="1980"/>
              <a:buChar char="🡽"/>
            </a:pPr>
            <a:r>
              <a:rPr lang="en-US"/>
              <a:t>Thief can take fractions of items</a:t>
            </a:r>
            <a:endParaRPr/>
          </a:p>
          <a:p>
            <a:pPr marL="914400" lvl="1" indent="-457200" algn="l" rtl="0">
              <a:spcBef>
                <a:spcPts val="600"/>
              </a:spcBef>
              <a:spcAft>
                <a:spcPts val="0"/>
              </a:spcAft>
              <a:buSzPts val="1980"/>
              <a:buChar char="🡽"/>
            </a:pPr>
            <a:r>
              <a:rPr lang="en-US"/>
              <a:t>Think of items in 0-1 problem as gold ingots, in fractional problem as buckets of gold dust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25"/>
          <p:cNvSpPr txBox="1">
            <a:spLocks noGrp="1"/>
          </p:cNvSpPr>
          <p:nvPr>
            <p:ph type="title" idx="4294967295"/>
          </p:nvPr>
        </p:nvSpPr>
        <p:spPr>
          <a:xfrm>
            <a:off x="198783" y="285957"/>
            <a:ext cx="8640417"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0-1 Knapsack problem</a:t>
            </a:r>
            <a:endParaRPr/>
          </a:p>
        </p:txBody>
      </p:sp>
      <p:sp>
        <p:nvSpPr>
          <p:cNvPr id="1041" name="Google Shape;1041;p25"/>
          <p:cNvSpPr txBox="1">
            <a:spLocks noGrp="1"/>
          </p:cNvSpPr>
          <p:nvPr>
            <p:ph type="body" idx="4294967295"/>
          </p:nvPr>
        </p:nvSpPr>
        <p:spPr>
          <a:xfrm>
            <a:off x="1477963" y="1371600"/>
            <a:ext cx="7666037" cy="6858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Problem, in other words, is to find</a:t>
            </a:r>
            <a:endParaRPr/>
          </a:p>
        </p:txBody>
      </p:sp>
      <p:pic>
        <p:nvPicPr>
          <p:cNvPr id="1042" name="Google Shape;1042;p25"/>
          <p:cNvPicPr preferRelativeResize="0"/>
          <p:nvPr/>
        </p:nvPicPr>
        <p:blipFill rotWithShape="1">
          <a:blip r:embed="rId3">
            <a:alphaModFix/>
          </a:blip>
          <a:srcRect/>
          <a:stretch/>
        </p:blipFill>
        <p:spPr>
          <a:xfrm>
            <a:off x="1268413" y="1981200"/>
            <a:ext cx="6226175" cy="1128713"/>
          </a:xfrm>
          <a:prstGeom prst="rect">
            <a:avLst/>
          </a:prstGeom>
          <a:noFill/>
          <a:ln>
            <a:noFill/>
          </a:ln>
        </p:spPr>
      </p:pic>
      <p:sp>
        <p:nvSpPr>
          <p:cNvPr id="1043" name="Google Shape;1043;p25"/>
          <p:cNvSpPr/>
          <p:nvPr/>
        </p:nvSpPr>
        <p:spPr>
          <a:xfrm>
            <a:off x="1173163" y="3200400"/>
            <a:ext cx="7666037" cy="29718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accent1"/>
              </a:buClr>
              <a:buSzPts val="2240"/>
              <a:buFont typeface="Arial"/>
              <a:buChar char="●"/>
            </a:pPr>
            <a:r>
              <a:rPr lang="en-US" sz="3200">
                <a:solidFill>
                  <a:schemeClr val="dk1"/>
                </a:solidFill>
                <a:latin typeface="Calibri"/>
                <a:ea typeface="Calibri"/>
                <a:cs typeface="Calibri"/>
                <a:sym typeface="Calibri"/>
              </a:rPr>
              <a:t>The problem is called a </a:t>
            </a:r>
            <a:r>
              <a:rPr lang="en-US" sz="3200" i="1">
                <a:solidFill>
                  <a:schemeClr val="dk1"/>
                </a:solidFill>
                <a:latin typeface="Calibri"/>
                <a:ea typeface="Calibri"/>
                <a:cs typeface="Calibri"/>
                <a:sym typeface="Calibri"/>
              </a:rPr>
              <a:t>“0-1”</a:t>
            </a:r>
            <a:r>
              <a:rPr lang="en-US" sz="3200">
                <a:solidFill>
                  <a:schemeClr val="dk1"/>
                </a:solidFill>
                <a:latin typeface="Calibri"/>
                <a:ea typeface="Calibri"/>
                <a:cs typeface="Calibri"/>
                <a:sym typeface="Calibri"/>
              </a:rPr>
              <a:t> problem, because each item must be entirely accepted or rejected.</a:t>
            </a:r>
            <a:endParaRPr/>
          </a:p>
          <a:p>
            <a:pPr marL="342900" marR="0" lvl="0" indent="-342900" algn="l" rtl="0">
              <a:spcBef>
                <a:spcPts val="640"/>
              </a:spcBef>
              <a:spcAft>
                <a:spcPts val="0"/>
              </a:spcAft>
              <a:buClr>
                <a:schemeClr val="accent1"/>
              </a:buClr>
              <a:buSzPts val="2240"/>
              <a:buFont typeface="Arial"/>
              <a:buChar char="●"/>
            </a:pPr>
            <a:r>
              <a:rPr lang="en-US" sz="3200">
                <a:solidFill>
                  <a:schemeClr val="dk1"/>
                </a:solidFill>
                <a:latin typeface="Calibri"/>
                <a:ea typeface="Calibri"/>
                <a:cs typeface="Calibri"/>
                <a:sym typeface="Calibri"/>
              </a:rPr>
              <a:t>Just another version of this problem is the “</a:t>
            </a:r>
            <a:r>
              <a:rPr lang="en-US" sz="3200" i="1">
                <a:solidFill>
                  <a:schemeClr val="dk1"/>
                </a:solidFill>
                <a:latin typeface="Calibri"/>
                <a:ea typeface="Calibri"/>
                <a:cs typeface="Calibri"/>
                <a:sym typeface="Calibri"/>
              </a:rPr>
              <a:t>Fractional Knapsack Problem</a:t>
            </a:r>
            <a:r>
              <a:rPr lang="en-US" sz="3200">
                <a:solidFill>
                  <a:schemeClr val="dk1"/>
                </a:solidFill>
                <a:latin typeface="Calibri"/>
                <a:ea typeface="Calibri"/>
                <a:cs typeface="Calibri"/>
                <a:sym typeface="Calibri"/>
              </a:rPr>
              <a:t>”, where we can take fractions of items. </a:t>
            </a:r>
            <a:endParaRPr sz="40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26"/>
          <p:cNvSpPr txBox="1">
            <a:spLocks noGrp="1"/>
          </p:cNvSpPr>
          <p:nvPr>
            <p:ph type="title" idx="4294967295"/>
          </p:nvPr>
        </p:nvSpPr>
        <p:spPr>
          <a:xfrm>
            <a:off x="0" y="228600"/>
            <a:ext cx="9144000" cy="1295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400"/>
              <a:buFont typeface="Corbel"/>
              <a:buNone/>
            </a:pPr>
            <a:r>
              <a:rPr lang="en-US" sz="2400" b="1">
                <a:solidFill>
                  <a:schemeClr val="dk1"/>
                </a:solidFill>
              </a:rPr>
              <a:t>0-1 Knapsack problem: brute-force approach</a:t>
            </a:r>
            <a:endParaRPr/>
          </a:p>
        </p:txBody>
      </p:sp>
      <p:sp>
        <p:nvSpPr>
          <p:cNvPr id="1049" name="Google Shape;1049;p26"/>
          <p:cNvSpPr txBox="1">
            <a:spLocks noGrp="1"/>
          </p:cNvSpPr>
          <p:nvPr>
            <p:ph type="body" idx="4294967295"/>
          </p:nvPr>
        </p:nvSpPr>
        <p:spPr>
          <a:xfrm>
            <a:off x="1371600" y="1752600"/>
            <a:ext cx="7772400" cy="4343400"/>
          </a:xfrm>
          <a:prstGeom prst="rect">
            <a:avLst/>
          </a:prstGeom>
          <a:noFill/>
          <a:ln>
            <a:noFill/>
          </a:ln>
        </p:spPr>
        <p:txBody>
          <a:bodyPr spcFirstLastPara="1" wrap="square" lIns="91425" tIns="45700" rIns="91425" bIns="45700" anchor="t" anchorCtr="0">
            <a:normAutofit/>
          </a:bodyPr>
          <a:lstStyle/>
          <a:p>
            <a:pPr marL="454025" lvl="0" indent="-454025" algn="ctr" rtl="0">
              <a:spcBef>
                <a:spcPts val="0"/>
              </a:spcBef>
              <a:spcAft>
                <a:spcPts val="0"/>
              </a:spcAft>
              <a:buSzPts val="2160"/>
              <a:buFont typeface="Arial"/>
              <a:buNone/>
            </a:pPr>
            <a:r>
              <a:rPr lang="en-US"/>
              <a:t>Let’s first solve this problem with a straightforward algorithm</a:t>
            </a:r>
            <a:endParaRPr/>
          </a:p>
          <a:p>
            <a:pPr marL="454025" lvl="0" indent="-454025" algn="l" rtl="0">
              <a:spcBef>
                <a:spcPts val="2000"/>
              </a:spcBef>
              <a:spcAft>
                <a:spcPts val="0"/>
              </a:spcAft>
              <a:buSzPts val="2160"/>
              <a:buChar char="🡽"/>
            </a:pPr>
            <a:r>
              <a:rPr lang="en-US"/>
              <a:t>Since there are </a:t>
            </a:r>
            <a:r>
              <a:rPr lang="en-US" i="1"/>
              <a:t>n</a:t>
            </a:r>
            <a:r>
              <a:rPr lang="en-US"/>
              <a:t> items, there are </a:t>
            </a:r>
            <a:r>
              <a:rPr lang="en-US" i="1"/>
              <a:t>2</a:t>
            </a:r>
            <a:r>
              <a:rPr lang="en-US" i="1" baseline="30000"/>
              <a:t>n</a:t>
            </a:r>
            <a:r>
              <a:rPr lang="en-US"/>
              <a:t> possible combinations of items.</a:t>
            </a:r>
            <a:endParaRPr/>
          </a:p>
          <a:p>
            <a:pPr marL="454025" lvl="0" indent="-454025" algn="l" rtl="0">
              <a:spcBef>
                <a:spcPts val="2000"/>
              </a:spcBef>
              <a:spcAft>
                <a:spcPts val="0"/>
              </a:spcAft>
              <a:buSzPts val="2160"/>
              <a:buChar char="🡽"/>
            </a:pPr>
            <a:r>
              <a:rPr lang="en-US"/>
              <a:t>We go through all combinations and find the one with the most total value and with total weight less or equal to </a:t>
            </a:r>
            <a:r>
              <a:rPr lang="en-US" i="1"/>
              <a:t>W</a:t>
            </a:r>
            <a:endParaRPr/>
          </a:p>
          <a:p>
            <a:pPr marL="454025" lvl="0" indent="-454025" algn="l" rtl="0">
              <a:spcBef>
                <a:spcPts val="2000"/>
              </a:spcBef>
              <a:spcAft>
                <a:spcPts val="0"/>
              </a:spcAft>
              <a:buSzPts val="2160"/>
              <a:buChar char="🡽"/>
            </a:pPr>
            <a:r>
              <a:rPr lang="en-US"/>
              <a:t>Running time will be </a:t>
            </a:r>
            <a:r>
              <a:rPr lang="en-US" i="1"/>
              <a:t>O(2</a:t>
            </a:r>
            <a:r>
              <a:rPr lang="en-US" i="1" baseline="30000"/>
              <a:t>n</a:t>
            </a:r>
            <a:r>
              <a:rPr lang="en-US" i="1"/>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27"/>
          <p:cNvSpPr txBox="1">
            <a:spLocks noGrp="1"/>
          </p:cNvSpPr>
          <p:nvPr>
            <p:ph type="title" idx="4294967295"/>
          </p:nvPr>
        </p:nvSpPr>
        <p:spPr>
          <a:xfrm>
            <a:off x="0" y="152400"/>
            <a:ext cx="9144000" cy="1295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400"/>
              <a:buFont typeface="Corbel"/>
              <a:buNone/>
            </a:pPr>
            <a:r>
              <a:rPr lang="en-US" sz="2400" b="1">
                <a:solidFill>
                  <a:schemeClr val="dk1"/>
                </a:solidFill>
              </a:rPr>
              <a:t>0-1 Knapsack problem: brute-force approach</a:t>
            </a:r>
            <a:endParaRPr/>
          </a:p>
        </p:txBody>
      </p:sp>
      <p:sp>
        <p:nvSpPr>
          <p:cNvPr id="1055" name="Google Shape;1055;p27"/>
          <p:cNvSpPr txBox="1">
            <a:spLocks noGrp="1"/>
          </p:cNvSpPr>
          <p:nvPr>
            <p:ph type="body" idx="4294967295"/>
          </p:nvPr>
        </p:nvSpPr>
        <p:spPr>
          <a:xfrm>
            <a:off x="1371600" y="1447800"/>
            <a:ext cx="7772400" cy="27432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Can we do better? </a:t>
            </a:r>
            <a:endParaRPr/>
          </a:p>
          <a:p>
            <a:pPr marL="454025" lvl="0" indent="-454025" algn="l" rtl="0">
              <a:spcBef>
                <a:spcPts val="2000"/>
              </a:spcBef>
              <a:spcAft>
                <a:spcPts val="0"/>
              </a:spcAft>
              <a:buSzPts val="2160"/>
              <a:buChar char="🡽"/>
            </a:pPr>
            <a:r>
              <a:rPr lang="en-US"/>
              <a:t>Yes, with an algorithm based on dynamic programming</a:t>
            </a:r>
            <a:endParaRPr/>
          </a:p>
          <a:p>
            <a:pPr marL="454025" lvl="0" indent="-454025" algn="l" rtl="0">
              <a:spcBef>
                <a:spcPts val="2000"/>
              </a:spcBef>
              <a:spcAft>
                <a:spcPts val="0"/>
              </a:spcAft>
              <a:buSzPts val="2160"/>
              <a:buChar char="🡽"/>
            </a:pPr>
            <a:r>
              <a:rPr lang="en-US"/>
              <a:t>We need to carefully identify the subproblems</a:t>
            </a:r>
            <a:endParaRPr/>
          </a:p>
        </p:txBody>
      </p:sp>
      <p:sp>
        <p:nvSpPr>
          <p:cNvPr id="1056" name="Google Shape;1056;p27"/>
          <p:cNvSpPr txBox="1"/>
          <p:nvPr/>
        </p:nvSpPr>
        <p:spPr>
          <a:xfrm>
            <a:off x="1066800" y="4267200"/>
            <a:ext cx="7331075" cy="20415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Let’s try this:</a:t>
            </a:r>
            <a:endParaRPr/>
          </a:p>
          <a:p>
            <a:pPr marL="0" marR="0" lvl="0" indent="0" algn="l" rtl="0">
              <a:spcBef>
                <a:spcPts val="0"/>
              </a:spcBef>
              <a:spcAft>
                <a:spcPts val="0"/>
              </a:spcAft>
              <a:buNone/>
            </a:pPr>
            <a:r>
              <a:rPr lang="en-US" sz="3200">
                <a:solidFill>
                  <a:schemeClr val="accent1"/>
                </a:solidFill>
                <a:latin typeface="Calibri"/>
                <a:ea typeface="Calibri"/>
                <a:cs typeface="Calibri"/>
                <a:sym typeface="Calibri"/>
              </a:rPr>
              <a:t>If items are labeled </a:t>
            </a:r>
            <a:r>
              <a:rPr lang="en-US" sz="3200" i="1">
                <a:solidFill>
                  <a:schemeClr val="accent1"/>
                </a:solidFill>
                <a:latin typeface="Calibri"/>
                <a:ea typeface="Calibri"/>
                <a:cs typeface="Calibri"/>
                <a:sym typeface="Calibri"/>
              </a:rPr>
              <a:t>1..n</a:t>
            </a:r>
            <a:r>
              <a:rPr lang="en-US" sz="3200">
                <a:solidFill>
                  <a:schemeClr val="accent1"/>
                </a:solidFill>
                <a:latin typeface="Calibri"/>
                <a:ea typeface="Calibri"/>
                <a:cs typeface="Calibri"/>
                <a:sym typeface="Calibri"/>
              </a:rPr>
              <a:t>, then a subproblem </a:t>
            </a:r>
            <a:endParaRPr/>
          </a:p>
          <a:p>
            <a:pPr marL="0" marR="0" lvl="0" indent="0" algn="l" rtl="0">
              <a:spcBef>
                <a:spcPts val="0"/>
              </a:spcBef>
              <a:spcAft>
                <a:spcPts val="0"/>
              </a:spcAft>
              <a:buNone/>
            </a:pPr>
            <a:r>
              <a:rPr lang="en-US" sz="3200">
                <a:solidFill>
                  <a:schemeClr val="accent1"/>
                </a:solidFill>
                <a:latin typeface="Calibri"/>
                <a:ea typeface="Calibri"/>
                <a:cs typeface="Calibri"/>
                <a:sym typeface="Calibri"/>
              </a:rPr>
              <a:t>would be to find an optimal solution for </a:t>
            </a:r>
            <a:endParaRPr/>
          </a:p>
          <a:p>
            <a:pPr marL="0" marR="0" lvl="0" indent="0" algn="l" rtl="0">
              <a:spcBef>
                <a:spcPts val="0"/>
              </a:spcBef>
              <a:spcAft>
                <a:spcPts val="0"/>
              </a:spcAft>
              <a:buNone/>
            </a:pPr>
            <a:r>
              <a:rPr lang="en-US" sz="3200" i="1">
                <a:solidFill>
                  <a:schemeClr val="accent1"/>
                </a:solidFill>
                <a:latin typeface="Calibri"/>
                <a:ea typeface="Calibri"/>
                <a:cs typeface="Calibri"/>
                <a:sym typeface="Calibri"/>
              </a:rPr>
              <a:t>S</a:t>
            </a:r>
            <a:r>
              <a:rPr lang="en-US" sz="3200" i="1" baseline="-25000">
                <a:solidFill>
                  <a:schemeClr val="accent1"/>
                </a:solidFill>
                <a:latin typeface="Calibri"/>
                <a:ea typeface="Calibri"/>
                <a:cs typeface="Calibri"/>
                <a:sym typeface="Calibri"/>
              </a:rPr>
              <a:t>k</a:t>
            </a:r>
            <a:r>
              <a:rPr lang="en-US" sz="3200" i="1">
                <a:solidFill>
                  <a:schemeClr val="accent1"/>
                </a:solidFill>
                <a:latin typeface="Calibri"/>
                <a:ea typeface="Calibri"/>
                <a:cs typeface="Calibri"/>
                <a:sym typeface="Calibri"/>
              </a:rPr>
              <a:t> = {items labeled 1, 2, .. k}</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28"/>
          <p:cNvSpPr txBox="1">
            <a:spLocks noGrp="1"/>
          </p:cNvSpPr>
          <p:nvPr>
            <p:ph type="title" idx="4294967295"/>
          </p:nvPr>
        </p:nvSpPr>
        <p:spPr>
          <a:xfrm>
            <a:off x="198782" y="460514"/>
            <a:ext cx="8521148" cy="838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Defining a Subproblem </a:t>
            </a:r>
            <a:endParaRPr/>
          </a:p>
        </p:txBody>
      </p:sp>
      <p:sp>
        <p:nvSpPr>
          <p:cNvPr id="1062" name="Google Shape;1062;p28"/>
          <p:cNvSpPr txBox="1">
            <a:spLocks noGrp="1"/>
          </p:cNvSpPr>
          <p:nvPr>
            <p:ph type="body" idx="4294967295"/>
          </p:nvPr>
        </p:nvSpPr>
        <p:spPr>
          <a:xfrm>
            <a:off x="424070" y="1626704"/>
            <a:ext cx="8428382" cy="4876800"/>
          </a:xfrm>
          <a:prstGeom prst="rect">
            <a:avLst/>
          </a:prstGeom>
          <a:noFill/>
          <a:ln>
            <a:noFill/>
          </a:ln>
        </p:spPr>
        <p:txBody>
          <a:bodyPr spcFirstLastPara="1" wrap="square" lIns="91425" tIns="45700" rIns="91425" bIns="45700" anchor="t" anchorCtr="0">
            <a:normAutofit/>
          </a:bodyPr>
          <a:lstStyle/>
          <a:p>
            <a:pPr marL="454025" lvl="0" indent="-454025" algn="ctr" rtl="0">
              <a:spcBef>
                <a:spcPts val="0"/>
              </a:spcBef>
              <a:spcAft>
                <a:spcPts val="0"/>
              </a:spcAft>
              <a:buSzPts val="2160"/>
              <a:buFont typeface="Arial"/>
              <a:buNone/>
            </a:pPr>
            <a:r>
              <a:rPr lang="en-US">
                <a:solidFill>
                  <a:schemeClr val="accent1"/>
                </a:solidFill>
              </a:rPr>
              <a:t>If items are labeled </a:t>
            </a:r>
            <a:r>
              <a:rPr lang="en-US" i="1">
                <a:solidFill>
                  <a:schemeClr val="accent1"/>
                </a:solidFill>
              </a:rPr>
              <a:t>1..n</a:t>
            </a:r>
            <a:r>
              <a:rPr lang="en-US">
                <a:solidFill>
                  <a:schemeClr val="accent1"/>
                </a:solidFill>
              </a:rPr>
              <a:t>, then a subproblem would be to find an optimal solution for </a:t>
            </a:r>
            <a:r>
              <a:rPr lang="en-US" i="1">
                <a:solidFill>
                  <a:schemeClr val="accent1"/>
                </a:solidFill>
              </a:rPr>
              <a:t>S</a:t>
            </a:r>
            <a:r>
              <a:rPr lang="en-US" i="1" baseline="-25000">
                <a:solidFill>
                  <a:schemeClr val="accent1"/>
                </a:solidFill>
              </a:rPr>
              <a:t>k</a:t>
            </a:r>
            <a:r>
              <a:rPr lang="en-US" i="1">
                <a:solidFill>
                  <a:schemeClr val="accent1"/>
                </a:solidFill>
              </a:rPr>
              <a:t> = {items labeled 1, 2, .. k}</a:t>
            </a:r>
            <a:endParaRPr/>
          </a:p>
          <a:p>
            <a:pPr marL="454025" lvl="0" indent="-454025" algn="l" rtl="0">
              <a:spcBef>
                <a:spcPts val="2000"/>
              </a:spcBef>
              <a:spcAft>
                <a:spcPts val="0"/>
              </a:spcAft>
              <a:buSzPts val="2160"/>
              <a:buChar char="🡽"/>
            </a:pPr>
            <a:r>
              <a:rPr lang="en-US"/>
              <a:t>This is a valid subproblem definition.</a:t>
            </a:r>
            <a:endParaRPr/>
          </a:p>
          <a:p>
            <a:pPr marL="454025" lvl="0" indent="-454025" algn="l" rtl="0">
              <a:lnSpc>
                <a:spcPct val="110000"/>
              </a:lnSpc>
              <a:spcBef>
                <a:spcPts val="2000"/>
              </a:spcBef>
              <a:spcAft>
                <a:spcPts val="0"/>
              </a:spcAft>
              <a:buSzPts val="2160"/>
              <a:buChar char="🡽"/>
            </a:pPr>
            <a:r>
              <a:rPr lang="en-US"/>
              <a:t>The question is: can we describe the final solution (</a:t>
            </a:r>
            <a:r>
              <a:rPr lang="en-US" i="1">
                <a:solidFill>
                  <a:schemeClr val="accent1"/>
                </a:solidFill>
              </a:rPr>
              <a:t>S</a:t>
            </a:r>
            <a:r>
              <a:rPr lang="en-US" i="1" baseline="-25000">
                <a:solidFill>
                  <a:schemeClr val="accent1"/>
                </a:solidFill>
              </a:rPr>
              <a:t>n</a:t>
            </a:r>
            <a:r>
              <a:rPr lang="en-US" i="1">
                <a:solidFill>
                  <a:schemeClr val="accent1"/>
                </a:solidFill>
              </a:rPr>
              <a:t> </a:t>
            </a:r>
            <a:r>
              <a:rPr lang="en-US"/>
              <a:t>) in terms of subproblems (</a:t>
            </a:r>
            <a:r>
              <a:rPr lang="en-US" i="1">
                <a:solidFill>
                  <a:schemeClr val="accent1"/>
                </a:solidFill>
              </a:rPr>
              <a:t>S</a:t>
            </a:r>
            <a:r>
              <a:rPr lang="en-US" i="1" baseline="-25000">
                <a:solidFill>
                  <a:schemeClr val="accent1"/>
                </a:solidFill>
              </a:rPr>
              <a:t>k</a:t>
            </a:r>
            <a:r>
              <a:rPr lang="en-US"/>
              <a:t>)? </a:t>
            </a:r>
            <a:endParaRPr/>
          </a:p>
          <a:p>
            <a:pPr marL="454025" lvl="0" indent="-454025" algn="l" rtl="0">
              <a:lnSpc>
                <a:spcPct val="110000"/>
              </a:lnSpc>
              <a:spcBef>
                <a:spcPts val="2000"/>
              </a:spcBef>
              <a:spcAft>
                <a:spcPts val="0"/>
              </a:spcAft>
              <a:buSzPts val="2160"/>
              <a:buChar char="🡽"/>
            </a:pPr>
            <a:r>
              <a:rPr lang="en-US"/>
              <a:t>Unfortunately, we </a:t>
            </a:r>
            <a:r>
              <a:rPr lang="en-US" u="sng"/>
              <a:t>can’t</a:t>
            </a:r>
            <a:r>
              <a:rPr lang="en-US"/>
              <a:t> do that. Explanation follows….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29"/>
          <p:cNvSpPr txBox="1">
            <a:spLocks noGrp="1"/>
          </p:cNvSpPr>
          <p:nvPr>
            <p:ph type="title" idx="4294967295"/>
          </p:nvPr>
        </p:nvSpPr>
        <p:spPr>
          <a:xfrm>
            <a:off x="36305" y="350838"/>
            <a:ext cx="8958470" cy="838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800"/>
              <a:buFont typeface="Corbel"/>
              <a:buNone/>
            </a:pPr>
            <a:r>
              <a:rPr lang="en-US" sz="2800" b="1">
                <a:solidFill>
                  <a:schemeClr val="dk1"/>
                </a:solidFill>
              </a:rPr>
              <a:t>Defining a Subproblem</a:t>
            </a:r>
            <a:endParaRPr/>
          </a:p>
        </p:txBody>
      </p:sp>
      <p:sp>
        <p:nvSpPr>
          <p:cNvPr id="1068" name="Google Shape;1068;p29"/>
          <p:cNvSpPr txBox="1"/>
          <p:nvPr/>
        </p:nvSpPr>
        <p:spPr>
          <a:xfrm>
            <a:off x="1371600" y="2286000"/>
            <a:ext cx="2724150" cy="15525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Max weight: W = 20</a:t>
            </a:r>
            <a:endParaRPr sz="1800" b="1">
              <a:solidFill>
                <a:schemeClr val="accent2"/>
              </a:solidFill>
              <a:latin typeface="Calibri"/>
              <a:ea typeface="Calibri"/>
              <a:cs typeface="Calibri"/>
              <a:sym typeface="Calibri"/>
            </a:endParaRPr>
          </a:p>
          <a:p>
            <a:pPr marL="0" marR="0" lvl="0" indent="0" algn="l" rtl="0">
              <a:spcBef>
                <a:spcPts val="0"/>
              </a:spcBef>
              <a:spcAft>
                <a:spcPts val="0"/>
              </a:spcAft>
              <a:buNone/>
            </a:pPr>
            <a:r>
              <a:rPr lang="en-US" sz="1800" b="1">
                <a:solidFill>
                  <a:schemeClr val="accent2"/>
                </a:solidFill>
                <a:latin typeface="Calibri"/>
                <a:ea typeface="Calibri"/>
                <a:cs typeface="Calibri"/>
                <a:sym typeface="Calibri"/>
              </a:rPr>
              <a:t>For S</a:t>
            </a:r>
            <a:r>
              <a:rPr lang="en-US" sz="1800" b="1" baseline="-25000">
                <a:solidFill>
                  <a:schemeClr val="accent2"/>
                </a:solidFill>
                <a:latin typeface="Calibri"/>
                <a:ea typeface="Calibri"/>
                <a:cs typeface="Calibri"/>
                <a:sym typeface="Calibri"/>
              </a:rPr>
              <a:t>4</a:t>
            </a:r>
            <a:r>
              <a:rPr lang="en-US" sz="1800" b="1">
                <a:solidFill>
                  <a:schemeClr val="accent2"/>
                </a:solidFill>
                <a:latin typeface="Calibri"/>
                <a:ea typeface="Calibri"/>
                <a:cs typeface="Calibri"/>
                <a:sym typeface="Calibri"/>
              </a:rPr>
              <a: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Total weight: 14;</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total benefit: 20</a:t>
            </a:r>
            <a:endParaRPr/>
          </a:p>
        </p:txBody>
      </p:sp>
      <p:grpSp>
        <p:nvGrpSpPr>
          <p:cNvPr id="1069" name="Google Shape;1069;p29"/>
          <p:cNvGrpSpPr/>
          <p:nvPr/>
        </p:nvGrpSpPr>
        <p:grpSpPr>
          <a:xfrm>
            <a:off x="990600" y="1066800"/>
            <a:ext cx="4343400" cy="1066800"/>
            <a:chOff x="624" y="672"/>
            <a:chExt cx="2736" cy="672"/>
          </a:xfrm>
        </p:grpSpPr>
        <p:sp>
          <p:nvSpPr>
            <p:cNvPr id="1070" name="Google Shape;1070;p29"/>
            <p:cNvSpPr/>
            <p:nvPr/>
          </p:nvSpPr>
          <p:spPr>
            <a:xfrm>
              <a:off x="672" y="672"/>
              <a:ext cx="2688"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1" name="Google Shape;1071;p29"/>
            <p:cNvSpPr/>
            <p:nvPr/>
          </p:nvSpPr>
          <p:spPr>
            <a:xfrm>
              <a:off x="672" y="672"/>
              <a:ext cx="384"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2" name="Google Shape;1072;p29"/>
            <p:cNvSpPr/>
            <p:nvPr/>
          </p:nvSpPr>
          <p:spPr>
            <a:xfrm>
              <a:off x="1056" y="672"/>
              <a:ext cx="576"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3" name="Google Shape;1073;p29"/>
            <p:cNvSpPr/>
            <p:nvPr/>
          </p:nvSpPr>
          <p:spPr>
            <a:xfrm>
              <a:off x="1632" y="672"/>
              <a:ext cx="576"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4" name="Google Shape;1074;p29"/>
            <p:cNvSpPr/>
            <p:nvPr/>
          </p:nvSpPr>
          <p:spPr>
            <a:xfrm>
              <a:off x="2208" y="672"/>
              <a:ext cx="480"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75" name="Google Shape;1075;p29"/>
            <p:cNvSpPr txBox="1"/>
            <p:nvPr/>
          </p:nvSpPr>
          <p:spPr>
            <a:xfrm>
              <a:off x="624" y="720"/>
              <a:ext cx="538"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=2</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076" name="Google Shape;1076;p29"/>
            <p:cNvSpPr txBox="1"/>
            <p:nvPr/>
          </p:nvSpPr>
          <p:spPr>
            <a:xfrm>
              <a:off x="1104" y="720"/>
              <a:ext cx="528"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2 </a:t>
              </a:r>
              <a:r>
                <a:rPr lang="en-US" sz="2000">
                  <a:solidFill>
                    <a:schemeClr val="dk1"/>
                  </a:solidFill>
                  <a:latin typeface="Calibri"/>
                  <a:ea typeface="Calibri"/>
                  <a:cs typeface="Calibri"/>
                  <a:sym typeface="Calibri"/>
                </a:rPr>
                <a:t>=3</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2 </a:t>
              </a:r>
              <a:r>
                <a:rPr lang="en-US" sz="20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077" name="Google Shape;1077;p29"/>
            <p:cNvSpPr txBox="1"/>
            <p:nvPr/>
          </p:nvSpPr>
          <p:spPr>
            <a:xfrm>
              <a:off x="1680" y="720"/>
              <a:ext cx="528"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3 </a:t>
              </a:r>
              <a:r>
                <a:rPr lang="en-US" sz="2000">
                  <a:solidFill>
                    <a:schemeClr val="dk1"/>
                  </a:solidFill>
                  <a:latin typeface="Calibri"/>
                  <a:ea typeface="Calibri"/>
                  <a:cs typeface="Calibri"/>
                  <a:sym typeface="Calibri"/>
                </a:rPr>
                <a:t>=4</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3 </a:t>
              </a:r>
              <a:r>
                <a:rPr lang="en-US" sz="20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1078" name="Google Shape;1078;p29"/>
            <p:cNvSpPr txBox="1"/>
            <p:nvPr/>
          </p:nvSpPr>
          <p:spPr>
            <a:xfrm>
              <a:off x="2256" y="720"/>
              <a:ext cx="576"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=5</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=8</a:t>
              </a:r>
              <a:endParaRPr sz="1800">
                <a:solidFill>
                  <a:schemeClr val="dk1"/>
                </a:solidFill>
                <a:latin typeface="Calibri"/>
                <a:ea typeface="Calibri"/>
                <a:cs typeface="Calibri"/>
                <a:sym typeface="Calibri"/>
              </a:endParaRPr>
            </a:p>
          </p:txBody>
        </p:sp>
      </p:grpSp>
      <p:sp>
        <p:nvSpPr>
          <p:cNvPr id="1079" name="Google Shape;1079;p29"/>
          <p:cNvSpPr txBox="1"/>
          <p:nvPr/>
        </p:nvSpPr>
        <p:spPr>
          <a:xfrm>
            <a:off x="7162800" y="1295400"/>
            <a:ext cx="55245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w</a:t>
            </a:r>
            <a:r>
              <a:rPr lang="en-US" sz="3200" baseline="-250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80" name="Google Shape;1080;p29"/>
          <p:cNvSpPr txBox="1"/>
          <p:nvPr/>
        </p:nvSpPr>
        <p:spPr>
          <a:xfrm>
            <a:off x="8305800" y="1295400"/>
            <a:ext cx="55245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b</a:t>
            </a:r>
            <a:r>
              <a:rPr lang="en-US" sz="3200" baseline="-25000">
                <a:solidFill>
                  <a:schemeClr val="dk1"/>
                </a:solidFill>
                <a:latin typeface="Calibri"/>
                <a:ea typeface="Calibri"/>
                <a:cs typeface="Calibri"/>
                <a:sym typeface="Calibri"/>
              </a:rPr>
              <a:t>i</a:t>
            </a:r>
            <a:endParaRPr sz="1800">
              <a:solidFill>
                <a:schemeClr val="dk1"/>
              </a:solidFill>
              <a:latin typeface="Calibri"/>
              <a:ea typeface="Calibri"/>
              <a:cs typeface="Calibri"/>
              <a:sym typeface="Calibri"/>
            </a:endParaRPr>
          </a:p>
        </p:txBody>
      </p:sp>
      <p:sp>
        <p:nvSpPr>
          <p:cNvPr id="1081" name="Google Shape;1081;p29"/>
          <p:cNvSpPr txBox="1"/>
          <p:nvPr/>
        </p:nvSpPr>
        <p:spPr>
          <a:xfrm>
            <a:off x="8229600" y="4114800"/>
            <a:ext cx="4889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10</a:t>
            </a:r>
            <a:endParaRPr/>
          </a:p>
        </p:txBody>
      </p:sp>
      <p:sp>
        <p:nvSpPr>
          <p:cNvPr id="1082" name="Google Shape;1082;p29"/>
          <p:cNvSpPr txBox="1"/>
          <p:nvPr/>
        </p:nvSpPr>
        <p:spPr>
          <a:xfrm>
            <a:off x="8382000" y="35814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8</a:t>
            </a:r>
            <a:endParaRPr/>
          </a:p>
        </p:txBody>
      </p:sp>
      <p:sp>
        <p:nvSpPr>
          <p:cNvPr id="1083" name="Google Shape;1083;p29"/>
          <p:cNvSpPr txBox="1"/>
          <p:nvPr/>
        </p:nvSpPr>
        <p:spPr>
          <a:xfrm>
            <a:off x="7315200" y="35814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84" name="Google Shape;1084;p29"/>
          <p:cNvSpPr txBox="1"/>
          <p:nvPr/>
        </p:nvSpPr>
        <p:spPr>
          <a:xfrm>
            <a:off x="8382000" y="30480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085" name="Google Shape;1085;p29"/>
          <p:cNvSpPr txBox="1"/>
          <p:nvPr/>
        </p:nvSpPr>
        <p:spPr>
          <a:xfrm>
            <a:off x="7315200" y="30480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86" name="Google Shape;1086;p29"/>
          <p:cNvSpPr txBox="1"/>
          <p:nvPr/>
        </p:nvSpPr>
        <p:spPr>
          <a:xfrm>
            <a:off x="8382000" y="25146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087" name="Google Shape;1087;p29"/>
          <p:cNvSpPr txBox="1"/>
          <p:nvPr/>
        </p:nvSpPr>
        <p:spPr>
          <a:xfrm>
            <a:off x="7315200" y="25146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88" name="Google Shape;1088;p29"/>
          <p:cNvSpPr txBox="1"/>
          <p:nvPr/>
        </p:nvSpPr>
        <p:spPr>
          <a:xfrm>
            <a:off x="8382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1089" name="Google Shape;1089;p29"/>
          <p:cNvSpPr txBox="1"/>
          <p:nvPr/>
        </p:nvSpPr>
        <p:spPr>
          <a:xfrm>
            <a:off x="7315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1090" name="Google Shape;1090;p29"/>
          <p:cNvSpPr txBox="1"/>
          <p:nvPr/>
        </p:nvSpPr>
        <p:spPr>
          <a:xfrm>
            <a:off x="6781800" y="1041400"/>
            <a:ext cx="10795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Weight</a:t>
            </a:r>
            <a:endParaRPr/>
          </a:p>
        </p:txBody>
      </p:sp>
      <p:sp>
        <p:nvSpPr>
          <p:cNvPr id="1091" name="Google Shape;1091;p29"/>
          <p:cNvSpPr txBox="1"/>
          <p:nvPr/>
        </p:nvSpPr>
        <p:spPr>
          <a:xfrm>
            <a:off x="7915275" y="1041400"/>
            <a:ext cx="10795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Benefit</a:t>
            </a:r>
            <a:endParaRPr/>
          </a:p>
        </p:txBody>
      </p:sp>
      <p:sp>
        <p:nvSpPr>
          <p:cNvPr id="1092" name="Google Shape;1092;p29"/>
          <p:cNvSpPr txBox="1"/>
          <p:nvPr/>
        </p:nvSpPr>
        <p:spPr>
          <a:xfrm>
            <a:off x="7315200" y="41148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9</a:t>
            </a:r>
            <a:endParaRPr/>
          </a:p>
        </p:txBody>
      </p:sp>
      <p:cxnSp>
        <p:nvCxnSpPr>
          <p:cNvPr id="1093" name="Google Shape;1093;p29"/>
          <p:cNvCxnSpPr/>
          <p:nvPr/>
        </p:nvCxnSpPr>
        <p:spPr>
          <a:xfrm>
            <a:off x="6324600" y="914400"/>
            <a:ext cx="2819400" cy="0"/>
          </a:xfrm>
          <a:prstGeom prst="straightConnector1">
            <a:avLst/>
          </a:prstGeom>
          <a:noFill/>
          <a:ln w="9525" cap="flat" cmpd="sng">
            <a:solidFill>
              <a:schemeClr val="dk1"/>
            </a:solidFill>
            <a:prstDash val="solid"/>
            <a:round/>
            <a:headEnd type="none" w="med" len="med"/>
            <a:tailEnd type="none" w="med" len="med"/>
          </a:ln>
        </p:spPr>
      </p:cxnSp>
      <p:cxnSp>
        <p:nvCxnSpPr>
          <p:cNvPr id="1094" name="Google Shape;1094;p29"/>
          <p:cNvCxnSpPr/>
          <p:nvPr/>
        </p:nvCxnSpPr>
        <p:spPr>
          <a:xfrm>
            <a:off x="6324600" y="914400"/>
            <a:ext cx="0" cy="3810000"/>
          </a:xfrm>
          <a:prstGeom prst="straightConnector1">
            <a:avLst/>
          </a:prstGeom>
          <a:noFill/>
          <a:ln w="9525" cap="flat" cmpd="sng">
            <a:solidFill>
              <a:schemeClr val="dk1"/>
            </a:solidFill>
            <a:prstDash val="solid"/>
            <a:round/>
            <a:headEnd type="none" w="med" len="med"/>
            <a:tailEnd type="none" w="med" len="med"/>
          </a:ln>
        </p:spPr>
      </p:cxnSp>
      <p:sp>
        <p:nvSpPr>
          <p:cNvPr id="1095" name="Google Shape;1095;p29"/>
          <p:cNvSpPr txBox="1"/>
          <p:nvPr/>
        </p:nvSpPr>
        <p:spPr>
          <a:xfrm>
            <a:off x="7299325" y="1336675"/>
            <a:ext cx="1841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96" name="Google Shape;1096;p29"/>
          <p:cNvSpPr txBox="1"/>
          <p:nvPr/>
        </p:nvSpPr>
        <p:spPr>
          <a:xfrm>
            <a:off x="6324600" y="1420813"/>
            <a:ext cx="647700" cy="76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Item</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1097" name="Google Shape;1097;p29"/>
          <p:cNvSpPr txBox="1"/>
          <p:nvPr/>
        </p:nvSpPr>
        <p:spPr>
          <a:xfrm>
            <a:off x="6477000" y="35814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accent1"/>
                </a:solidFill>
                <a:latin typeface="Calibri"/>
                <a:ea typeface="Calibri"/>
                <a:cs typeface="Calibri"/>
                <a:sym typeface="Calibri"/>
              </a:rPr>
              <a:t>4</a:t>
            </a:r>
            <a:endParaRPr/>
          </a:p>
        </p:txBody>
      </p:sp>
      <p:sp>
        <p:nvSpPr>
          <p:cNvPr id="1098" name="Google Shape;1098;p29"/>
          <p:cNvSpPr txBox="1"/>
          <p:nvPr/>
        </p:nvSpPr>
        <p:spPr>
          <a:xfrm>
            <a:off x="6477000" y="30480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accent1"/>
                </a:solidFill>
                <a:latin typeface="Calibri"/>
                <a:ea typeface="Calibri"/>
                <a:cs typeface="Calibri"/>
                <a:sym typeface="Calibri"/>
              </a:rPr>
              <a:t>3</a:t>
            </a:r>
            <a:endParaRPr/>
          </a:p>
        </p:txBody>
      </p:sp>
      <p:sp>
        <p:nvSpPr>
          <p:cNvPr id="1099" name="Google Shape;1099;p29"/>
          <p:cNvSpPr txBox="1"/>
          <p:nvPr/>
        </p:nvSpPr>
        <p:spPr>
          <a:xfrm>
            <a:off x="6477000" y="25146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accent1"/>
                </a:solidFill>
                <a:latin typeface="Calibri"/>
                <a:ea typeface="Calibri"/>
                <a:cs typeface="Calibri"/>
                <a:sym typeface="Calibri"/>
              </a:rPr>
              <a:t>2</a:t>
            </a:r>
            <a:endParaRPr/>
          </a:p>
        </p:txBody>
      </p:sp>
      <p:sp>
        <p:nvSpPr>
          <p:cNvPr id="1100" name="Google Shape;1100;p29"/>
          <p:cNvSpPr txBox="1"/>
          <p:nvPr/>
        </p:nvSpPr>
        <p:spPr>
          <a:xfrm>
            <a:off x="6477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accent1"/>
                </a:solidFill>
                <a:latin typeface="Calibri"/>
                <a:ea typeface="Calibri"/>
                <a:cs typeface="Calibri"/>
                <a:sym typeface="Calibri"/>
              </a:rPr>
              <a:t>1</a:t>
            </a:r>
            <a:endParaRPr/>
          </a:p>
        </p:txBody>
      </p:sp>
      <p:sp>
        <p:nvSpPr>
          <p:cNvPr id="1101" name="Google Shape;1101;p29"/>
          <p:cNvSpPr txBox="1"/>
          <p:nvPr/>
        </p:nvSpPr>
        <p:spPr>
          <a:xfrm>
            <a:off x="6477000" y="4114800"/>
            <a:ext cx="3365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accent1"/>
                </a:solidFill>
                <a:latin typeface="Calibri"/>
                <a:ea typeface="Calibri"/>
                <a:cs typeface="Calibri"/>
                <a:sym typeface="Calibri"/>
              </a:rPr>
              <a:t>5</a:t>
            </a:r>
            <a:endParaRPr/>
          </a:p>
        </p:txBody>
      </p:sp>
      <p:sp>
        <p:nvSpPr>
          <p:cNvPr id="1102" name="Google Shape;1102;p29"/>
          <p:cNvSpPr/>
          <p:nvPr/>
        </p:nvSpPr>
        <p:spPr>
          <a:xfrm>
            <a:off x="6032500" y="2044700"/>
            <a:ext cx="520700" cy="2197100"/>
          </a:xfrm>
          <a:custGeom>
            <a:avLst/>
            <a:gdLst/>
            <a:ahLst/>
            <a:cxnLst/>
            <a:rect l="l" t="t" r="r" b="b"/>
            <a:pathLst>
              <a:path w="328" h="1384" extrusionOk="0">
                <a:moveTo>
                  <a:pt x="280" y="8"/>
                </a:moveTo>
                <a:cubicBezTo>
                  <a:pt x="204" y="4"/>
                  <a:pt x="128" y="0"/>
                  <a:pt x="88" y="200"/>
                </a:cubicBezTo>
                <a:cubicBezTo>
                  <a:pt x="48" y="400"/>
                  <a:pt x="0" y="1032"/>
                  <a:pt x="40" y="1208"/>
                </a:cubicBezTo>
                <a:cubicBezTo>
                  <a:pt x="80" y="1384"/>
                  <a:pt x="264" y="1288"/>
                  <a:pt x="328" y="1256"/>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3" name="Google Shape;1103;p29"/>
          <p:cNvSpPr txBox="1"/>
          <p:nvPr/>
        </p:nvSpPr>
        <p:spPr>
          <a:xfrm>
            <a:off x="5715000" y="2438400"/>
            <a:ext cx="4556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a:t>
            </a:r>
            <a:r>
              <a:rPr lang="en-US" sz="1800" baseline="-25000">
                <a:solidFill>
                  <a:schemeClr val="dk1"/>
                </a:solidFill>
                <a:latin typeface="Calibri"/>
                <a:ea typeface="Calibri"/>
                <a:cs typeface="Calibri"/>
                <a:sym typeface="Calibri"/>
              </a:rPr>
              <a:t>4</a:t>
            </a:r>
            <a:endParaRPr sz="1800">
              <a:solidFill>
                <a:schemeClr val="dk1"/>
              </a:solidFill>
              <a:latin typeface="Calibri"/>
              <a:ea typeface="Calibri"/>
              <a:cs typeface="Calibri"/>
              <a:sym typeface="Calibri"/>
            </a:endParaRPr>
          </a:p>
        </p:txBody>
      </p:sp>
      <p:sp>
        <p:nvSpPr>
          <p:cNvPr id="1104" name="Google Shape;1104;p29"/>
          <p:cNvSpPr/>
          <p:nvPr/>
        </p:nvSpPr>
        <p:spPr>
          <a:xfrm>
            <a:off x="5562600" y="2057400"/>
            <a:ext cx="1066800" cy="2641600"/>
          </a:xfrm>
          <a:custGeom>
            <a:avLst/>
            <a:gdLst/>
            <a:ahLst/>
            <a:cxnLst/>
            <a:rect l="l" t="t" r="r" b="b"/>
            <a:pathLst>
              <a:path w="672" h="1664" extrusionOk="0">
                <a:moveTo>
                  <a:pt x="480" y="0"/>
                </a:moveTo>
                <a:cubicBezTo>
                  <a:pt x="320" y="0"/>
                  <a:pt x="160" y="0"/>
                  <a:pt x="96" y="240"/>
                </a:cubicBezTo>
                <a:cubicBezTo>
                  <a:pt x="32" y="480"/>
                  <a:pt x="0" y="1216"/>
                  <a:pt x="96" y="1440"/>
                </a:cubicBezTo>
                <a:cubicBezTo>
                  <a:pt x="192" y="1664"/>
                  <a:pt x="592" y="1592"/>
                  <a:pt x="672" y="1584"/>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5" name="Google Shape;1105;p29"/>
          <p:cNvSpPr txBox="1"/>
          <p:nvPr/>
        </p:nvSpPr>
        <p:spPr>
          <a:xfrm>
            <a:off x="5181600" y="2895600"/>
            <a:ext cx="45561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a:t>
            </a:r>
            <a:r>
              <a:rPr lang="en-US" sz="1800" baseline="-250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grpSp>
        <p:nvGrpSpPr>
          <p:cNvPr id="1106" name="Google Shape;1106;p29"/>
          <p:cNvGrpSpPr/>
          <p:nvPr/>
        </p:nvGrpSpPr>
        <p:grpSpPr>
          <a:xfrm>
            <a:off x="1066800" y="4267200"/>
            <a:ext cx="4343400" cy="1066800"/>
            <a:chOff x="672" y="2688"/>
            <a:chExt cx="2736" cy="672"/>
          </a:xfrm>
        </p:grpSpPr>
        <p:sp>
          <p:nvSpPr>
            <p:cNvPr id="1107" name="Google Shape;1107;p29"/>
            <p:cNvSpPr/>
            <p:nvPr/>
          </p:nvSpPr>
          <p:spPr>
            <a:xfrm>
              <a:off x="720" y="2688"/>
              <a:ext cx="2688"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8" name="Google Shape;1108;p29"/>
            <p:cNvSpPr/>
            <p:nvPr/>
          </p:nvSpPr>
          <p:spPr>
            <a:xfrm>
              <a:off x="720" y="2688"/>
              <a:ext cx="384"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09" name="Google Shape;1109;p29"/>
            <p:cNvSpPr/>
            <p:nvPr/>
          </p:nvSpPr>
          <p:spPr>
            <a:xfrm>
              <a:off x="1104" y="2688"/>
              <a:ext cx="576"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0" name="Google Shape;1110;p29"/>
            <p:cNvSpPr/>
            <p:nvPr/>
          </p:nvSpPr>
          <p:spPr>
            <a:xfrm>
              <a:off x="1680" y="2688"/>
              <a:ext cx="576" cy="672"/>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11" name="Google Shape;1111;p29"/>
            <p:cNvSpPr txBox="1"/>
            <p:nvPr/>
          </p:nvSpPr>
          <p:spPr>
            <a:xfrm>
              <a:off x="672" y="2736"/>
              <a:ext cx="538"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=2</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1 </a:t>
              </a:r>
              <a:r>
                <a:rPr lang="en-US" sz="2000">
                  <a:solidFill>
                    <a:schemeClr val="dk1"/>
                  </a:solidFill>
                  <a:latin typeface="Calibri"/>
                  <a:ea typeface="Calibri"/>
                  <a:cs typeface="Calibri"/>
                  <a:sym typeface="Calibri"/>
                </a:rPr>
                <a:t>=3</a:t>
              </a:r>
              <a:endParaRPr sz="1800">
                <a:solidFill>
                  <a:schemeClr val="dk1"/>
                </a:solidFill>
                <a:latin typeface="Calibri"/>
                <a:ea typeface="Calibri"/>
                <a:cs typeface="Calibri"/>
                <a:sym typeface="Calibri"/>
              </a:endParaRPr>
            </a:p>
          </p:txBody>
        </p:sp>
        <p:sp>
          <p:nvSpPr>
            <p:cNvPr id="1112" name="Google Shape;1112;p29"/>
            <p:cNvSpPr txBox="1"/>
            <p:nvPr/>
          </p:nvSpPr>
          <p:spPr>
            <a:xfrm>
              <a:off x="1152" y="2736"/>
              <a:ext cx="528"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3 </a:t>
              </a:r>
              <a:r>
                <a:rPr lang="en-US" sz="2000">
                  <a:solidFill>
                    <a:schemeClr val="dk1"/>
                  </a:solidFill>
                  <a:latin typeface="Calibri"/>
                  <a:ea typeface="Calibri"/>
                  <a:cs typeface="Calibri"/>
                  <a:sym typeface="Calibri"/>
                </a:rPr>
                <a:t>=4</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3</a:t>
              </a:r>
              <a:r>
                <a:rPr lang="en-US" sz="2000">
                  <a:solidFill>
                    <a:schemeClr val="dk1"/>
                  </a:solidFill>
                  <a:latin typeface="Calibri"/>
                  <a:ea typeface="Calibri"/>
                  <a:cs typeface="Calibri"/>
                  <a:sym typeface="Calibri"/>
                </a:rPr>
                <a:t>=5</a:t>
              </a:r>
              <a:endParaRPr sz="1800">
                <a:solidFill>
                  <a:schemeClr val="dk1"/>
                </a:solidFill>
                <a:latin typeface="Calibri"/>
                <a:ea typeface="Calibri"/>
                <a:cs typeface="Calibri"/>
                <a:sym typeface="Calibri"/>
              </a:endParaRPr>
            </a:p>
          </p:txBody>
        </p:sp>
        <p:sp>
          <p:nvSpPr>
            <p:cNvPr id="1113" name="Google Shape;1113;p29"/>
            <p:cNvSpPr txBox="1"/>
            <p:nvPr/>
          </p:nvSpPr>
          <p:spPr>
            <a:xfrm>
              <a:off x="1728" y="2736"/>
              <a:ext cx="528"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=5</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4 </a:t>
              </a:r>
              <a:r>
                <a:rPr lang="en-US" sz="2000">
                  <a:solidFill>
                    <a:schemeClr val="dk1"/>
                  </a:solidFill>
                  <a:latin typeface="Calibri"/>
                  <a:ea typeface="Calibri"/>
                  <a:cs typeface="Calibri"/>
                  <a:sym typeface="Calibri"/>
                </a:rPr>
                <a:t>=8</a:t>
              </a:r>
              <a:endParaRPr sz="1800">
                <a:solidFill>
                  <a:schemeClr val="dk1"/>
                </a:solidFill>
                <a:latin typeface="Calibri"/>
                <a:ea typeface="Calibri"/>
                <a:cs typeface="Calibri"/>
                <a:sym typeface="Calibri"/>
              </a:endParaRPr>
            </a:p>
          </p:txBody>
        </p:sp>
        <p:sp>
          <p:nvSpPr>
            <p:cNvPr id="1114" name="Google Shape;1114;p29"/>
            <p:cNvSpPr txBox="1"/>
            <p:nvPr/>
          </p:nvSpPr>
          <p:spPr>
            <a:xfrm>
              <a:off x="2304" y="2736"/>
              <a:ext cx="576" cy="480"/>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w</a:t>
              </a:r>
              <a:r>
                <a:rPr lang="en-US" sz="2000" baseline="-25000">
                  <a:solidFill>
                    <a:schemeClr val="dk1"/>
                  </a:solidFill>
                  <a:latin typeface="Calibri"/>
                  <a:ea typeface="Calibri"/>
                  <a:cs typeface="Calibri"/>
                  <a:sym typeface="Calibri"/>
                </a:rPr>
                <a:t>5 </a:t>
              </a:r>
              <a:r>
                <a:rPr lang="en-US" sz="2000">
                  <a:solidFill>
                    <a:schemeClr val="dk1"/>
                  </a:solidFill>
                  <a:latin typeface="Calibri"/>
                  <a:ea typeface="Calibri"/>
                  <a:cs typeface="Calibri"/>
                  <a:sym typeface="Calibri"/>
                </a:rPr>
                <a:t>=9</a:t>
              </a:r>
              <a:endParaRPr/>
            </a:p>
            <a:p>
              <a:pPr marL="0" marR="0" lvl="0" indent="0" algn="l" rtl="0">
                <a:lnSpc>
                  <a:spcPct val="110000"/>
                </a:lnSpc>
                <a:spcBef>
                  <a:spcPts val="0"/>
                </a:spcBef>
                <a:spcAft>
                  <a:spcPts val="0"/>
                </a:spcAft>
                <a:buNone/>
              </a:pPr>
              <a:r>
                <a:rPr lang="en-US" sz="2000">
                  <a:solidFill>
                    <a:schemeClr val="dk1"/>
                  </a:solidFill>
                  <a:latin typeface="Calibri"/>
                  <a:ea typeface="Calibri"/>
                  <a:cs typeface="Calibri"/>
                  <a:sym typeface="Calibri"/>
                </a:rPr>
                <a:t>b</a:t>
              </a:r>
              <a:r>
                <a:rPr lang="en-US" sz="2000" baseline="-25000">
                  <a:solidFill>
                    <a:schemeClr val="dk1"/>
                  </a:solidFill>
                  <a:latin typeface="Calibri"/>
                  <a:ea typeface="Calibri"/>
                  <a:cs typeface="Calibri"/>
                  <a:sym typeface="Calibri"/>
                </a:rPr>
                <a:t>5 </a:t>
              </a:r>
              <a:r>
                <a:rPr lang="en-US" sz="20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grpSp>
      <p:cxnSp>
        <p:nvCxnSpPr>
          <p:cNvPr id="1115" name="Google Shape;1115;p29"/>
          <p:cNvCxnSpPr/>
          <p:nvPr/>
        </p:nvCxnSpPr>
        <p:spPr>
          <a:xfrm rot="10800000" flipH="1">
            <a:off x="6324600" y="4675188"/>
            <a:ext cx="2670175" cy="49212"/>
          </a:xfrm>
          <a:prstGeom prst="straightConnector1">
            <a:avLst/>
          </a:prstGeom>
          <a:noFill/>
          <a:ln w="9525" cap="flat" cmpd="sng">
            <a:solidFill>
              <a:schemeClr val="dk1"/>
            </a:solidFill>
            <a:prstDash val="solid"/>
            <a:round/>
            <a:headEnd type="none" w="med" len="med"/>
            <a:tailEnd type="none" w="med" len="med"/>
          </a:ln>
        </p:spPr>
      </p:cxnSp>
      <p:sp>
        <p:nvSpPr>
          <p:cNvPr id="1116" name="Google Shape;1116;p29"/>
          <p:cNvSpPr txBox="1"/>
          <p:nvPr/>
        </p:nvSpPr>
        <p:spPr>
          <a:xfrm>
            <a:off x="2362200" y="5305425"/>
            <a:ext cx="2195513" cy="11874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2"/>
                </a:solidFill>
                <a:latin typeface="Calibri"/>
                <a:ea typeface="Calibri"/>
                <a:cs typeface="Calibri"/>
                <a:sym typeface="Calibri"/>
              </a:rPr>
              <a:t>For S</a:t>
            </a:r>
            <a:r>
              <a:rPr lang="en-US" sz="1800" b="1" baseline="-25000">
                <a:solidFill>
                  <a:schemeClr val="accent2"/>
                </a:solidFill>
                <a:latin typeface="Calibri"/>
                <a:ea typeface="Calibri"/>
                <a:cs typeface="Calibri"/>
                <a:sym typeface="Calibri"/>
              </a:rPr>
              <a:t>5</a:t>
            </a:r>
            <a:r>
              <a:rPr lang="en-US" sz="1800" b="1">
                <a:solidFill>
                  <a:schemeClr val="accent2"/>
                </a:solidFill>
                <a:latin typeface="Calibri"/>
                <a:ea typeface="Calibri"/>
                <a:cs typeface="Calibri"/>
                <a:sym typeface="Calibri"/>
              </a:rPr>
              <a: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Total weight: 20</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total benefit: 26</a:t>
            </a:r>
            <a:endParaRPr/>
          </a:p>
        </p:txBody>
      </p:sp>
      <p:sp>
        <p:nvSpPr>
          <p:cNvPr id="1117" name="Google Shape;1117;p29"/>
          <p:cNvSpPr txBox="1"/>
          <p:nvPr/>
        </p:nvSpPr>
        <p:spPr>
          <a:xfrm>
            <a:off x="5638800" y="5029200"/>
            <a:ext cx="3124200" cy="15541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FF0000"/>
                </a:solidFill>
                <a:latin typeface="Calibri"/>
                <a:ea typeface="Calibri"/>
                <a:cs typeface="Calibri"/>
                <a:sym typeface="Calibri"/>
              </a:rPr>
              <a:t>Solution for S</a:t>
            </a:r>
            <a:r>
              <a:rPr lang="en-US" sz="3200" baseline="-25000">
                <a:solidFill>
                  <a:srgbClr val="FF0000"/>
                </a:solidFill>
                <a:latin typeface="Calibri"/>
                <a:ea typeface="Calibri"/>
                <a:cs typeface="Calibri"/>
                <a:sym typeface="Calibri"/>
              </a:rPr>
              <a:t>4</a:t>
            </a:r>
            <a:r>
              <a:rPr lang="en-US" sz="3200">
                <a:solidFill>
                  <a:srgbClr val="FF0000"/>
                </a:solidFill>
                <a:latin typeface="Calibri"/>
                <a:ea typeface="Calibri"/>
                <a:cs typeface="Calibri"/>
                <a:sym typeface="Calibri"/>
              </a:rPr>
              <a:t> is not part of the solution for S</a:t>
            </a:r>
            <a:r>
              <a:rPr lang="en-US" sz="3200" baseline="-25000">
                <a:solidFill>
                  <a:srgbClr val="FF0000"/>
                </a:solidFill>
                <a:latin typeface="Calibri"/>
                <a:ea typeface="Calibri"/>
                <a:cs typeface="Calibri"/>
                <a:sym typeface="Calibri"/>
              </a:rPr>
              <a:t>5</a:t>
            </a:r>
            <a:r>
              <a:rPr lang="en-US" sz="3200">
                <a:solidFill>
                  <a:srgbClr val="FF0000"/>
                </a:solidFill>
                <a:latin typeface="Calibri"/>
                <a:ea typeface="Calibri"/>
                <a:cs typeface="Calibri"/>
                <a:sym typeface="Calibri"/>
              </a:rPr>
              <a:t>!!!</a:t>
            </a:r>
            <a:endParaRPr sz="1800">
              <a:solidFill>
                <a:srgbClr val="FF0000"/>
              </a:solidFill>
              <a:latin typeface="Calibri"/>
              <a:ea typeface="Calibri"/>
              <a:cs typeface="Calibri"/>
              <a:sym typeface="Calibri"/>
            </a:endParaRPr>
          </a:p>
        </p:txBody>
      </p:sp>
      <p:sp>
        <p:nvSpPr>
          <p:cNvPr id="1118" name="Google Shape;1118;p29"/>
          <p:cNvSpPr txBox="1"/>
          <p:nvPr/>
        </p:nvSpPr>
        <p:spPr>
          <a:xfrm>
            <a:off x="3733800" y="1676400"/>
            <a:ext cx="557213" cy="8239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a:solidFill>
                  <a:srgbClr val="FF0000"/>
                </a:solidFill>
                <a:latin typeface="Arial"/>
                <a:ea typeface="Arial"/>
                <a:cs typeface="Arial"/>
                <a:sym typeface="Arial"/>
              </a:rPr>
              <a:t>?</a:t>
            </a: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30"/>
          <p:cNvSpPr txBox="1">
            <a:spLocks noGrp="1"/>
          </p:cNvSpPr>
          <p:nvPr>
            <p:ph type="title" idx="4294967295"/>
          </p:nvPr>
        </p:nvSpPr>
        <p:spPr>
          <a:xfrm>
            <a:off x="490331" y="172278"/>
            <a:ext cx="8067088" cy="1371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Defining a Subproblem (continued)</a:t>
            </a:r>
            <a:endParaRPr/>
          </a:p>
        </p:txBody>
      </p:sp>
      <p:sp>
        <p:nvSpPr>
          <p:cNvPr id="1124" name="Google Shape;1124;p30"/>
          <p:cNvSpPr txBox="1">
            <a:spLocks noGrp="1"/>
          </p:cNvSpPr>
          <p:nvPr>
            <p:ph type="body" idx="4294967295"/>
          </p:nvPr>
        </p:nvSpPr>
        <p:spPr>
          <a:xfrm>
            <a:off x="738981" y="1782418"/>
            <a:ext cx="7666037" cy="46482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As we have seen, the solution for </a:t>
            </a:r>
            <a:r>
              <a:rPr lang="en-US" i="1"/>
              <a:t>S</a:t>
            </a:r>
            <a:r>
              <a:rPr lang="en-US" i="1" baseline="-25000"/>
              <a:t>4</a:t>
            </a:r>
            <a:r>
              <a:rPr lang="en-US"/>
              <a:t> is not part of the solution for </a:t>
            </a:r>
            <a:r>
              <a:rPr lang="en-US" i="1"/>
              <a:t>S</a:t>
            </a:r>
            <a:r>
              <a:rPr lang="en-US" i="1" baseline="-25000"/>
              <a:t>5</a:t>
            </a:r>
            <a:endParaRPr/>
          </a:p>
          <a:p>
            <a:pPr marL="454025" lvl="0" indent="-454025" algn="l" rtl="0">
              <a:spcBef>
                <a:spcPts val="2000"/>
              </a:spcBef>
              <a:spcAft>
                <a:spcPts val="0"/>
              </a:spcAft>
              <a:buSzPts val="2160"/>
              <a:buChar char="🡽"/>
            </a:pPr>
            <a:r>
              <a:rPr lang="en-US"/>
              <a:t>So, our definition of a subproblem is flawed and we need another one!</a:t>
            </a:r>
            <a:endParaRPr/>
          </a:p>
          <a:p>
            <a:pPr marL="454025" lvl="0" indent="-454025" algn="l" rtl="0">
              <a:spcBef>
                <a:spcPts val="2000"/>
              </a:spcBef>
              <a:spcAft>
                <a:spcPts val="0"/>
              </a:spcAft>
              <a:buSzPts val="2160"/>
              <a:buChar char="🡽"/>
            </a:pPr>
            <a:r>
              <a:rPr lang="en-US"/>
              <a:t>Let’s add another parameter: </a:t>
            </a:r>
            <a:r>
              <a:rPr lang="en-US" i="1"/>
              <a:t>w</a:t>
            </a:r>
            <a:r>
              <a:rPr lang="en-US"/>
              <a:t>, which will represent the </a:t>
            </a:r>
            <a:r>
              <a:rPr lang="en-US" u="sng"/>
              <a:t>exact</a:t>
            </a:r>
            <a:r>
              <a:rPr lang="en-US"/>
              <a:t> weight for each subset of items</a:t>
            </a:r>
            <a:endParaRPr/>
          </a:p>
          <a:p>
            <a:pPr marL="454025" lvl="0" indent="-454025" algn="l" rtl="0">
              <a:spcBef>
                <a:spcPts val="2000"/>
              </a:spcBef>
              <a:spcAft>
                <a:spcPts val="0"/>
              </a:spcAft>
              <a:buSzPts val="2160"/>
              <a:buChar char="🡽"/>
            </a:pPr>
            <a:r>
              <a:rPr lang="en-US">
                <a:solidFill>
                  <a:schemeClr val="accent2"/>
                </a:solidFill>
              </a:rPr>
              <a:t>The subproblem then will be to compute </a:t>
            </a:r>
            <a:r>
              <a:rPr lang="en-US" i="1">
                <a:solidFill>
                  <a:schemeClr val="accent2"/>
                </a:solidFill>
              </a:rPr>
              <a:t>B[k,w]</a:t>
            </a:r>
            <a:endParaRPr sz="4000" baseline="-250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31"/>
          <p:cNvSpPr txBox="1">
            <a:spLocks noGrp="1"/>
          </p:cNvSpPr>
          <p:nvPr>
            <p:ph type="title" idx="4294967295"/>
          </p:nvPr>
        </p:nvSpPr>
        <p:spPr>
          <a:xfrm>
            <a:off x="-152745" y="228600"/>
            <a:ext cx="9037983"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Recursive Formula for subproblems</a:t>
            </a:r>
            <a:endParaRPr/>
          </a:p>
        </p:txBody>
      </p:sp>
      <p:sp>
        <p:nvSpPr>
          <p:cNvPr id="1130" name="Google Shape;1130;p31"/>
          <p:cNvSpPr txBox="1">
            <a:spLocks noGrp="1"/>
          </p:cNvSpPr>
          <p:nvPr>
            <p:ph type="body" idx="4294967295"/>
          </p:nvPr>
        </p:nvSpPr>
        <p:spPr>
          <a:xfrm>
            <a:off x="723900" y="3124200"/>
            <a:ext cx="7696200" cy="32004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It means, that the best subset of </a:t>
            </a:r>
            <a:r>
              <a:rPr lang="en-US" i="1"/>
              <a:t>S</a:t>
            </a:r>
            <a:r>
              <a:rPr lang="en-US" i="1" baseline="-25000"/>
              <a:t>k</a:t>
            </a:r>
            <a:r>
              <a:rPr lang="en-US"/>
              <a:t> that has total weight </a:t>
            </a:r>
            <a:r>
              <a:rPr lang="en-US" i="1"/>
              <a:t>w</a:t>
            </a:r>
            <a:r>
              <a:rPr lang="en-US"/>
              <a:t> is one of the two:</a:t>
            </a:r>
            <a:endParaRPr/>
          </a:p>
          <a:p>
            <a:pPr marL="454025" lvl="0" indent="-454025" algn="l" rtl="0">
              <a:spcBef>
                <a:spcPts val="2000"/>
              </a:spcBef>
              <a:spcAft>
                <a:spcPts val="0"/>
              </a:spcAft>
              <a:buSzPts val="2160"/>
              <a:buFont typeface="Arial"/>
              <a:buNone/>
            </a:pPr>
            <a:r>
              <a:rPr lang="en-US"/>
              <a:t>1) the best subset of </a:t>
            </a:r>
            <a:r>
              <a:rPr lang="en-US" i="1"/>
              <a:t>S</a:t>
            </a:r>
            <a:r>
              <a:rPr lang="en-US" i="1" baseline="-25000"/>
              <a:t>k-1</a:t>
            </a:r>
            <a:r>
              <a:rPr lang="en-US"/>
              <a:t> that has total weight </a:t>
            </a:r>
            <a:r>
              <a:rPr lang="en-US" i="1"/>
              <a:t>w</a:t>
            </a:r>
            <a:r>
              <a:rPr lang="en-US"/>
              <a:t>,    </a:t>
            </a:r>
            <a:r>
              <a:rPr lang="en-US" b="1"/>
              <a:t>or</a:t>
            </a:r>
            <a:endParaRPr/>
          </a:p>
          <a:p>
            <a:pPr marL="454025" lvl="0" indent="-454025" algn="l" rtl="0">
              <a:spcBef>
                <a:spcPts val="2000"/>
              </a:spcBef>
              <a:spcAft>
                <a:spcPts val="0"/>
              </a:spcAft>
              <a:buSzPts val="2160"/>
              <a:buFont typeface="Arial"/>
              <a:buNone/>
            </a:pPr>
            <a:r>
              <a:rPr lang="en-US"/>
              <a:t>2) the best subset of </a:t>
            </a:r>
            <a:r>
              <a:rPr lang="en-US" i="1"/>
              <a:t>S</a:t>
            </a:r>
            <a:r>
              <a:rPr lang="en-US" i="1" baseline="-25000"/>
              <a:t>k-1</a:t>
            </a:r>
            <a:r>
              <a:rPr lang="en-US"/>
              <a:t> that has total weight </a:t>
            </a:r>
            <a:r>
              <a:rPr lang="en-US" i="1"/>
              <a:t>w-w</a:t>
            </a:r>
            <a:r>
              <a:rPr lang="en-US" i="1" baseline="-25000"/>
              <a:t>k</a:t>
            </a:r>
            <a:r>
              <a:rPr lang="en-US"/>
              <a:t> plus the item </a:t>
            </a:r>
            <a:r>
              <a:rPr lang="en-US" i="1"/>
              <a:t>k</a:t>
            </a:r>
            <a:endParaRPr/>
          </a:p>
        </p:txBody>
      </p:sp>
      <p:pic>
        <p:nvPicPr>
          <p:cNvPr id="1131" name="Google Shape;1131;p31"/>
          <p:cNvPicPr preferRelativeResize="0"/>
          <p:nvPr/>
        </p:nvPicPr>
        <p:blipFill rotWithShape="1">
          <a:blip r:embed="rId3">
            <a:alphaModFix/>
          </a:blip>
          <a:srcRect/>
          <a:stretch/>
        </p:blipFill>
        <p:spPr>
          <a:xfrm>
            <a:off x="803413" y="1995487"/>
            <a:ext cx="7924800" cy="1114425"/>
          </a:xfrm>
          <a:prstGeom prst="rect">
            <a:avLst/>
          </a:prstGeom>
          <a:noFill/>
          <a:ln>
            <a:noFill/>
          </a:ln>
        </p:spPr>
      </p:pic>
      <p:sp>
        <p:nvSpPr>
          <p:cNvPr id="1132" name="Google Shape;1132;p31"/>
          <p:cNvSpPr/>
          <p:nvPr/>
        </p:nvSpPr>
        <p:spPr>
          <a:xfrm>
            <a:off x="843170" y="1385888"/>
            <a:ext cx="7666038" cy="6096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accent1"/>
              </a:buClr>
              <a:buSzPts val="1960"/>
              <a:buFont typeface="Arial"/>
              <a:buChar char="●"/>
            </a:pPr>
            <a:r>
              <a:rPr lang="en-US" sz="2800">
                <a:solidFill>
                  <a:schemeClr val="dk1"/>
                </a:solidFill>
                <a:latin typeface="Calibri"/>
                <a:ea typeface="Calibri"/>
                <a:cs typeface="Calibri"/>
                <a:sym typeface="Calibri"/>
              </a:rPr>
              <a:t>Recursive formula for subproblems:</a:t>
            </a:r>
            <a:endParaRPr sz="36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sp>
        <p:nvSpPr>
          <p:cNvPr id="1137" name="Google Shape;1137;p32"/>
          <p:cNvSpPr txBox="1">
            <a:spLocks noGrp="1"/>
          </p:cNvSpPr>
          <p:nvPr>
            <p:ph type="title" idx="4294967295"/>
          </p:nvPr>
        </p:nvSpPr>
        <p:spPr>
          <a:xfrm>
            <a:off x="212033" y="522218"/>
            <a:ext cx="8719930" cy="685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Recursive Formula</a:t>
            </a:r>
            <a:endParaRPr/>
          </a:p>
        </p:txBody>
      </p:sp>
      <p:sp>
        <p:nvSpPr>
          <p:cNvPr id="1138" name="Google Shape;1138;p32"/>
          <p:cNvSpPr txBox="1">
            <a:spLocks noGrp="1"/>
          </p:cNvSpPr>
          <p:nvPr>
            <p:ph type="body" idx="4294967295"/>
          </p:nvPr>
        </p:nvSpPr>
        <p:spPr>
          <a:xfrm>
            <a:off x="475507" y="3220278"/>
            <a:ext cx="8192983" cy="41910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The best subset of </a:t>
            </a:r>
            <a:r>
              <a:rPr lang="en-US" i="1"/>
              <a:t>S</a:t>
            </a:r>
            <a:r>
              <a:rPr lang="en-US" i="1" baseline="-25000"/>
              <a:t>k</a:t>
            </a:r>
            <a:r>
              <a:rPr lang="en-US"/>
              <a:t> that has the total weight </a:t>
            </a:r>
            <a:r>
              <a:rPr lang="en-US" i="1"/>
              <a:t>w,</a:t>
            </a:r>
            <a:r>
              <a:rPr lang="en-US"/>
              <a:t> either contains item </a:t>
            </a:r>
            <a:r>
              <a:rPr lang="en-US" i="1"/>
              <a:t>k</a:t>
            </a:r>
            <a:r>
              <a:rPr lang="en-US"/>
              <a:t> or not.</a:t>
            </a:r>
            <a:endParaRPr/>
          </a:p>
          <a:p>
            <a:pPr marL="454025" lvl="0" indent="-454025" algn="l" rtl="0">
              <a:spcBef>
                <a:spcPts val="2000"/>
              </a:spcBef>
              <a:spcAft>
                <a:spcPts val="0"/>
              </a:spcAft>
              <a:buSzPts val="2160"/>
              <a:buChar char="🡽"/>
            </a:pPr>
            <a:r>
              <a:rPr lang="en-US"/>
              <a:t>First case: </a:t>
            </a:r>
            <a:r>
              <a:rPr lang="en-US" i="1"/>
              <a:t>w</a:t>
            </a:r>
            <a:r>
              <a:rPr lang="en-US" i="1" baseline="-25000"/>
              <a:t>k</a:t>
            </a:r>
            <a:r>
              <a:rPr lang="en-US" i="1"/>
              <a:t>&gt;w</a:t>
            </a:r>
            <a:r>
              <a:rPr lang="en-US"/>
              <a:t>. Item </a:t>
            </a:r>
            <a:r>
              <a:rPr lang="en-US" i="1"/>
              <a:t>k</a:t>
            </a:r>
            <a:r>
              <a:rPr lang="en-US"/>
              <a:t> can’t be part of the solution, since if it was, the total weight would be </a:t>
            </a:r>
            <a:r>
              <a:rPr lang="en-US" i="1"/>
              <a:t>&gt; w</a:t>
            </a:r>
            <a:r>
              <a:rPr lang="en-US"/>
              <a:t>, which is unacceptable</a:t>
            </a:r>
            <a:endParaRPr/>
          </a:p>
          <a:p>
            <a:pPr marL="454025" lvl="0" indent="-454025" algn="l" rtl="0">
              <a:spcBef>
                <a:spcPts val="2000"/>
              </a:spcBef>
              <a:spcAft>
                <a:spcPts val="0"/>
              </a:spcAft>
              <a:buSzPts val="2160"/>
              <a:buChar char="🡽"/>
            </a:pPr>
            <a:r>
              <a:rPr lang="en-US"/>
              <a:t>Second case: </a:t>
            </a:r>
            <a:r>
              <a:rPr lang="en-US" i="1"/>
              <a:t>w</a:t>
            </a:r>
            <a:r>
              <a:rPr lang="en-US" i="1" baseline="-25000"/>
              <a:t>k</a:t>
            </a:r>
            <a:r>
              <a:rPr lang="en-US" i="1"/>
              <a:t> &lt;=w</a:t>
            </a:r>
            <a:r>
              <a:rPr lang="en-US"/>
              <a:t>. Then the item </a:t>
            </a:r>
            <a:r>
              <a:rPr lang="en-US" i="1"/>
              <a:t>k</a:t>
            </a:r>
            <a:r>
              <a:rPr lang="en-US"/>
              <a:t> </a:t>
            </a:r>
            <a:r>
              <a:rPr lang="en-US" u="sng"/>
              <a:t>can</a:t>
            </a:r>
            <a:r>
              <a:rPr lang="en-US"/>
              <a:t> be in the solution, and we choose the case with greater value</a:t>
            </a:r>
            <a:endParaRPr/>
          </a:p>
        </p:txBody>
      </p:sp>
      <p:pic>
        <p:nvPicPr>
          <p:cNvPr id="1139" name="Google Shape;1139;p32"/>
          <p:cNvPicPr preferRelativeResize="0"/>
          <p:nvPr/>
        </p:nvPicPr>
        <p:blipFill rotWithShape="1">
          <a:blip r:embed="rId3">
            <a:alphaModFix/>
          </a:blip>
          <a:srcRect/>
          <a:stretch/>
        </p:blipFill>
        <p:spPr>
          <a:xfrm>
            <a:off x="609599" y="1983891"/>
            <a:ext cx="7924800" cy="1114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33"/>
          <p:cNvSpPr txBox="1">
            <a:spLocks noGrp="1"/>
          </p:cNvSpPr>
          <p:nvPr>
            <p:ph type="title" idx="4294967295"/>
          </p:nvPr>
        </p:nvSpPr>
        <p:spPr>
          <a:xfrm>
            <a:off x="-197126" y="597108"/>
            <a:ext cx="9144000"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400"/>
              <a:buFont typeface="Corbel"/>
              <a:buNone/>
            </a:pPr>
            <a:r>
              <a:rPr lang="en-US" sz="2400" b="1">
                <a:solidFill>
                  <a:schemeClr val="dk1"/>
                </a:solidFill>
              </a:rPr>
              <a:t>The Knapsack Problem And Optimal Substructure</a:t>
            </a:r>
            <a:endParaRPr/>
          </a:p>
        </p:txBody>
      </p:sp>
      <p:sp>
        <p:nvSpPr>
          <p:cNvPr id="1145" name="Google Shape;1145;p33"/>
          <p:cNvSpPr txBox="1">
            <a:spLocks noGrp="1"/>
          </p:cNvSpPr>
          <p:nvPr>
            <p:ph type="body" idx="4294967295"/>
          </p:nvPr>
        </p:nvSpPr>
        <p:spPr>
          <a:xfrm>
            <a:off x="488674" y="1987066"/>
            <a:ext cx="8458200" cy="3412435"/>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Both variations exhibit optimal substructure</a:t>
            </a:r>
            <a:endParaRPr/>
          </a:p>
          <a:p>
            <a:pPr marL="454025" lvl="0" indent="-454025" algn="l" rtl="0">
              <a:spcBef>
                <a:spcPts val="2000"/>
              </a:spcBef>
              <a:spcAft>
                <a:spcPts val="0"/>
              </a:spcAft>
              <a:buSzPts val="2160"/>
              <a:buChar char="🡽"/>
            </a:pPr>
            <a:r>
              <a:rPr lang="en-US"/>
              <a:t>To show this for the 0-1 problem, consider the most valuable load weighing at most </a:t>
            </a:r>
            <a:r>
              <a:rPr lang="en-US" i="1"/>
              <a:t>W</a:t>
            </a:r>
            <a:r>
              <a:rPr lang="en-US"/>
              <a:t> pounds</a:t>
            </a:r>
            <a:endParaRPr/>
          </a:p>
          <a:p>
            <a:pPr marL="914400" lvl="1" indent="-457200" algn="l" rtl="0">
              <a:spcBef>
                <a:spcPts val="600"/>
              </a:spcBef>
              <a:spcAft>
                <a:spcPts val="0"/>
              </a:spcAft>
              <a:buSzPts val="1980"/>
              <a:buChar char="🡽"/>
            </a:pPr>
            <a:r>
              <a:rPr lang="en-US" i="1">
                <a:solidFill>
                  <a:schemeClr val="accent1"/>
                </a:solidFill>
              </a:rPr>
              <a:t>If we remove item j from the load, what do we know about the remaining load?</a:t>
            </a:r>
            <a:endParaRPr/>
          </a:p>
          <a:p>
            <a:pPr marL="914400" lvl="1" indent="-457200" algn="l" rtl="0">
              <a:spcBef>
                <a:spcPts val="600"/>
              </a:spcBef>
              <a:spcAft>
                <a:spcPts val="0"/>
              </a:spcAft>
              <a:buSzPts val="1980"/>
              <a:buChar char="🡽"/>
            </a:pPr>
            <a:r>
              <a:rPr lang="en-US"/>
              <a:t>A: remainder must be the most valuable load weighing at most </a:t>
            </a:r>
            <a:r>
              <a:rPr lang="en-US" i="1"/>
              <a:t>W</a:t>
            </a:r>
            <a:r>
              <a:rPr lang="en-US"/>
              <a:t> - </a:t>
            </a:r>
            <a:r>
              <a:rPr lang="en-US" i="1"/>
              <a:t>w</a:t>
            </a:r>
            <a:r>
              <a:rPr lang="en-US" i="1" baseline="-25000"/>
              <a:t>j</a:t>
            </a:r>
            <a:r>
              <a:rPr lang="en-US" i="1"/>
              <a:t> </a:t>
            </a:r>
            <a:r>
              <a:rPr lang="en-US"/>
              <a:t>that thief could take from museum, excluding item j </a:t>
            </a:r>
            <a:endParaRPr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34"/>
          <p:cNvSpPr txBox="1">
            <a:spLocks noGrp="1"/>
          </p:cNvSpPr>
          <p:nvPr>
            <p:ph type="title" idx="4294967295"/>
          </p:nvPr>
        </p:nvSpPr>
        <p:spPr>
          <a:xfrm>
            <a:off x="0" y="406675"/>
            <a:ext cx="9011478"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Solving The Knapsack Problem</a:t>
            </a:r>
            <a:endParaRPr/>
          </a:p>
        </p:txBody>
      </p:sp>
      <p:sp>
        <p:nvSpPr>
          <p:cNvPr id="1151" name="Google Shape;1151;p34"/>
          <p:cNvSpPr txBox="1">
            <a:spLocks noGrp="1"/>
          </p:cNvSpPr>
          <p:nvPr>
            <p:ph type="body" idx="4294967295"/>
          </p:nvPr>
        </p:nvSpPr>
        <p:spPr>
          <a:xfrm>
            <a:off x="284956" y="1974574"/>
            <a:ext cx="8574088" cy="3992563"/>
          </a:xfrm>
          <a:prstGeom prst="rect">
            <a:avLst/>
          </a:prstGeom>
          <a:noFill/>
          <a:ln>
            <a:noFill/>
          </a:ln>
        </p:spPr>
        <p:txBody>
          <a:bodyPr spcFirstLastPara="1" wrap="square" lIns="91425" tIns="45700" rIns="91425" bIns="45700" anchor="t" anchorCtr="0">
            <a:normAutofit lnSpcReduction="10000"/>
          </a:bodyPr>
          <a:lstStyle/>
          <a:p>
            <a:pPr marL="454025" lvl="0" indent="-454025" algn="l" rtl="0">
              <a:spcBef>
                <a:spcPts val="0"/>
              </a:spcBef>
              <a:spcAft>
                <a:spcPts val="0"/>
              </a:spcAft>
              <a:buSzPts val="2160"/>
              <a:buChar char="🡽"/>
            </a:pPr>
            <a:r>
              <a:rPr lang="en-US"/>
              <a:t>The optimal solution to the fractional knapsack problem can be found with a greedy algorithm</a:t>
            </a:r>
            <a:endParaRPr/>
          </a:p>
          <a:p>
            <a:pPr marL="914400" lvl="1" indent="-457200" algn="l" rtl="0">
              <a:spcBef>
                <a:spcPts val="600"/>
              </a:spcBef>
              <a:spcAft>
                <a:spcPts val="0"/>
              </a:spcAft>
              <a:buSzPts val="1980"/>
              <a:buChar char="🡽"/>
            </a:pPr>
            <a:r>
              <a:rPr lang="en-US" i="1">
                <a:solidFill>
                  <a:schemeClr val="accent1"/>
                </a:solidFill>
              </a:rPr>
              <a:t>How?</a:t>
            </a:r>
            <a:endParaRPr>
              <a:solidFill>
                <a:schemeClr val="accent1"/>
              </a:solidFill>
            </a:endParaRPr>
          </a:p>
          <a:p>
            <a:pPr marL="454025" lvl="0" indent="-454025" algn="l" rtl="0">
              <a:spcBef>
                <a:spcPts val="2000"/>
              </a:spcBef>
              <a:spcAft>
                <a:spcPts val="0"/>
              </a:spcAft>
              <a:buSzPts val="2160"/>
              <a:buChar char="🡽"/>
            </a:pPr>
            <a:r>
              <a:rPr lang="en-US"/>
              <a:t>The optimal solution to the 0-1 problem cannot be found with the same greedy strategy</a:t>
            </a:r>
            <a:endParaRPr/>
          </a:p>
          <a:p>
            <a:pPr marL="914400" lvl="1" indent="-457200" algn="l" rtl="0">
              <a:spcBef>
                <a:spcPts val="600"/>
              </a:spcBef>
              <a:spcAft>
                <a:spcPts val="0"/>
              </a:spcAft>
              <a:buSzPts val="1980"/>
              <a:buChar char="🡽"/>
            </a:pPr>
            <a:r>
              <a:rPr lang="en-US"/>
              <a:t>Greedy strategy: take in order of dollars/pound</a:t>
            </a:r>
            <a:endParaRPr/>
          </a:p>
          <a:p>
            <a:pPr marL="914400" lvl="1" indent="-457200" algn="l" rtl="0">
              <a:spcBef>
                <a:spcPts val="600"/>
              </a:spcBef>
              <a:spcAft>
                <a:spcPts val="0"/>
              </a:spcAft>
              <a:buSzPts val="1980"/>
              <a:buChar char="🡽"/>
            </a:pPr>
            <a:r>
              <a:rPr lang="en-US"/>
              <a:t>Example: 3 items weighing 10, 20, and 30 pounds, knapsack can hold 50 pounds</a:t>
            </a:r>
            <a:endParaRPr/>
          </a:p>
          <a:p>
            <a:pPr marL="1260475" lvl="2" indent="-346075" algn="l" rtl="0">
              <a:spcBef>
                <a:spcPts val="600"/>
              </a:spcBef>
              <a:spcAft>
                <a:spcPts val="0"/>
              </a:spcAft>
              <a:buSzPts val="1800"/>
              <a:buChar char="🡽"/>
            </a:pPr>
            <a:r>
              <a:rPr lang="en-US" i="1">
                <a:solidFill>
                  <a:schemeClr val="accent1"/>
                </a:solidFill>
              </a:rPr>
              <a:t>Suppose item 2 is worth $100.  Assign values to the other items so that the greedy strategy will fail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35"/>
          <p:cNvSpPr txBox="1"/>
          <p:nvPr/>
        </p:nvSpPr>
        <p:spPr>
          <a:xfrm>
            <a:off x="371061" y="6255026"/>
            <a:ext cx="9144000" cy="776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1">
                <a:solidFill>
                  <a:schemeClr val="dk1"/>
                </a:solidFill>
                <a:latin typeface="Arial"/>
                <a:ea typeface="Arial"/>
                <a:cs typeface="Arial"/>
                <a:sym typeface="Arial"/>
              </a:rPr>
              <a:t>Copyright © The McGraw-Hill Companies, Inc. Permission required for reproduction or display.</a:t>
            </a:r>
            <a:endParaRPr sz="900" b="1">
              <a:solidFill>
                <a:schemeClr val="dk1"/>
              </a:solidFill>
              <a:latin typeface="Arial"/>
              <a:ea typeface="Arial"/>
              <a:cs typeface="Arial"/>
              <a:sym typeface="Arial"/>
            </a:endParaRPr>
          </a:p>
          <a:p>
            <a:pPr marL="0" marR="0" lvl="0" indent="0" algn="l" rtl="0">
              <a:spcBef>
                <a:spcPts val="900"/>
              </a:spcBef>
              <a:spcAft>
                <a:spcPts val="0"/>
              </a:spcAft>
              <a:buNone/>
            </a:pPr>
            <a:endParaRPr sz="1800">
              <a:solidFill>
                <a:schemeClr val="dk1"/>
              </a:solidFill>
              <a:latin typeface="Calibri"/>
              <a:ea typeface="Calibri"/>
              <a:cs typeface="Calibri"/>
              <a:sym typeface="Calibri"/>
            </a:endParaRPr>
          </a:p>
        </p:txBody>
      </p:sp>
      <p:pic>
        <p:nvPicPr>
          <p:cNvPr id="1157" name="Google Shape;1157;p35" descr="D:\McGraw-Hill Projects\Cormen\images\fig16-2.gif"/>
          <p:cNvPicPr preferRelativeResize="0"/>
          <p:nvPr/>
        </p:nvPicPr>
        <p:blipFill rotWithShape="1">
          <a:blip r:embed="rId3">
            <a:alphaModFix/>
          </a:blip>
          <a:srcRect/>
          <a:stretch/>
        </p:blipFill>
        <p:spPr>
          <a:xfrm>
            <a:off x="0" y="1434617"/>
            <a:ext cx="9144000" cy="4651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36"/>
          <p:cNvSpPr txBox="1">
            <a:spLocks noGrp="1"/>
          </p:cNvSpPr>
          <p:nvPr>
            <p:ph type="title" idx="4294967295"/>
          </p:nvPr>
        </p:nvSpPr>
        <p:spPr>
          <a:xfrm>
            <a:off x="0" y="381000"/>
            <a:ext cx="9142412" cy="914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400"/>
              <a:buFont typeface="Corbel"/>
              <a:buNone/>
            </a:pPr>
            <a:r>
              <a:rPr lang="en-US" sz="2400" b="1">
                <a:solidFill>
                  <a:schemeClr val="dk1"/>
                </a:solidFill>
              </a:rPr>
              <a:t>The Knapsack Problem: Greedy Vs. Dynamic</a:t>
            </a:r>
            <a:endParaRPr/>
          </a:p>
        </p:txBody>
      </p:sp>
      <p:sp>
        <p:nvSpPr>
          <p:cNvPr id="1163" name="Google Shape;1163;p36"/>
          <p:cNvSpPr txBox="1">
            <a:spLocks noGrp="1"/>
          </p:cNvSpPr>
          <p:nvPr>
            <p:ph type="body" idx="4294967295"/>
          </p:nvPr>
        </p:nvSpPr>
        <p:spPr>
          <a:xfrm>
            <a:off x="447261" y="1709530"/>
            <a:ext cx="8458200" cy="4505739"/>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The fractional problem can be solved greedily</a:t>
            </a:r>
            <a:endParaRPr/>
          </a:p>
          <a:p>
            <a:pPr marL="454025" lvl="0" indent="-454025" algn="l" rtl="0">
              <a:spcBef>
                <a:spcPts val="2000"/>
              </a:spcBef>
              <a:spcAft>
                <a:spcPts val="0"/>
              </a:spcAft>
              <a:buSzPts val="2160"/>
              <a:buChar char="🡽"/>
            </a:pPr>
            <a:r>
              <a:rPr lang="en-US"/>
              <a:t>The 0-1 problem cannot be solved with a greedy approach</a:t>
            </a:r>
            <a:endParaRPr/>
          </a:p>
          <a:p>
            <a:pPr marL="914400" lvl="1" indent="-457200" algn="l" rtl="0">
              <a:spcBef>
                <a:spcPts val="600"/>
              </a:spcBef>
              <a:spcAft>
                <a:spcPts val="0"/>
              </a:spcAft>
              <a:buSzPts val="1980"/>
              <a:buChar char="🡽"/>
            </a:pPr>
            <a:r>
              <a:rPr lang="en-US"/>
              <a:t>As you have seen, however, it can be solved with dynamic programming</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37"/>
          <p:cNvSpPr txBox="1">
            <a:spLocks noGrp="1"/>
          </p:cNvSpPr>
          <p:nvPr>
            <p:ph type="title" idx="4294967295"/>
          </p:nvPr>
        </p:nvSpPr>
        <p:spPr>
          <a:xfrm>
            <a:off x="0" y="418204"/>
            <a:ext cx="9144000" cy="96837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Fractional-knapsack</a:t>
            </a:r>
            <a:endParaRPr/>
          </a:p>
        </p:txBody>
      </p:sp>
      <p:sp>
        <p:nvSpPr>
          <p:cNvPr id="1169" name="Google Shape;1169;p37"/>
          <p:cNvSpPr txBox="1">
            <a:spLocks noGrp="1"/>
          </p:cNvSpPr>
          <p:nvPr>
            <p:ph type="body" idx="4294967295"/>
          </p:nvPr>
        </p:nvSpPr>
        <p:spPr>
          <a:xfrm>
            <a:off x="768626" y="2133600"/>
            <a:ext cx="7805462" cy="3992563"/>
          </a:xfrm>
          <a:prstGeom prst="rect">
            <a:avLst/>
          </a:prstGeom>
          <a:noFill/>
          <a:ln>
            <a:noFill/>
          </a:ln>
        </p:spPr>
        <p:txBody>
          <a:bodyPr spcFirstLastPara="1" wrap="square" lIns="91425" tIns="45700" rIns="91425" bIns="45700" anchor="t" anchorCtr="0">
            <a:normAutofit fontScale="92500" lnSpcReduction="20000"/>
          </a:bodyPr>
          <a:lstStyle/>
          <a:p>
            <a:pPr marL="454025" lvl="0" indent="-454025" algn="l" rtl="0">
              <a:spcBef>
                <a:spcPts val="0"/>
              </a:spcBef>
              <a:spcAft>
                <a:spcPts val="0"/>
              </a:spcAft>
              <a:buSzPct val="90000"/>
              <a:buChar char="🡽"/>
            </a:pPr>
            <a:r>
              <a:rPr lang="en-US" b="1"/>
              <a:t>Greedy-fractional-knapsack (</a:t>
            </a:r>
            <a:r>
              <a:rPr lang="en-US" b="1" i="1"/>
              <a:t>w, v, W</a:t>
            </a:r>
            <a:r>
              <a:rPr lang="en-US" b="1"/>
              <a:t>)</a:t>
            </a:r>
            <a:endParaRPr/>
          </a:p>
          <a:p>
            <a:pPr marL="454025" lvl="0" indent="-454025" algn="l" rtl="0">
              <a:spcBef>
                <a:spcPts val="2000"/>
              </a:spcBef>
              <a:spcAft>
                <a:spcPts val="0"/>
              </a:spcAft>
              <a:buSzPct val="90000"/>
              <a:buChar char="🡽"/>
            </a:pPr>
            <a:r>
              <a:rPr lang="en-US"/>
              <a:t>FOR</a:t>
            </a:r>
            <a:r>
              <a:rPr lang="en-US" i="1"/>
              <a:t> i </a:t>
            </a:r>
            <a:r>
              <a:rPr lang="en-US"/>
              <a:t>=1 to </a:t>
            </a:r>
            <a:r>
              <a:rPr lang="en-US" i="1"/>
              <a:t>n</a:t>
            </a:r>
            <a:br>
              <a:rPr lang="en-US"/>
            </a:br>
            <a:r>
              <a:rPr lang="en-US"/>
              <a:t>    do </a:t>
            </a:r>
            <a:r>
              <a:rPr lang="en-US" i="1"/>
              <a:t>x</a:t>
            </a:r>
            <a:r>
              <a:rPr lang="en-US"/>
              <a:t>[</a:t>
            </a:r>
            <a:r>
              <a:rPr lang="en-US" i="1"/>
              <a:t>i</a:t>
            </a:r>
            <a:r>
              <a:rPr lang="en-US"/>
              <a:t>] =0</a:t>
            </a:r>
            <a:br>
              <a:rPr lang="en-US"/>
            </a:br>
            <a:r>
              <a:rPr lang="en-US"/>
              <a:t>weight = 0</a:t>
            </a:r>
            <a:br>
              <a:rPr lang="en-US"/>
            </a:br>
            <a:r>
              <a:rPr lang="en-US"/>
              <a:t>while weight &lt; </a:t>
            </a:r>
            <a:r>
              <a:rPr lang="en-US" i="1"/>
              <a:t>W</a:t>
            </a:r>
            <a:br>
              <a:rPr lang="en-US"/>
            </a:br>
            <a:r>
              <a:rPr lang="en-US"/>
              <a:t>    do</a:t>
            </a:r>
            <a:r>
              <a:rPr lang="en-US" i="1"/>
              <a:t> i</a:t>
            </a:r>
            <a:r>
              <a:rPr lang="en-US"/>
              <a:t> = best remaining item</a:t>
            </a:r>
            <a:br>
              <a:rPr lang="en-US"/>
            </a:br>
            <a:r>
              <a:rPr lang="en-US"/>
              <a:t>        IF weight + </a:t>
            </a:r>
            <a:r>
              <a:rPr lang="en-US" i="1"/>
              <a:t>w</a:t>
            </a:r>
            <a:r>
              <a:rPr lang="en-US"/>
              <a:t>[</a:t>
            </a:r>
            <a:r>
              <a:rPr lang="en-US" i="1"/>
              <a:t>i</a:t>
            </a:r>
            <a:r>
              <a:rPr lang="en-US"/>
              <a:t>] ≤ </a:t>
            </a:r>
            <a:r>
              <a:rPr lang="en-US" i="1"/>
              <a:t>W</a:t>
            </a:r>
            <a:br>
              <a:rPr lang="en-US"/>
            </a:br>
            <a:r>
              <a:rPr lang="en-US"/>
              <a:t>            then </a:t>
            </a:r>
            <a:r>
              <a:rPr lang="en-US" i="1"/>
              <a:t>x</a:t>
            </a:r>
            <a:r>
              <a:rPr lang="en-US"/>
              <a:t>[</a:t>
            </a:r>
            <a:r>
              <a:rPr lang="en-US" i="1"/>
              <a:t>i</a:t>
            </a:r>
            <a:r>
              <a:rPr lang="en-US"/>
              <a:t>] = 1</a:t>
            </a:r>
            <a:br>
              <a:rPr lang="en-US"/>
            </a:br>
            <a:r>
              <a:rPr lang="en-US"/>
              <a:t>                weight = weight + </a:t>
            </a:r>
            <a:r>
              <a:rPr lang="en-US" i="1"/>
              <a:t>w</a:t>
            </a:r>
            <a:r>
              <a:rPr lang="en-US"/>
              <a:t>[</a:t>
            </a:r>
            <a:r>
              <a:rPr lang="en-US" i="1"/>
              <a:t>i</a:t>
            </a:r>
            <a:r>
              <a:rPr lang="en-US"/>
              <a:t>]</a:t>
            </a:r>
            <a:br>
              <a:rPr lang="en-US"/>
            </a:br>
            <a:r>
              <a:rPr lang="en-US"/>
              <a:t>            else</a:t>
            </a:r>
            <a:br>
              <a:rPr lang="en-US"/>
            </a:br>
            <a:r>
              <a:rPr lang="en-US" i="1"/>
              <a:t>                x</a:t>
            </a:r>
            <a:r>
              <a:rPr lang="en-US"/>
              <a:t>[</a:t>
            </a:r>
            <a:r>
              <a:rPr lang="en-US" i="1"/>
              <a:t>i</a:t>
            </a:r>
            <a:r>
              <a:rPr lang="en-US"/>
              <a:t>] = (</a:t>
            </a:r>
            <a:r>
              <a:rPr lang="en-US" i="1"/>
              <a:t>w</a:t>
            </a:r>
            <a:r>
              <a:rPr lang="en-US"/>
              <a:t> - weight) /</a:t>
            </a:r>
            <a:r>
              <a:rPr lang="en-US" i="1"/>
              <a:t> w</a:t>
            </a:r>
            <a:r>
              <a:rPr lang="en-US"/>
              <a:t>[</a:t>
            </a:r>
            <a:r>
              <a:rPr lang="en-US" i="1"/>
              <a:t>i</a:t>
            </a:r>
            <a:r>
              <a:rPr lang="en-US"/>
              <a:t>]</a:t>
            </a:r>
            <a:br>
              <a:rPr lang="en-US"/>
            </a:br>
            <a:r>
              <a:rPr lang="en-US"/>
              <a:t>                weight = </a:t>
            </a:r>
            <a:r>
              <a:rPr lang="en-US" i="1"/>
              <a:t>W</a:t>
            </a:r>
            <a:br>
              <a:rPr lang="en-US"/>
            </a:br>
            <a:r>
              <a:rPr lang="en-US"/>
              <a:t>return </a:t>
            </a:r>
            <a:r>
              <a:rPr lang="en-US" i="1"/>
              <a:t>x</a:t>
            </a:r>
            <a:endParaRPr/>
          </a:p>
          <a:p>
            <a:pPr marL="454025" lvl="0" indent="-327151" algn="l" rtl="0">
              <a:spcBef>
                <a:spcPts val="2000"/>
              </a:spcBef>
              <a:spcAft>
                <a:spcPts val="0"/>
              </a:spcAft>
              <a:buSzPct val="9000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38"/>
          <p:cNvSpPr txBox="1">
            <a:spLocks noGrp="1"/>
          </p:cNvSpPr>
          <p:nvPr>
            <p:ph type="title" idx="4294967295"/>
          </p:nvPr>
        </p:nvSpPr>
        <p:spPr>
          <a:xfrm>
            <a:off x="738981" y="546652"/>
            <a:ext cx="7772400" cy="762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0-1 Knapsack Algorithm</a:t>
            </a:r>
            <a:endParaRPr/>
          </a:p>
        </p:txBody>
      </p:sp>
      <p:sp>
        <p:nvSpPr>
          <p:cNvPr id="1175" name="Google Shape;1175;p38"/>
          <p:cNvSpPr txBox="1">
            <a:spLocks noGrp="1"/>
          </p:cNvSpPr>
          <p:nvPr>
            <p:ph type="body" idx="4294967295"/>
          </p:nvPr>
        </p:nvSpPr>
        <p:spPr>
          <a:xfrm>
            <a:off x="632619" y="1461052"/>
            <a:ext cx="7878762" cy="4184374"/>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Font typeface="Arial"/>
              <a:buNone/>
            </a:pPr>
            <a:r>
              <a:rPr lang="en-US">
                <a:solidFill>
                  <a:srgbClr val="008000"/>
                </a:solidFill>
              </a:rPr>
              <a:t>for w = 0 to W</a:t>
            </a:r>
            <a:endParaRPr/>
          </a:p>
          <a:p>
            <a:pPr marL="454025" lvl="0" indent="-454025" algn="l" rtl="0">
              <a:spcBef>
                <a:spcPts val="0"/>
              </a:spcBef>
              <a:spcAft>
                <a:spcPts val="0"/>
              </a:spcAft>
              <a:buSzPts val="2160"/>
              <a:buFont typeface="Arial"/>
              <a:buNone/>
            </a:pPr>
            <a:r>
              <a:rPr lang="en-US">
                <a:solidFill>
                  <a:srgbClr val="008000"/>
                </a:solidFill>
              </a:rPr>
              <a:t>	B[0,w] = 0</a:t>
            </a:r>
            <a:endParaRPr/>
          </a:p>
          <a:p>
            <a:pPr marL="454025" lvl="0" indent="-454025" algn="l" rtl="0">
              <a:spcBef>
                <a:spcPts val="0"/>
              </a:spcBef>
              <a:spcAft>
                <a:spcPts val="0"/>
              </a:spcAft>
              <a:buSzPts val="2160"/>
              <a:buFont typeface="Arial"/>
              <a:buNone/>
            </a:pPr>
            <a:r>
              <a:rPr lang="en-US">
                <a:solidFill>
                  <a:srgbClr val="008000"/>
                </a:solidFill>
              </a:rPr>
              <a:t>for i = 0 to n</a:t>
            </a:r>
            <a:endParaRPr/>
          </a:p>
          <a:p>
            <a:pPr marL="454025" lvl="0" indent="-454025" algn="l" rtl="0">
              <a:spcBef>
                <a:spcPts val="0"/>
              </a:spcBef>
              <a:spcAft>
                <a:spcPts val="0"/>
              </a:spcAft>
              <a:buSzPts val="2160"/>
              <a:buFont typeface="Arial"/>
              <a:buNone/>
            </a:pPr>
            <a:r>
              <a:rPr lang="en-US">
                <a:solidFill>
                  <a:srgbClr val="008000"/>
                </a:solidFill>
              </a:rPr>
              <a:t>	B[i,0] = 0</a:t>
            </a:r>
            <a:endParaRPr/>
          </a:p>
          <a:p>
            <a:pPr marL="454025" lvl="0" indent="-454025" algn="l" rtl="0">
              <a:spcBef>
                <a:spcPts val="0"/>
              </a:spcBef>
              <a:spcAft>
                <a:spcPts val="0"/>
              </a:spcAft>
              <a:buSzPts val="2160"/>
              <a:buFont typeface="Arial"/>
              <a:buNone/>
            </a:pPr>
            <a:r>
              <a:rPr lang="en-US">
                <a:solidFill>
                  <a:srgbClr val="008000"/>
                </a:solidFill>
              </a:rPr>
              <a:t>	for w = 0 to W</a:t>
            </a:r>
            <a:endParaRPr/>
          </a:p>
          <a:p>
            <a:pPr marL="454025" lvl="0" indent="-454025" algn="l" rtl="0">
              <a:spcBef>
                <a:spcPts val="0"/>
              </a:spcBef>
              <a:spcAft>
                <a:spcPts val="0"/>
              </a:spcAft>
              <a:buSzPts val="2160"/>
              <a:buFont typeface="Arial"/>
              <a:buNone/>
            </a:pPr>
            <a:r>
              <a:rPr lang="en-US">
                <a:solidFill>
                  <a:srgbClr val="008000"/>
                </a:solidFill>
              </a:rPr>
              <a:t>		if wi &lt;= w // item i can be part of the solution</a:t>
            </a:r>
            <a:endParaRPr/>
          </a:p>
          <a:p>
            <a:pPr marL="454025" lvl="0" indent="-454025" algn="l" rtl="0">
              <a:spcBef>
                <a:spcPts val="0"/>
              </a:spcBef>
              <a:spcAft>
                <a:spcPts val="0"/>
              </a:spcAft>
              <a:buSzPts val="2160"/>
              <a:buFont typeface="Arial"/>
              <a:buNone/>
            </a:pPr>
            <a:r>
              <a:rPr lang="en-US">
                <a:solidFill>
                  <a:srgbClr val="008000"/>
                </a:solidFill>
              </a:rPr>
              <a:t>			if bi + B[i-1,w-wi] &gt; B[i-1,w]</a:t>
            </a:r>
            <a:endParaRPr/>
          </a:p>
          <a:p>
            <a:pPr marL="454025" lvl="0" indent="-454025" algn="l" rtl="0">
              <a:spcBef>
                <a:spcPts val="0"/>
              </a:spcBef>
              <a:spcAft>
                <a:spcPts val="0"/>
              </a:spcAft>
              <a:buSzPts val="2160"/>
              <a:buFont typeface="Arial"/>
              <a:buNone/>
            </a:pPr>
            <a:r>
              <a:rPr lang="en-US">
                <a:solidFill>
                  <a:srgbClr val="008000"/>
                </a:solidFill>
              </a:rPr>
              <a:t>				B[i,w] = bi + B[i-1,w- wi]</a:t>
            </a:r>
            <a:endParaRPr/>
          </a:p>
          <a:p>
            <a:pPr marL="454025" lvl="0" indent="-454025" algn="l" rtl="0">
              <a:spcBef>
                <a:spcPts val="0"/>
              </a:spcBef>
              <a:spcAft>
                <a:spcPts val="0"/>
              </a:spcAft>
              <a:buSzPts val="2160"/>
              <a:buFont typeface="Arial"/>
              <a:buNone/>
            </a:pPr>
            <a:r>
              <a:rPr lang="en-US">
                <a:solidFill>
                  <a:srgbClr val="008000"/>
                </a:solidFill>
              </a:rPr>
              <a:t>			else</a:t>
            </a:r>
            <a:endParaRPr/>
          </a:p>
          <a:p>
            <a:pPr marL="454025" lvl="0" indent="-454025" algn="l" rtl="0">
              <a:spcBef>
                <a:spcPts val="0"/>
              </a:spcBef>
              <a:spcAft>
                <a:spcPts val="0"/>
              </a:spcAft>
              <a:buSzPts val="2160"/>
              <a:buFont typeface="Arial"/>
              <a:buNone/>
            </a:pPr>
            <a:r>
              <a:rPr lang="en-US">
                <a:solidFill>
                  <a:srgbClr val="008000"/>
                </a:solidFill>
              </a:rPr>
              <a:t>				B[i,w] = B[i-1,w]</a:t>
            </a:r>
            <a:endParaRPr/>
          </a:p>
          <a:p>
            <a:pPr marL="454025" lvl="0" indent="-454025" algn="l" rtl="0">
              <a:spcBef>
                <a:spcPts val="0"/>
              </a:spcBef>
              <a:spcAft>
                <a:spcPts val="0"/>
              </a:spcAft>
              <a:buSzPts val="2160"/>
              <a:buFont typeface="Arial"/>
              <a:buNone/>
            </a:pPr>
            <a:r>
              <a:rPr lang="en-US">
                <a:solidFill>
                  <a:srgbClr val="008000"/>
                </a:solidFill>
              </a:rPr>
              <a:t>		else B[i,w] = B[i-1,w]  // wi &gt; w </a:t>
            </a:r>
            <a:endParaRPr/>
          </a:p>
          <a:p>
            <a:pPr marL="454025" lvl="0" indent="-454025" algn="l" rtl="0">
              <a:spcBef>
                <a:spcPts val="2000"/>
              </a:spcBef>
              <a:spcAft>
                <a:spcPts val="0"/>
              </a:spcAft>
              <a:buSzPts val="2160"/>
              <a:buFont typeface="Arial"/>
              <a:buNone/>
            </a:pPr>
            <a:endParaRPr>
              <a:solidFill>
                <a:srgbClr val="008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7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7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7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7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7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9"/>
        <p:cNvGrpSpPr/>
        <p:nvPr/>
      </p:nvGrpSpPr>
      <p:grpSpPr>
        <a:xfrm>
          <a:off x="0" y="0"/>
          <a:ext cx="0" cy="0"/>
          <a:chOff x="0" y="0"/>
          <a:chExt cx="0" cy="0"/>
        </a:xfrm>
      </p:grpSpPr>
      <p:sp>
        <p:nvSpPr>
          <p:cNvPr id="1180" name="Google Shape;1180;p39"/>
          <p:cNvSpPr txBox="1">
            <a:spLocks noGrp="1"/>
          </p:cNvSpPr>
          <p:nvPr>
            <p:ph type="title" idx="4294967295"/>
          </p:nvPr>
        </p:nvSpPr>
        <p:spPr>
          <a:xfrm>
            <a:off x="301487" y="389994"/>
            <a:ext cx="8541026" cy="838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Running time</a:t>
            </a:r>
            <a:endParaRPr/>
          </a:p>
        </p:txBody>
      </p:sp>
      <p:sp>
        <p:nvSpPr>
          <p:cNvPr id="1181" name="Google Shape;1181;p39"/>
          <p:cNvSpPr txBox="1">
            <a:spLocks noGrp="1"/>
          </p:cNvSpPr>
          <p:nvPr>
            <p:ph type="body" idx="4294967295"/>
          </p:nvPr>
        </p:nvSpPr>
        <p:spPr>
          <a:xfrm>
            <a:off x="758687" y="1709116"/>
            <a:ext cx="7772400" cy="3124200"/>
          </a:xfrm>
          <a:prstGeom prst="rect">
            <a:avLst/>
          </a:prstGeom>
          <a:noFill/>
          <a:ln>
            <a:noFill/>
          </a:ln>
        </p:spPr>
        <p:txBody>
          <a:bodyPr spcFirstLastPara="1" wrap="square" lIns="91425" tIns="45700" rIns="91425" bIns="45700" anchor="t" anchorCtr="0">
            <a:normAutofit fontScale="92500" lnSpcReduction="20000"/>
          </a:bodyPr>
          <a:lstStyle/>
          <a:p>
            <a:pPr marL="454025" lvl="0" indent="-454025" algn="l" rtl="0">
              <a:spcBef>
                <a:spcPts val="0"/>
              </a:spcBef>
              <a:spcAft>
                <a:spcPts val="0"/>
              </a:spcAft>
              <a:buSzPct val="90000"/>
              <a:buFont typeface="Arial"/>
              <a:buNone/>
            </a:pPr>
            <a:r>
              <a:rPr lang="en-US"/>
              <a:t>for w = 0 to W</a:t>
            </a:r>
            <a:endParaRPr/>
          </a:p>
          <a:p>
            <a:pPr marL="454025" lvl="0" indent="-454025" algn="l" rtl="0">
              <a:spcBef>
                <a:spcPts val="2000"/>
              </a:spcBef>
              <a:spcAft>
                <a:spcPts val="0"/>
              </a:spcAft>
              <a:buSzPct val="90000"/>
              <a:buFont typeface="Arial"/>
              <a:buNone/>
            </a:pPr>
            <a:r>
              <a:rPr lang="en-US"/>
              <a:t>	B[0,w] = 0</a:t>
            </a:r>
            <a:endParaRPr/>
          </a:p>
          <a:p>
            <a:pPr marL="454025" lvl="0" indent="-454025" algn="l" rtl="0">
              <a:spcBef>
                <a:spcPts val="2000"/>
              </a:spcBef>
              <a:spcAft>
                <a:spcPts val="0"/>
              </a:spcAft>
              <a:buSzPct val="90000"/>
              <a:buFont typeface="Arial"/>
              <a:buNone/>
            </a:pPr>
            <a:r>
              <a:rPr lang="en-US"/>
              <a:t>for i = 0 to n</a:t>
            </a:r>
            <a:endParaRPr/>
          </a:p>
          <a:p>
            <a:pPr marL="454025" lvl="0" indent="-454025" algn="l" rtl="0">
              <a:spcBef>
                <a:spcPts val="2000"/>
              </a:spcBef>
              <a:spcAft>
                <a:spcPts val="0"/>
              </a:spcAft>
              <a:buSzPct val="90000"/>
              <a:buFont typeface="Arial"/>
              <a:buNone/>
            </a:pPr>
            <a:r>
              <a:rPr lang="en-US"/>
              <a:t>	B[i,0] = 0</a:t>
            </a:r>
            <a:endParaRPr/>
          </a:p>
          <a:p>
            <a:pPr marL="454025" lvl="0" indent="-454025" algn="l" rtl="0">
              <a:spcBef>
                <a:spcPts val="2000"/>
              </a:spcBef>
              <a:spcAft>
                <a:spcPts val="0"/>
              </a:spcAft>
              <a:buSzPct val="90000"/>
              <a:buFont typeface="Arial"/>
              <a:buNone/>
            </a:pPr>
            <a:r>
              <a:rPr lang="en-US"/>
              <a:t>	for w = 0 to W</a:t>
            </a:r>
            <a:endParaRPr/>
          </a:p>
          <a:p>
            <a:pPr marL="454025" lvl="0" indent="-454025" algn="l" rtl="0">
              <a:spcBef>
                <a:spcPts val="2000"/>
              </a:spcBef>
              <a:spcAft>
                <a:spcPts val="0"/>
              </a:spcAft>
              <a:buSzPct val="90000"/>
              <a:buFont typeface="Arial"/>
              <a:buNone/>
            </a:pPr>
            <a:r>
              <a:rPr lang="en-US"/>
              <a:t>		&lt; the rest of the code &gt;</a:t>
            </a:r>
            <a:endParaRPr/>
          </a:p>
        </p:txBody>
      </p:sp>
      <p:sp>
        <p:nvSpPr>
          <p:cNvPr id="1182" name="Google Shape;1182;p39"/>
          <p:cNvSpPr txBox="1"/>
          <p:nvPr/>
        </p:nvSpPr>
        <p:spPr>
          <a:xfrm>
            <a:off x="1192212" y="4792662"/>
            <a:ext cx="7216775"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accent2"/>
                </a:solidFill>
                <a:latin typeface="Calibri"/>
                <a:ea typeface="Calibri"/>
                <a:cs typeface="Calibri"/>
                <a:sym typeface="Calibri"/>
              </a:rPr>
              <a:t>What is the running time of this algorithm?</a:t>
            </a:r>
            <a:endParaRPr sz="1800">
              <a:solidFill>
                <a:schemeClr val="dk1"/>
              </a:solidFill>
              <a:latin typeface="Calibri"/>
              <a:ea typeface="Calibri"/>
              <a:cs typeface="Calibri"/>
              <a:sym typeface="Calibri"/>
            </a:endParaRPr>
          </a:p>
        </p:txBody>
      </p:sp>
      <p:sp>
        <p:nvSpPr>
          <p:cNvPr id="1183" name="Google Shape;1183;p39"/>
          <p:cNvSpPr txBox="1"/>
          <p:nvPr/>
        </p:nvSpPr>
        <p:spPr>
          <a:xfrm>
            <a:off x="4572000" y="1679586"/>
            <a:ext cx="108585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i="1">
                <a:solidFill>
                  <a:schemeClr val="accent2"/>
                </a:solidFill>
                <a:latin typeface="Calibri"/>
                <a:ea typeface="Calibri"/>
                <a:cs typeface="Calibri"/>
                <a:sym typeface="Calibri"/>
              </a:rPr>
              <a:t>O(W)</a:t>
            </a:r>
            <a:endParaRPr sz="3200">
              <a:solidFill>
                <a:schemeClr val="accent2"/>
              </a:solidFill>
              <a:latin typeface="Calibri"/>
              <a:ea typeface="Calibri"/>
              <a:cs typeface="Calibri"/>
              <a:sym typeface="Calibri"/>
            </a:endParaRPr>
          </a:p>
        </p:txBody>
      </p:sp>
      <p:sp>
        <p:nvSpPr>
          <p:cNvPr id="1184" name="Google Shape;1184;p39"/>
          <p:cNvSpPr txBox="1"/>
          <p:nvPr/>
        </p:nvSpPr>
        <p:spPr>
          <a:xfrm>
            <a:off x="4986130" y="3934560"/>
            <a:ext cx="1085850"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i="1">
                <a:solidFill>
                  <a:schemeClr val="accent2"/>
                </a:solidFill>
                <a:latin typeface="Calibri"/>
                <a:ea typeface="Calibri"/>
                <a:cs typeface="Calibri"/>
                <a:sym typeface="Calibri"/>
              </a:rPr>
              <a:t>O(W)</a:t>
            </a:r>
            <a:endParaRPr sz="3200">
              <a:solidFill>
                <a:schemeClr val="accent2"/>
              </a:solidFill>
              <a:latin typeface="Calibri"/>
              <a:ea typeface="Calibri"/>
              <a:cs typeface="Calibri"/>
              <a:sym typeface="Calibri"/>
            </a:endParaRPr>
          </a:p>
        </p:txBody>
      </p:sp>
      <p:sp>
        <p:nvSpPr>
          <p:cNvPr id="1185" name="Google Shape;1185;p39"/>
          <p:cNvSpPr txBox="1"/>
          <p:nvPr/>
        </p:nvSpPr>
        <p:spPr>
          <a:xfrm>
            <a:off x="4494971" y="2859443"/>
            <a:ext cx="2601913"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accent2"/>
                </a:solidFill>
                <a:latin typeface="Calibri"/>
                <a:ea typeface="Calibri"/>
                <a:cs typeface="Calibri"/>
                <a:sym typeface="Calibri"/>
              </a:rPr>
              <a:t>Repeat </a:t>
            </a:r>
            <a:r>
              <a:rPr lang="en-US" sz="3200" i="1">
                <a:solidFill>
                  <a:schemeClr val="accent2"/>
                </a:solidFill>
                <a:latin typeface="Calibri"/>
                <a:ea typeface="Calibri"/>
                <a:cs typeface="Calibri"/>
                <a:sym typeface="Calibri"/>
              </a:rPr>
              <a:t>n</a:t>
            </a:r>
            <a:r>
              <a:rPr lang="en-US" sz="3200">
                <a:solidFill>
                  <a:schemeClr val="accent2"/>
                </a:solidFill>
                <a:latin typeface="Calibri"/>
                <a:ea typeface="Calibri"/>
                <a:cs typeface="Calibri"/>
                <a:sym typeface="Calibri"/>
              </a:rPr>
              <a:t> times</a:t>
            </a:r>
            <a:endParaRPr/>
          </a:p>
        </p:txBody>
      </p:sp>
      <p:sp>
        <p:nvSpPr>
          <p:cNvPr id="1186" name="Google Shape;1186;p39"/>
          <p:cNvSpPr txBox="1"/>
          <p:nvPr/>
        </p:nvSpPr>
        <p:spPr>
          <a:xfrm>
            <a:off x="1951383" y="5372100"/>
            <a:ext cx="1538288" cy="579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chemeClr val="accent2"/>
                </a:solidFill>
                <a:latin typeface="Calibri"/>
                <a:ea typeface="Calibri"/>
                <a:cs typeface="Calibri"/>
                <a:sym typeface="Calibri"/>
              </a:rPr>
              <a:t>O(n*W)</a:t>
            </a:r>
            <a:endParaRPr/>
          </a:p>
        </p:txBody>
      </p:sp>
      <p:sp>
        <p:nvSpPr>
          <p:cNvPr id="1187" name="Google Shape;1187;p39"/>
          <p:cNvSpPr txBox="1"/>
          <p:nvPr/>
        </p:nvSpPr>
        <p:spPr>
          <a:xfrm>
            <a:off x="145774" y="5970083"/>
            <a:ext cx="8998226"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Remember that the brute-force algorithm takes O(2</a:t>
            </a:r>
            <a:r>
              <a:rPr lang="en-US" sz="2400" baseline="30000">
                <a:solidFill>
                  <a:schemeClr val="dk1"/>
                </a:solidFill>
                <a:latin typeface="Calibri"/>
                <a:ea typeface="Calibri"/>
                <a:cs typeface="Calibri"/>
                <a:sym typeface="Calibri"/>
              </a:rPr>
              <a:t>n</a:t>
            </a:r>
            <a:r>
              <a:rPr lang="en-US" sz="2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91"/>
        <p:cNvGrpSpPr/>
        <p:nvPr/>
      </p:nvGrpSpPr>
      <p:grpSpPr>
        <a:xfrm>
          <a:off x="0" y="0"/>
          <a:ext cx="0" cy="0"/>
          <a:chOff x="0" y="0"/>
          <a:chExt cx="0" cy="0"/>
        </a:xfrm>
      </p:grpSpPr>
      <p:sp>
        <p:nvSpPr>
          <p:cNvPr id="1192" name="Google Shape;1192;p40"/>
          <p:cNvSpPr txBox="1">
            <a:spLocks noGrp="1"/>
          </p:cNvSpPr>
          <p:nvPr>
            <p:ph type="title" idx="4294967295"/>
          </p:nvPr>
        </p:nvSpPr>
        <p:spPr>
          <a:xfrm>
            <a:off x="685800" y="631963"/>
            <a:ext cx="7772400" cy="609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Example</a:t>
            </a:r>
            <a:endParaRPr/>
          </a:p>
        </p:txBody>
      </p:sp>
      <p:sp>
        <p:nvSpPr>
          <p:cNvPr id="1193" name="Google Shape;1193;p40"/>
          <p:cNvSpPr txBox="1"/>
          <p:nvPr/>
        </p:nvSpPr>
        <p:spPr>
          <a:xfrm>
            <a:off x="1033668" y="1809888"/>
            <a:ext cx="7540487" cy="393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a:solidFill>
                  <a:schemeClr val="accent2"/>
                </a:solidFill>
                <a:latin typeface="Calibri"/>
                <a:ea typeface="Calibri"/>
                <a:cs typeface="Calibri"/>
                <a:sym typeface="Calibri"/>
              </a:rPr>
              <a:t>Let’s run our algorithm on the </a:t>
            </a:r>
            <a:endParaRPr/>
          </a:p>
          <a:p>
            <a:pPr marL="0" marR="0" lvl="0" indent="0" algn="l" rtl="0">
              <a:spcBef>
                <a:spcPts val="0"/>
              </a:spcBef>
              <a:spcAft>
                <a:spcPts val="0"/>
              </a:spcAft>
              <a:buNone/>
            </a:pPr>
            <a:r>
              <a:rPr lang="en-US" sz="3600">
                <a:solidFill>
                  <a:schemeClr val="accent2"/>
                </a:solidFill>
                <a:latin typeface="Calibri"/>
                <a:ea typeface="Calibri"/>
                <a:cs typeface="Calibri"/>
                <a:sym typeface="Calibri"/>
              </a:rPr>
              <a:t>following data:</a:t>
            </a:r>
            <a:endParaRPr/>
          </a:p>
          <a:p>
            <a:pPr marL="0" marR="0" lvl="0" indent="0" algn="l" rtl="0">
              <a:spcBef>
                <a:spcPts val="0"/>
              </a:spcBef>
              <a:spcAft>
                <a:spcPts val="0"/>
              </a:spcAft>
              <a:buNone/>
            </a:pPr>
            <a:endParaRPr sz="3600">
              <a:solidFill>
                <a:schemeClr val="dk1"/>
              </a:solidFill>
              <a:latin typeface="Calibri"/>
              <a:ea typeface="Calibri"/>
              <a:cs typeface="Calibri"/>
              <a:sym typeface="Calibri"/>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n = 4 (# of elements)</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W = 5 (max weight)</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Elements (weight, benefit):</a:t>
            </a:r>
            <a:endParaRPr/>
          </a:p>
          <a:p>
            <a:pPr marL="0" marR="0" lvl="0" indent="0" algn="l" rtl="0">
              <a:spcBef>
                <a:spcPts val="0"/>
              </a:spcBef>
              <a:spcAft>
                <a:spcPts val="0"/>
              </a:spcAft>
              <a:buNone/>
            </a:pPr>
            <a:r>
              <a:rPr lang="en-US" sz="3600">
                <a:solidFill>
                  <a:schemeClr val="dk1"/>
                </a:solidFill>
                <a:latin typeface="Calibri"/>
                <a:ea typeface="Calibri"/>
                <a:cs typeface="Calibri"/>
                <a:sym typeface="Calibri"/>
              </a:rPr>
              <a:t>(2,3), (3,4), (4,5), (5,6)</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p41"/>
          <p:cNvSpPr txBox="1">
            <a:spLocks noGrp="1"/>
          </p:cNvSpPr>
          <p:nvPr>
            <p:ph type="title"/>
          </p:nvPr>
        </p:nvSpPr>
        <p:spPr>
          <a:xfrm>
            <a:off x="159026" y="304800"/>
            <a:ext cx="8756374"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(2)</a:t>
            </a:r>
            <a:endParaRPr/>
          </a:p>
        </p:txBody>
      </p:sp>
      <p:cxnSp>
        <p:nvCxnSpPr>
          <p:cNvPr id="1199" name="Google Shape;1199;p41"/>
          <p:cNvCxnSpPr/>
          <p:nvPr/>
        </p:nvCxnSpPr>
        <p:spPr>
          <a:xfrm>
            <a:off x="4648200" y="1524000"/>
            <a:ext cx="0" cy="3657600"/>
          </a:xfrm>
          <a:prstGeom prst="straightConnector1">
            <a:avLst/>
          </a:prstGeom>
          <a:noFill/>
          <a:ln>
            <a:noFill/>
          </a:ln>
        </p:spPr>
      </p:cxnSp>
      <p:sp>
        <p:nvSpPr>
          <p:cNvPr id="1200" name="Google Shape;1200;p41"/>
          <p:cNvSpPr txBox="1"/>
          <p:nvPr/>
        </p:nvSpPr>
        <p:spPr>
          <a:xfrm>
            <a:off x="1752600" y="4724400"/>
            <a:ext cx="3429000" cy="946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for w = 0 to W</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	B[0,w] = 0</a:t>
            </a:r>
            <a:endParaRPr/>
          </a:p>
        </p:txBody>
      </p:sp>
      <p:cxnSp>
        <p:nvCxnSpPr>
          <p:cNvPr id="1201" name="Google Shape;1201;p41"/>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02" name="Google Shape;1202;p41"/>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3" name="Google Shape;1203;p41"/>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4" name="Google Shape;1204;p41"/>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5" name="Google Shape;1205;p41"/>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6" name="Google Shape;1206;p41"/>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7" name="Google Shape;1207;p41"/>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8" name="Google Shape;1208;p41"/>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09" name="Google Shape;1209;p41"/>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10" name="Google Shape;1210;p41"/>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11" name="Google Shape;1211;p41"/>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12" name="Google Shape;1212;p41"/>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13" name="Google Shape;1213;p41"/>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214" name="Google Shape;1214;p41"/>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15" name="Google Shape;1215;p41"/>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16" name="Google Shape;1216;p41"/>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17" name="Google Shape;1217;p41"/>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18" name="Google Shape;1218;p41"/>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19" name="Google Shape;1219;p41"/>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20" name="Google Shape;1220;p41"/>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221" name="Google Shape;1221;p41"/>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22" name="Google Shape;1222;p41"/>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223" name="Google Shape;1223;p41"/>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224" name="Google Shape;1224;p41"/>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225" name="Google Shape;1225;p41"/>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226" name="Google Shape;1226;p41"/>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227" name="Google Shape;1227;p41"/>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228" name="Google Shape;1228;p41"/>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29" name="Google Shape;1229;p41"/>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230" name="Google Shape;1230;p41"/>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231" name="Google Shape;1231;p41"/>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232" name="Google Shape;1232;p41"/>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pic>
        <p:nvPicPr>
          <p:cNvPr id="1233" name="Google Shape;1233;p41"/>
          <p:cNvPicPr preferRelativeResize="0"/>
          <p:nvPr/>
        </p:nvPicPr>
        <p:blipFill rotWithShape="1">
          <a:blip r:embed="rId3">
            <a:alphaModFix/>
          </a:blip>
          <a:srcRect/>
          <a:stretch/>
        </p:blipFill>
        <p:spPr>
          <a:xfrm>
            <a:off x="957093" y="6019800"/>
            <a:ext cx="3908764" cy="5496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p42"/>
          <p:cNvSpPr txBox="1">
            <a:spLocks noGrp="1"/>
          </p:cNvSpPr>
          <p:nvPr>
            <p:ph type="title"/>
          </p:nvPr>
        </p:nvSpPr>
        <p:spPr>
          <a:xfrm>
            <a:off x="0" y="304800"/>
            <a:ext cx="89154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(3)</a:t>
            </a:r>
            <a:endParaRPr/>
          </a:p>
        </p:txBody>
      </p:sp>
      <p:cxnSp>
        <p:nvCxnSpPr>
          <p:cNvPr id="1239" name="Google Shape;1239;p42"/>
          <p:cNvCxnSpPr/>
          <p:nvPr/>
        </p:nvCxnSpPr>
        <p:spPr>
          <a:xfrm>
            <a:off x="4648200" y="1524000"/>
            <a:ext cx="0" cy="3657600"/>
          </a:xfrm>
          <a:prstGeom prst="straightConnector1">
            <a:avLst/>
          </a:prstGeom>
          <a:noFill/>
          <a:ln>
            <a:noFill/>
          </a:ln>
        </p:spPr>
      </p:cxnSp>
      <p:sp>
        <p:nvSpPr>
          <p:cNvPr id="1240" name="Google Shape;1240;p42"/>
          <p:cNvSpPr txBox="1"/>
          <p:nvPr/>
        </p:nvSpPr>
        <p:spPr>
          <a:xfrm>
            <a:off x="1752600" y="4724400"/>
            <a:ext cx="3429000" cy="946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for i = 0 to n</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	B[i,0] = 0</a:t>
            </a:r>
            <a:endParaRPr/>
          </a:p>
        </p:txBody>
      </p:sp>
      <p:cxnSp>
        <p:nvCxnSpPr>
          <p:cNvPr id="1241" name="Google Shape;1241;p42"/>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42" name="Google Shape;1242;p42"/>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3" name="Google Shape;1243;p42"/>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4" name="Google Shape;1244;p42"/>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5" name="Google Shape;1245;p42"/>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6" name="Google Shape;1246;p42"/>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7" name="Google Shape;1247;p42"/>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8" name="Google Shape;1248;p42"/>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49" name="Google Shape;1249;p42"/>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50" name="Google Shape;1250;p42"/>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51" name="Google Shape;1251;p42"/>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52" name="Google Shape;1252;p42"/>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53" name="Google Shape;1253;p42"/>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254" name="Google Shape;1254;p42"/>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55" name="Google Shape;1255;p42"/>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56" name="Google Shape;1256;p42"/>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57" name="Google Shape;1257;p42"/>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58" name="Google Shape;1258;p42"/>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59" name="Google Shape;1259;p42"/>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60" name="Google Shape;1260;p42"/>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261" name="Google Shape;1261;p42"/>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62" name="Google Shape;1262;p42"/>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263" name="Google Shape;1263;p42"/>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264" name="Google Shape;1264;p42"/>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265" name="Google Shape;1265;p42"/>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266" name="Google Shape;1266;p42"/>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267" name="Google Shape;1267;p42"/>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268" name="Google Shape;1268;p42"/>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69" name="Google Shape;1269;p42"/>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270" name="Google Shape;1270;p42"/>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271" name="Google Shape;1271;p42"/>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272" name="Google Shape;1272;p42"/>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73" name="Google Shape;1273;p42"/>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74" name="Google Shape;1274;p42"/>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75" name="Google Shape;1275;p42"/>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76" name="Google Shape;1276;p42"/>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pic>
        <p:nvPicPr>
          <p:cNvPr id="1277" name="Google Shape;1277;p42"/>
          <p:cNvPicPr preferRelativeResize="0"/>
          <p:nvPr/>
        </p:nvPicPr>
        <p:blipFill rotWithShape="1">
          <a:blip r:embed="rId3">
            <a:alphaModFix/>
          </a:blip>
          <a:srcRect/>
          <a:stretch/>
        </p:blipFill>
        <p:spPr>
          <a:xfrm>
            <a:off x="957093" y="6019800"/>
            <a:ext cx="3908764" cy="5496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7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43"/>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(4)</a:t>
            </a:r>
            <a:endParaRPr/>
          </a:p>
        </p:txBody>
      </p:sp>
      <p:cxnSp>
        <p:nvCxnSpPr>
          <p:cNvPr id="1283" name="Google Shape;1283;p43"/>
          <p:cNvCxnSpPr/>
          <p:nvPr/>
        </p:nvCxnSpPr>
        <p:spPr>
          <a:xfrm>
            <a:off x="4648200" y="1524000"/>
            <a:ext cx="0" cy="3657600"/>
          </a:xfrm>
          <a:prstGeom prst="straightConnector1">
            <a:avLst/>
          </a:prstGeom>
          <a:noFill/>
          <a:ln>
            <a:noFill/>
          </a:ln>
        </p:spPr>
      </p:cxnSp>
      <p:sp>
        <p:nvSpPr>
          <p:cNvPr id="1284" name="Google Shape;1284;p43"/>
          <p:cNvSpPr txBox="1"/>
          <p:nvPr/>
        </p:nvSpPr>
        <p:spPr>
          <a:xfrm>
            <a:off x="1716088" y="4392612"/>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&lt;= w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 </a:t>
            </a:r>
            <a:r>
              <a:rPr lang="en-US" sz="2000" b="1" i="0" u="none" strike="noStrike" cap="none">
                <a:solidFill>
                  <a:srgbClr val="000000"/>
                </a:solidFill>
                <a:latin typeface="Calibri"/>
                <a:ea typeface="Calibri"/>
                <a:cs typeface="Calibri"/>
                <a:sym typeface="Calibri"/>
              </a:rPr>
              <a:t>B[i,w] = B[i-1,w]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285" name="Google Shape;1285;p43"/>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86" name="Google Shape;1286;p43"/>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87" name="Google Shape;1287;p43"/>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88" name="Google Shape;1288;p43"/>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89" name="Google Shape;1289;p43"/>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90" name="Google Shape;1290;p43"/>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91" name="Google Shape;1291;p43"/>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92" name="Google Shape;1292;p43"/>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293" name="Google Shape;1293;p43"/>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94" name="Google Shape;1294;p43"/>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95" name="Google Shape;1295;p43"/>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96" name="Google Shape;1296;p43"/>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297" name="Google Shape;1297;p43"/>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298" name="Google Shape;1298;p43"/>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299" name="Google Shape;1299;p43"/>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00" name="Google Shape;1300;p43"/>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01" name="Google Shape;1301;p43"/>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02" name="Google Shape;1302;p43"/>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03" name="Google Shape;1303;p43"/>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04" name="Google Shape;1304;p43"/>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305" name="Google Shape;1305;p43"/>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06" name="Google Shape;1306;p43"/>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307" name="Google Shape;1307;p43"/>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308" name="Google Shape;1308;p43"/>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309" name="Google Shape;1309;p43"/>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310" name="Google Shape;1310;p43"/>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311" name="Google Shape;1311;p43"/>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312" name="Google Shape;1312;p43"/>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13" name="Google Shape;1313;p43"/>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314" name="Google Shape;1314;p43"/>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315" name="Google Shape;1315;p43"/>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316" name="Google Shape;1316;p43"/>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17" name="Google Shape;1317;p43"/>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18" name="Google Shape;1318;p43"/>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19" name="Google Shape;1319;p43"/>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20" name="Google Shape;1320;p43"/>
          <p:cNvSpPr txBox="1"/>
          <p:nvPr/>
        </p:nvSpPr>
        <p:spPr>
          <a:xfrm>
            <a:off x="6172200" y="1752600"/>
            <a:ext cx="1470025"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i=1</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1</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 =-1</a:t>
            </a:r>
            <a:endParaRPr/>
          </a:p>
        </p:txBody>
      </p:sp>
      <p:sp>
        <p:nvSpPr>
          <p:cNvPr id="1321" name="Google Shape;1321;p43"/>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322" name="Google Shape;1322;p43"/>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323" name="Google Shape;1323;p43"/>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0" i="0" u="none" strike="noStrike" cap="none">
                <a:solidFill>
                  <a:srgbClr val="FF0000"/>
                </a:solidFill>
                <a:latin typeface="Calibri"/>
                <a:ea typeface="Calibri"/>
                <a:cs typeface="Calibri"/>
                <a:sym typeface="Calibri"/>
              </a:rPr>
              <a:t>0</a:t>
            </a:r>
            <a:endParaRPr/>
          </a:p>
        </p:txBody>
      </p:sp>
      <p:sp>
        <p:nvSpPr>
          <p:cNvPr id="1324" name="Google Shape;1324;p43"/>
          <p:cNvSpPr/>
          <p:nvPr/>
        </p:nvSpPr>
        <p:spPr>
          <a:xfrm>
            <a:off x="7239000" y="6858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cxnSp>
        <p:nvCxnSpPr>
          <p:cNvPr id="1325" name="Google Shape;1325;p43"/>
          <p:cNvCxnSpPr/>
          <p:nvPr/>
        </p:nvCxnSpPr>
        <p:spPr>
          <a:xfrm>
            <a:off x="2362200" y="2209800"/>
            <a:ext cx="304800" cy="0"/>
          </a:xfrm>
          <a:prstGeom prst="straightConnector1">
            <a:avLst/>
          </a:prstGeom>
          <a:noFill/>
          <a:ln w="38100" cap="flat" cmpd="sng">
            <a:solidFill>
              <a:schemeClr val="dk1"/>
            </a:solidFill>
            <a:prstDash val="solid"/>
            <a:round/>
            <a:headEnd type="none" w="med" len="med"/>
            <a:tailEnd type="triangle" w="med" len="med"/>
          </a:ln>
        </p:spPr>
      </p:cxnSp>
      <p:pic>
        <p:nvPicPr>
          <p:cNvPr id="1326" name="Google Shape;1326;p43"/>
          <p:cNvPicPr preferRelativeResize="0"/>
          <p:nvPr/>
        </p:nvPicPr>
        <p:blipFill rotWithShape="1">
          <a:blip r:embed="rId3">
            <a:alphaModFix/>
          </a:blip>
          <a:srcRect/>
          <a:stretch/>
        </p:blipFill>
        <p:spPr>
          <a:xfrm>
            <a:off x="2056348" y="6340475"/>
            <a:ext cx="3908764" cy="5496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44"/>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(5)</a:t>
            </a:r>
            <a:endParaRPr/>
          </a:p>
        </p:txBody>
      </p:sp>
      <p:cxnSp>
        <p:nvCxnSpPr>
          <p:cNvPr id="1332" name="Google Shape;1332;p44"/>
          <p:cNvCxnSpPr/>
          <p:nvPr/>
        </p:nvCxnSpPr>
        <p:spPr>
          <a:xfrm>
            <a:off x="4648200" y="1524000"/>
            <a:ext cx="0" cy="3657600"/>
          </a:xfrm>
          <a:prstGeom prst="straightConnector1">
            <a:avLst/>
          </a:prstGeom>
          <a:noFill/>
          <a:ln>
            <a:noFill/>
          </a:ln>
        </p:spPr>
      </p:cxnSp>
      <p:sp>
        <p:nvSpPr>
          <p:cNvPr id="1333" name="Google Shape;1333;p44"/>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sz="20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334" name="Google Shape;1334;p44"/>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35" name="Google Shape;1335;p44"/>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36" name="Google Shape;1336;p44"/>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37" name="Google Shape;1337;p44"/>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38" name="Google Shape;1338;p44"/>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39" name="Google Shape;1339;p44"/>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40" name="Google Shape;1340;p44"/>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41" name="Google Shape;1341;p44"/>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42" name="Google Shape;1342;p44"/>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43" name="Google Shape;1343;p44"/>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44" name="Google Shape;1344;p44"/>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45" name="Google Shape;1345;p44"/>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46" name="Google Shape;1346;p44"/>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347" name="Google Shape;1347;p44"/>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48" name="Google Shape;1348;p44"/>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49" name="Google Shape;1349;p44"/>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50" name="Google Shape;1350;p44"/>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51" name="Google Shape;1351;p44"/>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52" name="Google Shape;1352;p44"/>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53" name="Google Shape;1353;p44"/>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354" name="Google Shape;1354;p44"/>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55" name="Google Shape;1355;p44"/>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356" name="Google Shape;1356;p44"/>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357" name="Google Shape;1357;p44"/>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358" name="Google Shape;1358;p44"/>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359" name="Google Shape;1359;p44"/>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360" name="Google Shape;1360;p44"/>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361" name="Google Shape;1361;p44"/>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62" name="Google Shape;1362;p44"/>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363" name="Google Shape;1363;p44"/>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364" name="Google Shape;1364;p44"/>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365" name="Google Shape;1365;p44"/>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66" name="Google Shape;1366;p44"/>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67" name="Google Shape;1367;p44"/>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68" name="Google Shape;1368;p44"/>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69" name="Google Shape;1369;p44"/>
          <p:cNvSpPr txBox="1"/>
          <p:nvPr/>
        </p:nvSpPr>
        <p:spPr>
          <a:xfrm>
            <a:off x="6172200" y="1752600"/>
            <a:ext cx="1350963"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i=1</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2</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 =0</a:t>
            </a:r>
            <a:endParaRPr/>
          </a:p>
        </p:txBody>
      </p:sp>
      <p:sp>
        <p:nvSpPr>
          <p:cNvPr id="1370" name="Google Shape;1370;p44"/>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371" name="Google Shape;1371;p44"/>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372" name="Google Shape;1372;p44"/>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73" name="Google Shape;1373;p44"/>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cxnSp>
        <p:nvCxnSpPr>
          <p:cNvPr id="1374" name="Google Shape;1374;p44"/>
          <p:cNvCxnSpPr/>
          <p:nvPr/>
        </p:nvCxnSpPr>
        <p:spPr>
          <a:xfrm>
            <a:off x="2362200" y="1828800"/>
            <a:ext cx="381000" cy="762000"/>
          </a:xfrm>
          <a:prstGeom prst="straightConnector1">
            <a:avLst/>
          </a:prstGeom>
          <a:noFill/>
          <a:ln w="38100" cap="flat" cmpd="sng">
            <a:solidFill>
              <a:schemeClr val="dk1"/>
            </a:solidFill>
            <a:prstDash val="solid"/>
            <a:round/>
            <a:headEnd type="none" w="med" len="med"/>
            <a:tailEnd type="triangle" w="med" len="med"/>
          </a:ln>
        </p:spPr>
      </p:cxnSp>
      <p:sp>
        <p:nvSpPr>
          <p:cNvPr id="1375" name="Google Shape;1375;p44"/>
          <p:cNvSpPr/>
          <p:nvPr/>
        </p:nvSpPr>
        <p:spPr>
          <a:xfrm>
            <a:off x="7239000" y="6858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376" name="Google Shape;1376;p44"/>
          <p:cNvPicPr preferRelativeResize="0"/>
          <p:nvPr/>
        </p:nvPicPr>
        <p:blipFill rotWithShape="1">
          <a:blip r:embed="rId3">
            <a:alphaModFix/>
          </a:blip>
          <a:srcRect/>
          <a:stretch/>
        </p:blipFill>
        <p:spPr>
          <a:xfrm>
            <a:off x="2056348" y="6340475"/>
            <a:ext cx="3908764" cy="5496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80"/>
        <p:cNvGrpSpPr/>
        <p:nvPr/>
      </p:nvGrpSpPr>
      <p:grpSpPr>
        <a:xfrm>
          <a:off x="0" y="0"/>
          <a:ext cx="0" cy="0"/>
          <a:chOff x="0" y="0"/>
          <a:chExt cx="0" cy="0"/>
        </a:xfrm>
      </p:grpSpPr>
      <p:sp>
        <p:nvSpPr>
          <p:cNvPr id="1381" name="Google Shape;1381;p45"/>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(6)</a:t>
            </a:r>
            <a:endParaRPr/>
          </a:p>
        </p:txBody>
      </p:sp>
      <p:cxnSp>
        <p:nvCxnSpPr>
          <p:cNvPr id="1382" name="Google Shape;1382;p45"/>
          <p:cNvCxnSpPr/>
          <p:nvPr/>
        </p:nvCxnSpPr>
        <p:spPr>
          <a:xfrm>
            <a:off x="4648200" y="1524000"/>
            <a:ext cx="0" cy="3657600"/>
          </a:xfrm>
          <a:prstGeom prst="straightConnector1">
            <a:avLst/>
          </a:prstGeom>
          <a:noFill/>
          <a:ln>
            <a:noFill/>
          </a:ln>
        </p:spPr>
      </p:cxnSp>
      <p:sp>
        <p:nvSpPr>
          <p:cNvPr id="1383" name="Google Shape;1383;p45"/>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384" name="Google Shape;1384;p45"/>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85" name="Google Shape;1385;p45"/>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86" name="Google Shape;1386;p45"/>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87" name="Google Shape;1387;p45"/>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88" name="Google Shape;1388;p45"/>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89" name="Google Shape;1389;p45"/>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90" name="Google Shape;1390;p45"/>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91" name="Google Shape;1391;p45"/>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392" name="Google Shape;1392;p45"/>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93" name="Google Shape;1393;p45"/>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94" name="Google Shape;1394;p45"/>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95" name="Google Shape;1395;p45"/>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396" name="Google Shape;1396;p45"/>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397" name="Google Shape;1397;p45"/>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98" name="Google Shape;1398;p45"/>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399" name="Google Shape;1399;p45"/>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00" name="Google Shape;1400;p45"/>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01" name="Google Shape;1401;p45"/>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02" name="Google Shape;1402;p45"/>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03" name="Google Shape;1403;p45"/>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404" name="Google Shape;1404;p45"/>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05" name="Google Shape;1405;p45"/>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406" name="Google Shape;1406;p45"/>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407" name="Google Shape;1407;p45"/>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408" name="Google Shape;1408;p45"/>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409" name="Google Shape;1409;p45"/>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410" name="Google Shape;1410;p45"/>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411" name="Google Shape;1411;p45"/>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12" name="Google Shape;1412;p45"/>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413" name="Google Shape;1413;p45"/>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414" name="Google Shape;1414;p45"/>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415" name="Google Shape;1415;p45"/>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16" name="Google Shape;1416;p45"/>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17" name="Google Shape;1417;p45"/>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18" name="Google Shape;1418;p45"/>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19" name="Google Shape;1419;p45"/>
          <p:cNvSpPr txBox="1"/>
          <p:nvPr/>
        </p:nvSpPr>
        <p:spPr>
          <a:xfrm>
            <a:off x="6172200" y="1752600"/>
            <a:ext cx="1262063"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i=1</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3</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=1</a:t>
            </a:r>
            <a:endParaRPr/>
          </a:p>
        </p:txBody>
      </p:sp>
      <p:sp>
        <p:nvSpPr>
          <p:cNvPr id="1420" name="Google Shape;1420;p45"/>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421" name="Google Shape;1421;p45"/>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422" name="Google Shape;1422;p45"/>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23" name="Google Shape;1423;p45"/>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424" name="Google Shape;1424;p45"/>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cxnSp>
        <p:nvCxnSpPr>
          <p:cNvPr id="1425" name="Google Shape;1425;p45"/>
          <p:cNvCxnSpPr/>
          <p:nvPr/>
        </p:nvCxnSpPr>
        <p:spPr>
          <a:xfrm>
            <a:off x="2286000" y="2286000"/>
            <a:ext cx="457200" cy="762000"/>
          </a:xfrm>
          <a:prstGeom prst="straightConnector1">
            <a:avLst/>
          </a:prstGeom>
          <a:noFill/>
          <a:ln w="38100" cap="flat" cmpd="sng">
            <a:solidFill>
              <a:schemeClr val="dk1"/>
            </a:solidFill>
            <a:prstDash val="solid"/>
            <a:round/>
            <a:headEnd type="none" w="med" len="med"/>
            <a:tailEnd type="triangle" w="med" len="med"/>
          </a:ln>
        </p:spPr>
      </p:cxnSp>
      <p:sp>
        <p:nvSpPr>
          <p:cNvPr id="1426" name="Google Shape;1426;p45"/>
          <p:cNvSpPr/>
          <p:nvPr/>
        </p:nvSpPr>
        <p:spPr>
          <a:xfrm>
            <a:off x="7239000" y="6858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30"/>
        <p:cNvGrpSpPr/>
        <p:nvPr/>
      </p:nvGrpSpPr>
      <p:grpSpPr>
        <a:xfrm>
          <a:off x="0" y="0"/>
          <a:ext cx="0" cy="0"/>
          <a:chOff x="0" y="0"/>
          <a:chExt cx="0" cy="0"/>
        </a:xfrm>
      </p:grpSpPr>
      <p:sp>
        <p:nvSpPr>
          <p:cNvPr id="1431" name="Google Shape;1431;p46"/>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(7)</a:t>
            </a:r>
            <a:endParaRPr/>
          </a:p>
        </p:txBody>
      </p:sp>
      <p:cxnSp>
        <p:nvCxnSpPr>
          <p:cNvPr id="1432" name="Google Shape;1432;p46"/>
          <p:cNvCxnSpPr/>
          <p:nvPr/>
        </p:nvCxnSpPr>
        <p:spPr>
          <a:xfrm>
            <a:off x="4648200" y="1524000"/>
            <a:ext cx="0" cy="3657600"/>
          </a:xfrm>
          <a:prstGeom prst="straightConnector1">
            <a:avLst/>
          </a:prstGeom>
          <a:noFill/>
          <a:ln>
            <a:noFill/>
          </a:ln>
        </p:spPr>
      </p:cxnSp>
      <p:sp>
        <p:nvSpPr>
          <p:cNvPr id="1433" name="Google Shape;1433;p46"/>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434" name="Google Shape;1434;p46"/>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35" name="Google Shape;1435;p46"/>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36" name="Google Shape;1436;p46"/>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37" name="Google Shape;1437;p46"/>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38" name="Google Shape;1438;p46"/>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39" name="Google Shape;1439;p46"/>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40" name="Google Shape;1440;p46"/>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41" name="Google Shape;1441;p46"/>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42" name="Google Shape;1442;p46"/>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43" name="Google Shape;1443;p46"/>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44" name="Google Shape;1444;p46"/>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45" name="Google Shape;1445;p46"/>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46" name="Google Shape;1446;p46"/>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447" name="Google Shape;1447;p46"/>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48" name="Google Shape;1448;p46"/>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49" name="Google Shape;1449;p46"/>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50" name="Google Shape;1450;p46"/>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51" name="Google Shape;1451;p46"/>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52" name="Google Shape;1452;p46"/>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53" name="Google Shape;1453;p46"/>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454" name="Google Shape;1454;p46"/>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55" name="Google Shape;1455;p46"/>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456" name="Google Shape;1456;p46"/>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457" name="Google Shape;1457;p46"/>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458" name="Google Shape;1458;p46"/>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459" name="Google Shape;1459;p46"/>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460" name="Google Shape;1460;p46"/>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461" name="Google Shape;1461;p46"/>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62" name="Google Shape;1462;p46"/>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463" name="Google Shape;1463;p46"/>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464" name="Google Shape;1464;p46"/>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465" name="Google Shape;1465;p46"/>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66" name="Google Shape;1466;p46"/>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67" name="Google Shape;1467;p46"/>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68" name="Google Shape;1468;p46"/>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69" name="Google Shape;1469;p46"/>
          <p:cNvSpPr txBox="1"/>
          <p:nvPr/>
        </p:nvSpPr>
        <p:spPr>
          <a:xfrm>
            <a:off x="6172200" y="1752600"/>
            <a:ext cx="1262063"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i=1</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4</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p:txBody>
      </p:sp>
      <p:sp>
        <p:nvSpPr>
          <p:cNvPr id="1470" name="Google Shape;1470;p46"/>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471" name="Google Shape;1471;p46"/>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472" name="Google Shape;1472;p46"/>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73" name="Google Shape;1473;p46"/>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474" name="Google Shape;1474;p46"/>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cxnSp>
        <p:nvCxnSpPr>
          <p:cNvPr id="1475" name="Google Shape;1475;p46"/>
          <p:cNvCxnSpPr/>
          <p:nvPr/>
        </p:nvCxnSpPr>
        <p:spPr>
          <a:xfrm>
            <a:off x="2362200" y="2667000"/>
            <a:ext cx="304800" cy="838200"/>
          </a:xfrm>
          <a:prstGeom prst="straightConnector1">
            <a:avLst/>
          </a:prstGeom>
          <a:noFill/>
          <a:ln w="38100" cap="flat" cmpd="sng">
            <a:solidFill>
              <a:schemeClr val="dk1"/>
            </a:solidFill>
            <a:prstDash val="solid"/>
            <a:round/>
            <a:headEnd type="none" w="med" len="med"/>
            <a:tailEnd type="triangle" w="med" len="med"/>
          </a:ln>
        </p:spPr>
      </p:cxnSp>
      <p:sp>
        <p:nvSpPr>
          <p:cNvPr id="1476" name="Google Shape;1476;p46"/>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sp>
        <p:nvSpPr>
          <p:cNvPr id="1477" name="Google Shape;1477;p46"/>
          <p:cNvSpPr/>
          <p:nvPr/>
        </p:nvSpPr>
        <p:spPr>
          <a:xfrm>
            <a:off x="7239000" y="6858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81"/>
        <p:cNvGrpSpPr/>
        <p:nvPr/>
      </p:nvGrpSpPr>
      <p:grpSpPr>
        <a:xfrm>
          <a:off x="0" y="0"/>
          <a:ext cx="0" cy="0"/>
          <a:chOff x="0" y="0"/>
          <a:chExt cx="0" cy="0"/>
        </a:xfrm>
      </p:grpSpPr>
      <p:sp>
        <p:nvSpPr>
          <p:cNvPr id="1482" name="Google Shape;1482;p47"/>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(8)</a:t>
            </a:r>
            <a:endParaRPr/>
          </a:p>
        </p:txBody>
      </p:sp>
      <p:cxnSp>
        <p:nvCxnSpPr>
          <p:cNvPr id="1483" name="Google Shape;1483;p47"/>
          <p:cNvCxnSpPr/>
          <p:nvPr/>
        </p:nvCxnSpPr>
        <p:spPr>
          <a:xfrm>
            <a:off x="4648200" y="1524000"/>
            <a:ext cx="0" cy="3657600"/>
          </a:xfrm>
          <a:prstGeom prst="straightConnector1">
            <a:avLst/>
          </a:prstGeom>
          <a:noFill/>
          <a:ln>
            <a:noFill/>
          </a:ln>
        </p:spPr>
      </p:cxnSp>
      <p:sp>
        <p:nvSpPr>
          <p:cNvPr id="1484" name="Google Shape;1484;p47"/>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485" name="Google Shape;1485;p47"/>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86" name="Google Shape;1486;p47"/>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87" name="Google Shape;1487;p47"/>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88" name="Google Shape;1488;p47"/>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89" name="Google Shape;1489;p47"/>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90" name="Google Shape;1490;p47"/>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91" name="Google Shape;1491;p47"/>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92" name="Google Shape;1492;p47"/>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493" name="Google Shape;1493;p47"/>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94" name="Google Shape;1494;p47"/>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95" name="Google Shape;1495;p47"/>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96" name="Google Shape;1496;p47"/>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497" name="Google Shape;1497;p47"/>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498" name="Google Shape;1498;p47"/>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499" name="Google Shape;1499;p47"/>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00" name="Google Shape;1500;p47"/>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01" name="Google Shape;1501;p47"/>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02" name="Google Shape;1502;p47"/>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03" name="Google Shape;1503;p47"/>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04" name="Google Shape;1504;p47"/>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505" name="Google Shape;1505;p47"/>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06" name="Google Shape;1506;p47"/>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507" name="Google Shape;1507;p47"/>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508" name="Google Shape;1508;p47"/>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09" name="Google Shape;1509;p47"/>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510" name="Google Shape;1510;p47"/>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511" name="Google Shape;1511;p47"/>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512" name="Google Shape;1512;p47"/>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13" name="Google Shape;1513;p47"/>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514" name="Google Shape;1514;p47"/>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515" name="Google Shape;1515;p47"/>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16" name="Google Shape;1516;p47"/>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17" name="Google Shape;1517;p47"/>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18" name="Google Shape;1518;p47"/>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19" name="Google Shape;1519;p47"/>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20" name="Google Shape;1520;p47"/>
          <p:cNvSpPr txBox="1"/>
          <p:nvPr/>
        </p:nvSpPr>
        <p:spPr>
          <a:xfrm>
            <a:off x="6172200" y="1752600"/>
            <a:ext cx="1262063"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i=1</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5</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p:txBody>
      </p:sp>
      <p:sp>
        <p:nvSpPr>
          <p:cNvPr id="1521" name="Google Shape;1521;p47"/>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522" name="Google Shape;1522;p47"/>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523" name="Google Shape;1523;p47"/>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24" name="Google Shape;1524;p47"/>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25" name="Google Shape;1525;p47"/>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cxnSp>
        <p:nvCxnSpPr>
          <p:cNvPr id="1526" name="Google Shape;1526;p47"/>
          <p:cNvCxnSpPr/>
          <p:nvPr/>
        </p:nvCxnSpPr>
        <p:spPr>
          <a:xfrm>
            <a:off x="2362200" y="3124200"/>
            <a:ext cx="304800" cy="838200"/>
          </a:xfrm>
          <a:prstGeom prst="straightConnector1">
            <a:avLst/>
          </a:prstGeom>
          <a:noFill/>
          <a:ln w="38100" cap="flat" cmpd="sng">
            <a:solidFill>
              <a:schemeClr val="dk1"/>
            </a:solidFill>
            <a:prstDash val="solid"/>
            <a:round/>
            <a:headEnd type="none" w="med" len="med"/>
            <a:tailEnd type="triangle" w="med" len="med"/>
          </a:ln>
        </p:spPr>
      </p:cxnSp>
      <p:sp>
        <p:nvSpPr>
          <p:cNvPr id="1527" name="Google Shape;1527;p47"/>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28" name="Google Shape;1528;p47"/>
          <p:cNvSpPr/>
          <p:nvPr/>
        </p:nvSpPr>
        <p:spPr>
          <a:xfrm>
            <a:off x="7239000" y="685800"/>
            <a:ext cx="1676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29" name="Google Shape;1529;p47"/>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33"/>
        <p:cNvGrpSpPr/>
        <p:nvPr/>
      </p:nvGrpSpPr>
      <p:grpSpPr>
        <a:xfrm>
          <a:off x="0" y="0"/>
          <a:ext cx="0" cy="0"/>
          <a:chOff x="0" y="0"/>
          <a:chExt cx="0" cy="0"/>
        </a:xfrm>
      </p:grpSpPr>
      <p:sp>
        <p:nvSpPr>
          <p:cNvPr id="1534" name="Google Shape;1534;p48"/>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(9)</a:t>
            </a:r>
            <a:endParaRPr/>
          </a:p>
        </p:txBody>
      </p:sp>
      <p:cxnSp>
        <p:nvCxnSpPr>
          <p:cNvPr id="1535" name="Google Shape;1535;p48"/>
          <p:cNvCxnSpPr/>
          <p:nvPr/>
        </p:nvCxnSpPr>
        <p:spPr>
          <a:xfrm>
            <a:off x="4648200" y="1524000"/>
            <a:ext cx="0" cy="3657600"/>
          </a:xfrm>
          <a:prstGeom prst="straightConnector1">
            <a:avLst/>
          </a:prstGeom>
          <a:noFill/>
          <a:ln>
            <a:noFill/>
          </a:ln>
        </p:spPr>
      </p:cxnSp>
      <p:sp>
        <p:nvSpPr>
          <p:cNvPr id="1536" name="Google Shape;1536;p48"/>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&lt;= w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a:t>
            </a: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B[i-1,w]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537" name="Google Shape;1537;p48"/>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38" name="Google Shape;1538;p48"/>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39" name="Google Shape;1539;p48"/>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40" name="Google Shape;1540;p48"/>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41" name="Google Shape;1541;p48"/>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42" name="Google Shape;1542;p48"/>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43" name="Google Shape;1543;p48"/>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44" name="Google Shape;1544;p48"/>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45" name="Google Shape;1545;p48"/>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46" name="Google Shape;1546;p48"/>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47" name="Google Shape;1547;p48"/>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48" name="Google Shape;1548;p48"/>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49" name="Google Shape;1549;p48"/>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550" name="Google Shape;1550;p48"/>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1" name="Google Shape;1551;p48"/>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2" name="Google Shape;1552;p48"/>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3" name="Google Shape;1553;p48"/>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4" name="Google Shape;1554;p48"/>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5" name="Google Shape;1555;p48"/>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6" name="Google Shape;1556;p48"/>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557" name="Google Shape;1557;p48"/>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58" name="Google Shape;1558;p48"/>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559" name="Google Shape;1559;p48"/>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560" name="Google Shape;1560;p48"/>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61" name="Google Shape;1561;p48"/>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562" name="Google Shape;1562;p48"/>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563" name="Google Shape;1563;p48"/>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564" name="Google Shape;1564;p48"/>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65" name="Google Shape;1565;p48"/>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566" name="Google Shape;1566;p48"/>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567" name="Google Shape;1567;p48"/>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68" name="Google Shape;1568;p48"/>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69" name="Google Shape;1569;p48"/>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70" name="Google Shape;1570;p48"/>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71" name="Google Shape;1571;p48"/>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72" name="Google Shape;1572;p48"/>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FF0000"/>
              </a:buClr>
              <a:buSzPts val="2800"/>
              <a:buFont typeface="Calibri"/>
              <a:buNone/>
            </a:pPr>
            <a:r>
              <a:rPr lang="en-US" sz="2800" b="0" i="0" u="none" strike="noStrike" cap="none">
                <a:solidFill>
                  <a:srgbClr val="FF0000"/>
                </a:solidFill>
                <a:latin typeface="Calibri"/>
                <a:ea typeface="Calibri"/>
                <a:cs typeface="Calibri"/>
                <a:sym typeface="Calibri"/>
              </a:rPr>
              <a:t>i=2</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1</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p:txBody>
      </p:sp>
      <p:sp>
        <p:nvSpPr>
          <p:cNvPr id="1573" name="Google Shape;1573;p48"/>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574" name="Google Shape;1574;p48"/>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575" name="Google Shape;1575;p48"/>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576" name="Google Shape;1576;p48"/>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77" name="Google Shape;1577;p48"/>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78" name="Google Shape;1578;p48"/>
          <p:cNvSpPr/>
          <p:nvPr/>
        </p:nvSpPr>
        <p:spPr>
          <a:xfrm>
            <a:off x="7239000" y="68580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79" name="Google Shape;1579;p48"/>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580" name="Google Shape;1580;p48"/>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cxnSp>
        <p:nvCxnSpPr>
          <p:cNvPr id="1581" name="Google Shape;1581;p48"/>
          <p:cNvCxnSpPr/>
          <p:nvPr/>
        </p:nvCxnSpPr>
        <p:spPr>
          <a:xfrm>
            <a:off x="3200400" y="2209800"/>
            <a:ext cx="381000" cy="0"/>
          </a:xfrm>
          <a:prstGeom prst="straightConnector1">
            <a:avLst/>
          </a:prstGeom>
          <a:noFill/>
          <a:ln w="38100" cap="flat" cmpd="sng">
            <a:solidFill>
              <a:schemeClr val="dk1"/>
            </a:solidFill>
            <a:prstDash val="solid"/>
            <a:round/>
            <a:headEnd type="none" w="med" len="med"/>
            <a:tailEnd type="triangle" w="med" len="med"/>
          </a:ln>
        </p:spPr>
      </p:cxnSp>
      <p:sp>
        <p:nvSpPr>
          <p:cNvPr id="1582" name="Google Shape;1582;p48"/>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0</a:t>
            </a: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49"/>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(10)</a:t>
            </a:r>
            <a:endParaRPr/>
          </a:p>
        </p:txBody>
      </p:sp>
      <p:cxnSp>
        <p:nvCxnSpPr>
          <p:cNvPr id="1588" name="Google Shape;1588;p49"/>
          <p:cNvCxnSpPr/>
          <p:nvPr/>
        </p:nvCxnSpPr>
        <p:spPr>
          <a:xfrm>
            <a:off x="4648200" y="1524000"/>
            <a:ext cx="0" cy="3657600"/>
          </a:xfrm>
          <a:prstGeom prst="straightConnector1">
            <a:avLst/>
          </a:prstGeom>
          <a:noFill/>
          <a:ln>
            <a:noFill/>
          </a:ln>
        </p:spPr>
      </p:cxnSp>
      <p:sp>
        <p:nvSpPr>
          <p:cNvPr id="1589" name="Google Shape;1589;p49"/>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&lt;= w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a:t>
            </a: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B[i-1,w]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590" name="Google Shape;1590;p49"/>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91" name="Google Shape;1591;p49"/>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2" name="Google Shape;1592;p49"/>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3" name="Google Shape;1593;p49"/>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4" name="Google Shape;1594;p49"/>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5" name="Google Shape;1595;p49"/>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6" name="Google Shape;1596;p49"/>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7" name="Google Shape;1597;p49"/>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598" name="Google Shape;1598;p49"/>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599" name="Google Shape;1599;p49"/>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00" name="Google Shape;1600;p49"/>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01" name="Google Shape;1601;p49"/>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02" name="Google Shape;1602;p49"/>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603" name="Google Shape;1603;p49"/>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04" name="Google Shape;1604;p49"/>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05" name="Google Shape;1605;p49"/>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06" name="Google Shape;1606;p49"/>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07" name="Google Shape;1607;p49"/>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08" name="Google Shape;1608;p49"/>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09" name="Google Shape;1609;p49"/>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610" name="Google Shape;1610;p49"/>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11" name="Google Shape;1611;p49"/>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612" name="Google Shape;1612;p49"/>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613" name="Google Shape;1613;p49"/>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14" name="Google Shape;1614;p49"/>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615" name="Google Shape;1615;p49"/>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616" name="Google Shape;1616;p49"/>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617" name="Google Shape;1617;p49"/>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18" name="Google Shape;1618;p49"/>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619" name="Google Shape;1619;p49"/>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620" name="Google Shape;1620;p49"/>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21" name="Google Shape;1621;p49"/>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22" name="Google Shape;1622;p49"/>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23" name="Google Shape;1623;p49"/>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24" name="Google Shape;1624;p49"/>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25" name="Google Shape;1625;p49"/>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2</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=-1</a:t>
            </a:r>
            <a:endParaRPr/>
          </a:p>
        </p:txBody>
      </p:sp>
      <p:sp>
        <p:nvSpPr>
          <p:cNvPr id="1626" name="Google Shape;1626;p49"/>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627" name="Google Shape;1627;p49"/>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628" name="Google Shape;1628;p49"/>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29" name="Google Shape;1629;p49"/>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30" name="Google Shape;1630;p49"/>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31" name="Google Shape;1631;p49"/>
          <p:cNvSpPr/>
          <p:nvPr/>
        </p:nvSpPr>
        <p:spPr>
          <a:xfrm>
            <a:off x="7239000" y="68580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32" name="Google Shape;1632;p49"/>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33" name="Google Shape;1633;p49"/>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34" name="Google Shape;1634;p49"/>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cxnSp>
        <p:nvCxnSpPr>
          <p:cNvPr id="1635" name="Google Shape;1635;p49"/>
          <p:cNvCxnSpPr/>
          <p:nvPr/>
        </p:nvCxnSpPr>
        <p:spPr>
          <a:xfrm>
            <a:off x="3124200" y="2667000"/>
            <a:ext cx="457200" cy="0"/>
          </a:xfrm>
          <a:prstGeom prst="straightConnector1">
            <a:avLst/>
          </a:prstGeom>
          <a:noFill/>
          <a:ln w="38100" cap="flat" cmpd="sng">
            <a:solidFill>
              <a:schemeClr val="dk1"/>
            </a:solidFill>
            <a:prstDash val="solid"/>
            <a:round/>
            <a:headEnd type="none" w="med" len="med"/>
            <a:tailEnd type="triangle" w="med" len="med"/>
          </a:ln>
        </p:spPr>
      </p:cxnSp>
      <p:sp>
        <p:nvSpPr>
          <p:cNvPr id="1636" name="Google Shape;1636;p49"/>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40"/>
        <p:cNvGrpSpPr/>
        <p:nvPr/>
      </p:nvGrpSpPr>
      <p:grpSpPr>
        <a:xfrm>
          <a:off x="0" y="0"/>
          <a:ext cx="0" cy="0"/>
          <a:chOff x="0" y="0"/>
          <a:chExt cx="0" cy="0"/>
        </a:xfrm>
      </p:grpSpPr>
      <p:sp>
        <p:nvSpPr>
          <p:cNvPr id="1641" name="Google Shape;1641;p50"/>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(11)</a:t>
            </a:r>
            <a:endParaRPr/>
          </a:p>
        </p:txBody>
      </p:sp>
      <p:cxnSp>
        <p:nvCxnSpPr>
          <p:cNvPr id="1642" name="Google Shape;1642;p50"/>
          <p:cNvCxnSpPr/>
          <p:nvPr/>
        </p:nvCxnSpPr>
        <p:spPr>
          <a:xfrm>
            <a:off x="4648200" y="1524000"/>
            <a:ext cx="0" cy="3657600"/>
          </a:xfrm>
          <a:prstGeom prst="straightConnector1">
            <a:avLst/>
          </a:prstGeom>
          <a:noFill/>
          <a:ln>
            <a:noFill/>
          </a:ln>
        </p:spPr>
      </p:cxnSp>
      <p:sp>
        <p:nvSpPr>
          <p:cNvPr id="1643" name="Google Shape;1643;p50"/>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644" name="Google Shape;1644;p50"/>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45" name="Google Shape;1645;p50"/>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46" name="Google Shape;1646;p50"/>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47" name="Google Shape;1647;p50"/>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48" name="Google Shape;1648;p50"/>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49" name="Google Shape;1649;p50"/>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50" name="Google Shape;1650;p50"/>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51" name="Google Shape;1651;p50"/>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652" name="Google Shape;1652;p50"/>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53" name="Google Shape;1653;p50"/>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54" name="Google Shape;1654;p50"/>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55" name="Google Shape;1655;p50"/>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656" name="Google Shape;1656;p50"/>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657" name="Google Shape;1657;p50"/>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58" name="Google Shape;1658;p50"/>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59" name="Google Shape;1659;p50"/>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60" name="Google Shape;1660;p50"/>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61" name="Google Shape;1661;p50"/>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62" name="Google Shape;1662;p50"/>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63" name="Google Shape;1663;p50"/>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664" name="Google Shape;1664;p50"/>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65" name="Google Shape;1665;p50"/>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666" name="Google Shape;1666;p50"/>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667" name="Google Shape;1667;p50"/>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68" name="Google Shape;1668;p50"/>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669" name="Google Shape;1669;p50"/>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670" name="Google Shape;1670;p50"/>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671" name="Google Shape;1671;p50"/>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72" name="Google Shape;1672;p50"/>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673" name="Google Shape;1673;p50"/>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674" name="Google Shape;1674;p50"/>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75" name="Google Shape;1675;p50"/>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76" name="Google Shape;1676;p50"/>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77" name="Google Shape;1677;p50"/>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78" name="Google Shape;1678;p50"/>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79" name="Google Shape;1679;p50"/>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3</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=0</a:t>
            </a:r>
            <a:endParaRPr/>
          </a:p>
        </p:txBody>
      </p:sp>
      <p:sp>
        <p:nvSpPr>
          <p:cNvPr id="1680" name="Google Shape;1680;p50"/>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681" name="Google Shape;1681;p50"/>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682" name="Google Shape;1682;p50"/>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83" name="Google Shape;1683;p50"/>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84" name="Google Shape;1684;p50"/>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85" name="Google Shape;1685;p50"/>
          <p:cNvSpPr/>
          <p:nvPr/>
        </p:nvSpPr>
        <p:spPr>
          <a:xfrm>
            <a:off x="7239000" y="68580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686" name="Google Shape;1686;p50"/>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87" name="Google Shape;1687;p50"/>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88" name="Google Shape;1688;p50"/>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689" name="Google Shape;1689;p50"/>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690" name="Google Shape;1690;p50"/>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4</a:t>
            </a:r>
            <a:endParaRPr sz="1800" b="0" i="0" u="none" strike="noStrike" cap="none">
              <a:solidFill>
                <a:srgbClr val="000000"/>
              </a:solidFill>
              <a:latin typeface="Calibri"/>
              <a:ea typeface="Calibri"/>
              <a:cs typeface="Calibri"/>
              <a:sym typeface="Calibri"/>
            </a:endParaRPr>
          </a:p>
        </p:txBody>
      </p:sp>
      <p:cxnSp>
        <p:nvCxnSpPr>
          <p:cNvPr id="1691" name="Google Shape;1691;p50"/>
          <p:cNvCxnSpPr/>
          <p:nvPr/>
        </p:nvCxnSpPr>
        <p:spPr>
          <a:xfrm>
            <a:off x="3048000" y="1905000"/>
            <a:ext cx="533400" cy="1143000"/>
          </a:xfrm>
          <a:prstGeom prst="straightConnector1">
            <a:avLst/>
          </a:prstGeom>
          <a:noFill/>
          <a:ln w="38100" cap="flat" cmpd="sng">
            <a:solidFill>
              <a:schemeClr val="dk1"/>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695"/>
        <p:cNvGrpSpPr/>
        <p:nvPr/>
      </p:nvGrpSpPr>
      <p:grpSpPr>
        <a:xfrm>
          <a:off x="0" y="0"/>
          <a:ext cx="0" cy="0"/>
          <a:chOff x="0" y="0"/>
          <a:chExt cx="0" cy="0"/>
        </a:xfrm>
      </p:grpSpPr>
      <p:sp>
        <p:nvSpPr>
          <p:cNvPr id="1696" name="Google Shape;1696;p51"/>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(12)</a:t>
            </a:r>
            <a:endParaRPr/>
          </a:p>
        </p:txBody>
      </p:sp>
      <p:cxnSp>
        <p:nvCxnSpPr>
          <p:cNvPr id="1697" name="Google Shape;1697;p51"/>
          <p:cNvCxnSpPr/>
          <p:nvPr/>
        </p:nvCxnSpPr>
        <p:spPr>
          <a:xfrm>
            <a:off x="4648200" y="1524000"/>
            <a:ext cx="0" cy="3657600"/>
          </a:xfrm>
          <a:prstGeom prst="straightConnector1">
            <a:avLst/>
          </a:prstGeom>
          <a:noFill/>
          <a:ln>
            <a:noFill/>
          </a:ln>
        </p:spPr>
      </p:cxnSp>
      <p:sp>
        <p:nvSpPr>
          <p:cNvPr id="1698" name="Google Shape;1698;p51"/>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699" name="Google Shape;1699;p51"/>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00" name="Google Shape;1700;p51"/>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1" name="Google Shape;1701;p51"/>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2" name="Google Shape;1702;p51"/>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3" name="Google Shape;1703;p51"/>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4" name="Google Shape;1704;p51"/>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5" name="Google Shape;1705;p51"/>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6" name="Google Shape;1706;p51"/>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07" name="Google Shape;1707;p51"/>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08" name="Google Shape;1708;p51"/>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09" name="Google Shape;1709;p51"/>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10" name="Google Shape;1710;p51"/>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11" name="Google Shape;1711;p51"/>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712" name="Google Shape;1712;p51"/>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13" name="Google Shape;1713;p51"/>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14" name="Google Shape;1714;p51"/>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15" name="Google Shape;1715;p51"/>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16" name="Google Shape;1716;p51"/>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17" name="Google Shape;1717;p51"/>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18" name="Google Shape;1718;p51"/>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719" name="Google Shape;1719;p51"/>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20" name="Google Shape;1720;p51"/>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721" name="Google Shape;1721;p51"/>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722" name="Google Shape;1722;p51"/>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23" name="Google Shape;1723;p51"/>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724" name="Google Shape;1724;p51"/>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725" name="Google Shape;1725;p51"/>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726" name="Google Shape;1726;p51"/>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27" name="Google Shape;1727;p51"/>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728" name="Google Shape;1728;p51"/>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729" name="Google Shape;1729;p51"/>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30" name="Google Shape;1730;p51"/>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31" name="Google Shape;1731;p51"/>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32" name="Google Shape;1732;p51"/>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33" name="Google Shape;1733;p51"/>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34" name="Google Shape;1734;p51"/>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4</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=1</a:t>
            </a:r>
            <a:endParaRPr/>
          </a:p>
        </p:txBody>
      </p:sp>
      <p:sp>
        <p:nvSpPr>
          <p:cNvPr id="1735" name="Google Shape;1735;p51"/>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736" name="Google Shape;1736;p51"/>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737" name="Google Shape;1737;p51"/>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38" name="Google Shape;1738;p51"/>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39" name="Google Shape;1739;p51"/>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40" name="Google Shape;1740;p51"/>
          <p:cNvSpPr/>
          <p:nvPr/>
        </p:nvSpPr>
        <p:spPr>
          <a:xfrm>
            <a:off x="7239000" y="68580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41" name="Google Shape;1741;p51"/>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42" name="Google Shape;1742;p51"/>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43" name="Google Shape;1743;p51"/>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44" name="Google Shape;1744;p51"/>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45" name="Google Shape;1745;p51"/>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746" name="Google Shape;1746;p51"/>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4</a:t>
            </a:r>
            <a:endParaRPr sz="1800" b="0" i="0" u="none" strike="noStrike" cap="none">
              <a:solidFill>
                <a:srgbClr val="000000"/>
              </a:solidFill>
              <a:latin typeface="Calibri"/>
              <a:ea typeface="Calibri"/>
              <a:cs typeface="Calibri"/>
              <a:sym typeface="Calibri"/>
            </a:endParaRPr>
          </a:p>
        </p:txBody>
      </p:sp>
      <p:cxnSp>
        <p:nvCxnSpPr>
          <p:cNvPr id="1747" name="Google Shape;1747;p51"/>
          <p:cNvCxnSpPr/>
          <p:nvPr/>
        </p:nvCxnSpPr>
        <p:spPr>
          <a:xfrm>
            <a:off x="3048000" y="2362200"/>
            <a:ext cx="533400" cy="1143000"/>
          </a:xfrm>
          <a:prstGeom prst="straightConnector1">
            <a:avLst/>
          </a:prstGeom>
          <a:noFill/>
          <a:ln w="38100" cap="flat" cmpd="sng">
            <a:solidFill>
              <a:schemeClr val="dk1"/>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751"/>
        <p:cNvGrpSpPr/>
        <p:nvPr/>
      </p:nvGrpSpPr>
      <p:grpSpPr>
        <a:xfrm>
          <a:off x="0" y="0"/>
          <a:ext cx="0" cy="0"/>
          <a:chOff x="0" y="0"/>
          <a:chExt cx="0" cy="0"/>
        </a:xfrm>
      </p:grpSpPr>
      <p:sp>
        <p:nvSpPr>
          <p:cNvPr id="1752" name="Google Shape;1752;p52"/>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(13)</a:t>
            </a:r>
            <a:endParaRPr/>
          </a:p>
        </p:txBody>
      </p:sp>
      <p:cxnSp>
        <p:nvCxnSpPr>
          <p:cNvPr id="1753" name="Google Shape;1753;p52"/>
          <p:cNvCxnSpPr/>
          <p:nvPr/>
        </p:nvCxnSpPr>
        <p:spPr>
          <a:xfrm>
            <a:off x="4648200" y="1524000"/>
            <a:ext cx="0" cy="3657600"/>
          </a:xfrm>
          <a:prstGeom prst="straightConnector1">
            <a:avLst/>
          </a:prstGeom>
          <a:noFill/>
          <a:ln>
            <a:noFill/>
          </a:ln>
        </p:spPr>
      </p:cxnSp>
      <p:sp>
        <p:nvSpPr>
          <p:cNvPr id="1754" name="Google Shape;1754;p52"/>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755" name="Google Shape;1755;p52"/>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56" name="Google Shape;1756;p52"/>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57" name="Google Shape;1757;p52"/>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58" name="Google Shape;1758;p52"/>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59" name="Google Shape;1759;p52"/>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60" name="Google Shape;1760;p52"/>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61" name="Google Shape;1761;p52"/>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62" name="Google Shape;1762;p52"/>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763" name="Google Shape;1763;p52"/>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64" name="Google Shape;1764;p52"/>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65" name="Google Shape;1765;p52"/>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66" name="Google Shape;1766;p52"/>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767" name="Google Shape;1767;p52"/>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768" name="Google Shape;1768;p52"/>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69" name="Google Shape;1769;p52"/>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70" name="Google Shape;1770;p52"/>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71" name="Google Shape;1771;p52"/>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72" name="Google Shape;1772;p52"/>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73" name="Google Shape;1773;p52"/>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74" name="Google Shape;1774;p52"/>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775" name="Google Shape;1775;p52"/>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76" name="Google Shape;1776;p52"/>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777" name="Google Shape;1777;p52"/>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778" name="Google Shape;1778;p52"/>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79" name="Google Shape;1779;p52"/>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780" name="Google Shape;1780;p52"/>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781" name="Google Shape;1781;p52"/>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782" name="Google Shape;1782;p52"/>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83" name="Google Shape;1783;p52"/>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784" name="Google Shape;1784;p52"/>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785" name="Google Shape;1785;p52"/>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86" name="Google Shape;1786;p52"/>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87" name="Google Shape;1787;p52"/>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88" name="Google Shape;1788;p52"/>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89" name="Google Shape;1789;p52"/>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90" name="Google Shape;1790;p52"/>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i=2</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5</a:t>
            </a:r>
            <a:endParaRPr sz="2800" b="0" i="0" u="none" strike="noStrike" cap="none">
              <a:solidFill>
                <a:srgbClr val="000000"/>
              </a:solidFill>
              <a:latin typeface="Calibri"/>
              <a:ea typeface="Calibri"/>
              <a:cs typeface="Calibri"/>
              <a:sym typeface="Calibri"/>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=2</a:t>
            </a:r>
            <a:endParaRPr/>
          </a:p>
        </p:txBody>
      </p:sp>
      <p:sp>
        <p:nvSpPr>
          <p:cNvPr id="1791" name="Google Shape;1791;p52"/>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792" name="Google Shape;1792;p52"/>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793" name="Google Shape;1793;p52"/>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794" name="Google Shape;1794;p52"/>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95" name="Google Shape;1795;p52"/>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96" name="Google Shape;1796;p52"/>
          <p:cNvSpPr/>
          <p:nvPr/>
        </p:nvSpPr>
        <p:spPr>
          <a:xfrm>
            <a:off x="7239000" y="68580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797" name="Google Shape;1797;p52"/>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98" name="Google Shape;1798;p52"/>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799" name="Google Shape;1799;p52"/>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00" name="Google Shape;1800;p52"/>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01" name="Google Shape;1801;p52"/>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802" name="Google Shape;1802;p52"/>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803" name="Google Shape;1803;p52"/>
          <p:cNvSpPr txBox="1"/>
          <p:nvPr/>
        </p:nvSpPr>
        <p:spPr>
          <a:xfrm>
            <a:off x="35814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7</a:t>
            </a:r>
            <a:endParaRPr sz="1800" b="0" i="0" u="none" strike="noStrike" cap="none">
              <a:solidFill>
                <a:srgbClr val="000000"/>
              </a:solidFill>
              <a:latin typeface="Calibri"/>
              <a:ea typeface="Calibri"/>
              <a:cs typeface="Calibri"/>
              <a:sym typeface="Calibri"/>
            </a:endParaRPr>
          </a:p>
        </p:txBody>
      </p:sp>
      <p:cxnSp>
        <p:nvCxnSpPr>
          <p:cNvPr id="1804" name="Google Shape;1804;p52"/>
          <p:cNvCxnSpPr/>
          <p:nvPr/>
        </p:nvCxnSpPr>
        <p:spPr>
          <a:xfrm>
            <a:off x="3048000" y="2819400"/>
            <a:ext cx="533400" cy="1143000"/>
          </a:xfrm>
          <a:prstGeom prst="straightConnector1">
            <a:avLst/>
          </a:prstGeom>
          <a:noFill/>
          <a:ln w="38100" cap="flat" cmpd="sng">
            <a:solidFill>
              <a:schemeClr val="dk1"/>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08"/>
        <p:cNvGrpSpPr/>
        <p:nvPr/>
      </p:nvGrpSpPr>
      <p:grpSpPr>
        <a:xfrm>
          <a:off x="0" y="0"/>
          <a:ext cx="0" cy="0"/>
          <a:chOff x="0" y="0"/>
          <a:chExt cx="0" cy="0"/>
        </a:xfrm>
      </p:grpSpPr>
      <p:sp>
        <p:nvSpPr>
          <p:cNvPr id="1809" name="Google Shape;1809;p53"/>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(14)</a:t>
            </a:r>
            <a:endParaRPr/>
          </a:p>
        </p:txBody>
      </p:sp>
      <p:cxnSp>
        <p:nvCxnSpPr>
          <p:cNvPr id="1810" name="Google Shape;1810;p53"/>
          <p:cNvCxnSpPr/>
          <p:nvPr/>
        </p:nvCxnSpPr>
        <p:spPr>
          <a:xfrm>
            <a:off x="4648200" y="1524000"/>
            <a:ext cx="0" cy="3657600"/>
          </a:xfrm>
          <a:prstGeom prst="straightConnector1">
            <a:avLst/>
          </a:prstGeom>
          <a:noFill/>
          <a:ln>
            <a:noFill/>
          </a:ln>
        </p:spPr>
      </p:cxnSp>
      <p:sp>
        <p:nvSpPr>
          <p:cNvPr id="1811" name="Google Shape;1811;p53"/>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&lt;= w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a:t>
            </a: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B[i-1,w]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812" name="Google Shape;1812;p53"/>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13" name="Google Shape;1813;p53"/>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14" name="Google Shape;1814;p53"/>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15" name="Google Shape;1815;p53"/>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16" name="Google Shape;1816;p53"/>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17" name="Google Shape;1817;p53"/>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18" name="Google Shape;1818;p53"/>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19" name="Google Shape;1819;p53"/>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20" name="Google Shape;1820;p53"/>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21" name="Google Shape;1821;p53"/>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22" name="Google Shape;1822;p53"/>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23" name="Google Shape;1823;p53"/>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24" name="Google Shape;1824;p53"/>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825" name="Google Shape;1825;p53"/>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26" name="Google Shape;1826;p53"/>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27" name="Google Shape;1827;p53"/>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28" name="Google Shape;1828;p53"/>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29" name="Google Shape;1829;p53"/>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30" name="Google Shape;1830;p53"/>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31" name="Google Shape;1831;p53"/>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832" name="Google Shape;1832;p53"/>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33" name="Google Shape;1833;p53"/>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834" name="Google Shape;1834;p53"/>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835" name="Google Shape;1835;p53"/>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36" name="Google Shape;1836;p53"/>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837" name="Google Shape;1837;p53"/>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838" name="Google Shape;1838;p53"/>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839" name="Google Shape;1839;p53"/>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40" name="Google Shape;1840;p53"/>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841" name="Google Shape;1841;p53"/>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842" name="Google Shape;1842;p53"/>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43" name="Google Shape;1843;p53"/>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44" name="Google Shape;1844;p53"/>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45" name="Google Shape;1845;p53"/>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46" name="Google Shape;1846;p53"/>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47" name="Google Shape;1847;p53"/>
          <p:cNvSpPr txBox="1"/>
          <p:nvPr/>
        </p:nvSpPr>
        <p:spPr>
          <a:xfrm>
            <a:off x="6172200" y="1752600"/>
            <a:ext cx="1447800" cy="19716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=5</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1..3</a:t>
            </a:r>
            <a:endParaRPr sz="2800" b="0" i="0" u="none" strike="noStrike" cap="none">
              <a:solidFill>
                <a:srgbClr val="000000"/>
              </a:solidFill>
              <a:latin typeface="Calibri"/>
              <a:ea typeface="Calibri"/>
              <a:cs typeface="Calibri"/>
              <a:sym typeface="Calibri"/>
            </a:endParaRPr>
          </a:p>
        </p:txBody>
      </p:sp>
      <p:sp>
        <p:nvSpPr>
          <p:cNvPr id="1848" name="Google Shape;1848;p53"/>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849" name="Google Shape;1849;p53"/>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850" name="Google Shape;1850;p53"/>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51" name="Google Shape;1851;p53"/>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52" name="Google Shape;1852;p53"/>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53" name="Google Shape;1853;p53"/>
          <p:cNvSpPr/>
          <p:nvPr/>
        </p:nvSpPr>
        <p:spPr>
          <a:xfrm>
            <a:off x="7239000" y="685800"/>
            <a:ext cx="1676400" cy="1295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54" name="Google Shape;1854;p53"/>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55" name="Google Shape;1855;p53"/>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56" name="Google Shape;1856;p53"/>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57" name="Google Shape;1857;p53"/>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58" name="Google Shape;1858;p53"/>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59" name="Google Shape;1859;p53"/>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860" name="Google Shape;1860;p53"/>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861" name="Google Shape;1861;p53"/>
          <p:cNvSpPr txBox="1"/>
          <p:nvPr/>
        </p:nvSpPr>
        <p:spPr>
          <a:xfrm>
            <a:off x="35814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1862" name="Google Shape;1862;p53"/>
          <p:cNvSpPr txBox="1"/>
          <p:nvPr/>
        </p:nvSpPr>
        <p:spPr>
          <a:xfrm>
            <a:off x="44196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0</a:t>
            </a:r>
            <a:endParaRPr/>
          </a:p>
        </p:txBody>
      </p:sp>
      <p:sp>
        <p:nvSpPr>
          <p:cNvPr id="1863" name="Google Shape;1863;p53"/>
          <p:cNvSpPr txBox="1"/>
          <p:nvPr/>
        </p:nvSpPr>
        <p:spPr>
          <a:xfrm>
            <a:off x="44196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a:p>
        </p:txBody>
      </p:sp>
      <p:sp>
        <p:nvSpPr>
          <p:cNvPr id="1864" name="Google Shape;1864;p53"/>
          <p:cNvSpPr txBox="1"/>
          <p:nvPr/>
        </p:nvSpPr>
        <p:spPr>
          <a:xfrm>
            <a:off x="44196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4</a:t>
            </a:r>
            <a:endParaRPr/>
          </a:p>
        </p:txBody>
      </p:sp>
      <p:cxnSp>
        <p:nvCxnSpPr>
          <p:cNvPr id="1865" name="Google Shape;1865;p53"/>
          <p:cNvCxnSpPr/>
          <p:nvPr/>
        </p:nvCxnSpPr>
        <p:spPr>
          <a:xfrm>
            <a:off x="3962400" y="2209800"/>
            <a:ext cx="457200" cy="0"/>
          </a:xfrm>
          <a:prstGeom prst="straightConnector1">
            <a:avLst/>
          </a:prstGeom>
          <a:noFill/>
          <a:ln w="38100" cap="flat" cmpd="sng">
            <a:solidFill>
              <a:schemeClr val="dk1"/>
            </a:solidFill>
            <a:prstDash val="solid"/>
            <a:round/>
            <a:headEnd type="none" w="med" len="med"/>
            <a:tailEnd type="triangle" w="med" len="med"/>
          </a:ln>
        </p:spPr>
      </p:cxnSp>
      <p:cxnSp>
        <p:nvCxnSpPr>
          <p:cNvPr id="1866" name="Google Shape;1866;p53"/>
          <p:cNvCxnSpPr/>
          <p:nvPr/>
        </p:nvCxnSpPr>
        <p:spPr>
          <a:xfrm>
            <a:off x="3962400" y="2667000"/>
            <a:ext cx="457200" cy="0"/>
          </a:xfrm>
          <a:prstGeom prst="straightConnector1">
            <a:avLst/>
          </a:prstGeom>
          <a:noFill/>
          <a:ln w="38100" cap="flat" cmpd="sng">
            <a:solidFill>
              <a:schemeClr val="dk1"/>
            </a:solidFill>
            <a:prstDash val="solid"/>
            <a:round/>
            <a:headEnd type="none" w="med" len="med"/>
            <a:tailEnd type="triangle" w="med" len="med"/>
          </a:ln>
        </p:spPr>
      </p:cxnSp>
      <p:cxnSp>
        <p:nvCxnSpPr>
          <p:cNvPr id="1867" name="Google Shape;1867;p53"/>
          <p:cNvCxnSpPr/>
          <p:nvPr/>
        </p:nvCxnSpPr>
        <p:spPr>
          <a:xfrm>
            <a:off x="3962400" y="3124200"/>
            <a:ext cx="457200" cy="0"/>
          </a:xfrm>
          <a:prstGeom prst="straightConnector1">
            <a:avLst/>
          </a:prstGeom>
          <a:noFill/>
          <a:ln w="38100" cap="flat" cmpd="sng">
            <a:solidFill>
              <a:schemeClr val="dk1"/>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871"/>
        <p:cNvGrpSpPr/>
        <p:nvPr/>
      </p:nvGrpSpPr>
      <p:grpSpPr>
        <a:xfrm>
          <a:off x="0" y="0"/>
          <a:ext cx="0" cy="0"/>
          <a:chOff x="0" y="0"/>
          <a:chExt cx="0" cy="0"/>
        </a:xfrm>
      </p:grpSpPr>
      <p:sp>
        <p:nvSpPr>
          <p:cNvPr id="1872" name="Google Shape;1872;p54"/>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(15)</a:t>
            </a:r>
            <a:endParaRPr/>
          </a:p>
        </p:txBody>
      </p:sp>
      <p:cxnSp>
        <p:nvCxnSpPr>
          <p:cNvPr id="1873" name="Google Shape;1873;p54"/>
          <p:cNvCxnSpPr/>
          <p:nvPr/>
        </p:nvCxnSpPr>
        <p:spPr>
          <a:xfrm>
            <a:off x="4648200" y="1524000"/>
            <a:ext cx="0" cy="3657600"/>
          </a:xfrm>
          <a:prstGeom prst="straightConnector1">
            <a:avLst/>
          </a:prstGeom>
          <a:noFill/>
          <a:ln>
            <a:noFill/>
          </a:ln>
        </p:spPr>
      </p:cxnSp>
      <p:sp>
        <p:nvSpPr>
          <p:cNvPr id="1874" name="Google Shape;1874;p54"/>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b</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 B[i-1,w-w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&gt;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 + B[i-1,w- w</a:t>
            </a:r>
            <a:r>
              <a:rPr lang="en-US" sz="2000" b="1" i="0" u="none" strike="noStrike" cap="none" baseline="-25000">
                <a:solidFill>
                  <a:srgbClr val="000000"/>
                </a:solidFill>
                <a:latin typeface="Calibri"/>
                <a:ea typeface="Calibri"/>
                <a:cs typeface="Calibri"/>
                <a:sym typeface="Calibri"/>
              </a:rPr>
              <a:t>i</a:t>
            </a:r>
            <a:r>
              <a:rPr lang="en-US" sz="2000" b="1" i="0" u="none" strike="noStrike" cap="none">
                <a:solidFill>
                  <a:srgbClr val="000000"/>
                </a:solidFill>
                <a:latin typeface="Calibri"/>
                <a:ea typeface="Calibri"/>
                <a:cs typeface="Calibri"/>
                <a:sym typeface="Calibri"/>
              </a:rPr>
              <a:t>]</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875" name="Google Shape;1875;p54"/>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76" name="Google Shape;1876;p54"/>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77" name="Google Shape;1877;p54"/>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78" name="Google Shape;1878;p54"/>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79" name="Google Shape;1879;p54"/>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80" name="Google Shape;1880;p54"/>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81" name="Google Shape;1881;p54"/>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82" name="Google Shape;1882;p54"/>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883" name="Google Shape;1883;p54"/>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84" name="Google Shape;1884;p54"/>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85" name="Google Shape;1885;p54"/>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86" name="Google Shape;1886;p54"/>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887" name="Google Shape;1887;p54"/>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888" name="Google Shape;1888;p54"/>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89" name="Google Shape;1889;p54"/>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90" name="Google Shape;1890;p54"/>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91" name="Google Shape;1891;p54"/>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92" name="Google Shape;1892;p54"/>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93" name="Google Shape;1893;p54"/>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94" name="Google Shape;1894;p54"/>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895" name="Google Shape;1895;p54"/>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896" name="Google Shape;1896;p54"/>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897" name="Google Shape;1897;p54"/>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898" name="Google Shape;1898;p54"/>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899" name="Google Shape;1899;p54"/>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00" name="Google Shape;1900;p54"/>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901" name="Google Shape;1901;p54"/>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902" name="Google Shape;1902;p54"/>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03" name="Google Shape;1903;p54"/>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904" name="Google Shape;1904;p54"/>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905" name="Google Shape;1905;p54"/>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06" name="Google Shape;1906;p54"/>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07" name="Google Shape;1907;p54"/>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08" name="Google Shape;1908;p54"/>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09" name="Google Shape;1909;p54"/>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10" name="Google Shape;1910;p54"/>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=5</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 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=0</a:t>
            </a:r>
            <a:endParaRPr/>
          </a:p>
        </p:txBody>
      </p:sp>
      <p:sp>
        <p:nvSpPr>
          <p:cNvPr id="1911" name="Google Shape;1911;p54"/>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912" name="Google Shape;1912;p54"/>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13" name="Google Shape;1913;p54"/>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14" name="Google Shape;1914;p54"/>
          <p:cNvSpPr/>
          <p:nvPr/>
        </p:nvSpPr>
        <p:spPr>
          <a:xfrm>
            <a:off x="7239000" y="685800"/>
            <a:ext cx="1676400" cy="1295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15" name="Google Shape;1915;p54"/>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16" name="Google Shape;1916;p54"/>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17" name="Google Shape;1917;p54"/>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18" name="Google Shape;1918;p54"/>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19" name="Google Shape;1919;p54"/>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20" name="Google Shape;1920;p54"/>
          <p:cNvSpPr txBox="1"/>
          <p:nvPr/>
        </p:nvSpPr>
        <p:spPr>
          <a:xfrm>
            <a:off x="35814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1921" name="Google Shape;1921;p54"/>
          <p:cNvSpPr txBox="1"/>
          <p:nvPr/>
        </p:nvSpPr>
        <p:spPr>
          <a:xfrm>
            <a:off x="44196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22" name="Google Shape;1922;p54"/>
          <p:cNvSpPr txBox="1"/>
          <p:nvPr/>
        </p:nvSpPr>
        <p:spPr>
          <a:xfrm>
            <a:off x="44196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23" name="Google Shape;1923;p54"/>
          <p:cNvSpPr txBox="1"/>
          <p:nvPr/>
        </p:nvSpPr>
        <p:spPr>
          <a:xfrm>
            <a:off x="44196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cxnSp>
        <p:nvCxnSpPr>
          <p:cNvPr id="1924" name="Google Shape;1924;p54"/>
          <p:cNvCxnSpPr/>
          <p:nvPr/>
        </p:nvCxnSpPr>
        <p:spPr>
          <a:xfrm>
            <a:off x="3886200" y="1905000"/>
            <a:ext cx="533400" cy="1600200"/>
          </a:xfrm>
          <a:prstGeom prst="straightConnector1">
            <a:avLst/>
          </a:prstGeom>
          <a:noFill/>
          <a:ln w="38100" cap="flat" cmpd="sng">
            <a:solidFill>
              <a:schemeClr val="dk1"/>
            </a:solidFill>
            <a:prstDash val="solid"/>
            <a:round/>
            <a:headEnd type="none" w="med" len="med"/>
            <a:tailEnd type="triangle" w="med" len="med"/>
          </a:ln>
        </p:spPr>
      </p:cxnSp>
      <p:sp>
        <p:nvSpPr>
          <p:cNvPr id="1925" name="Google Shape;1925;p54"/>
          <p:cNvSpPr txBox="1"/>
          <p:nvPr/>
        </p:nvSpPr>
        <p:spPr>
          <a:xfrm>
            <a:off x="44196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5</a:t>
            </a:r>
            <a:endParaRPr sz="1800" b="0" i="0" u="none" strike="noStrike" cap="none">
              <a:solidFill>
                <a:srgbClr val="000000"/>
              </a:solidFill>
              <a:latin typeface="Calibri"/>
              <a:ea typeface="Calibri"/>
              <a:cs typeface="Calibri"/>
              <a:sym typeface="Calibri"/>
            </a:endParaRPr>
          </a:p>
        </p:txBody>
      </p:sp>
      <p:sp>
        <p:nvSpPr>
          <p:cNvPr id="1926" name="Google Shape;1926;p54"/>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27" name="Google Shape;1927;p54"/>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28" name="Google Shape;1928;p54"/>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29" name="Google Shape;1929;p54"/>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933"/>
        <p:cNvGrpSpPr/>
        <p:nvPr/>
      </p:nvGrpSpPr>
      <p:grpSpPr>
        <a:xfrm>
          <a:off x="0" y="0"/>
          <a:ext cx="0" cy="0"/>
          <a:chOff x="0" y="0"/>
          <a:chExt cx="0" cy="0"/>
        </a:xfrm>
      </p:grpSpPr>
      <p:sp>
        <p:nvSpPr>
          <p:cNvPr id="1934" name="Google Shape;1934;p55"/>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(15)</a:t>
            </a:r>
            <a:endParaRPr/>
          </a:p>
        </p:txBody>
      </p:sp>
      <p:cxnSp>
        <p:nvCxnSpPr>
          <p:cNvPr id="1935" name="Google Shape;1935;p55"/>
          <p:cNvCxnSpPr/>
          <p:nvPr/>
        </p:nvCxnSpPr>
        <p:spPr>
          <a:xfrm>
            <a:off x="4648200" y="1524000"/>
            <a:ext cx="0" cy="3657600"/>
          </a:xfrm>
          <a:prstGeom prst="straightConnector1">
            <a:avLst/>
          </a:prstGeom>
          <a:noFill/>
          <a:ln>
            <a:noFill/>
          </a:ln>
        </p:spPr>
      </p:cxnSp>
      <p:sp>
        <p:nvSpPr>
          <p:cNvPr id="1936" name="Google Shape;1936;p55"/>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000000"/>
                </a:solidFill>
                <a:latin typeface="Calibri"/>
                <a:ea typeface="Calibri"/>
                <a:cs typeface="Calibri"/>
                <a:sym typeface="Calibri"/>
              </a:rPr>
              <a:t>B[i,w] =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1937" name="Google Shape;1937;p55"/>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938" name="Google Shape;1938;p55"/>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39" name="Google Shape;1939;p55"/>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40" name="Google Shape;1940;p55"/>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41" name="Google Shape;1941;p55"/>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42" name="Google Shape;1942;p55"/>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43" name="Google Shape;1943;p55"/>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44" name="Google Shape;1944;p55"/>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1945" name="Google Shape;1945;p55"/>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946" name="Google Shape;1946;p55"/>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947" name="Google Shape;1947;p55"/>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948" name="Google Shape;1948;p55"/>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1949" name="Google Shape;1949;p55"/>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1950" name="Google Shape;1950;p55"/>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1" name="Google Shape;1951;p55"/>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2" name="Google Shape;1952;p55"/>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3" name="Google Shape;1953;p55"/>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4" name="Google Shape;1954;p55"/>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5" name="Google Shape;1955;p55"/>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6" name="Google Shape;1956;p55"/>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1957" name="Google Shape;1957;p55"/>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58" name="Google Shape;1958;p55"/>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959" name="Google Shape;1959;p55"/>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960" name="Google Shape;1960;p55"/>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61" name="Google Shape;1961;p55"/>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62" name="Google Shape;1962;p55"/>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963" name="Google Shape;1963;p55"/>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1964" name="Google Shape;1964;p55"/>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65" name="Google Shape;1965;p55"/>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1966" name="Google Shape;1966;p55"/>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1967" name="Google Shape;1967;p55"/>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68" name="Google Shape;1968;p55"/>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69" name="Google Shape;1969;p55"/>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70" name="Google Shape;1970;p55"/>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71" name="Google Shape;1971;p55"/>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72" name="Google Shape;1972;p55"/>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=5</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5</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 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=1</a:t>
            </a:r>
            <a:endParaRPr/>
          </a:p>
        </p:txBody>
      </p:sp>
      <p:sp>
        <p:nvSpPr>
          <p:cNvPr id="1973" name="Google Shape;1973;p55"/>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1974" name="Google Shape;1974;p55"/>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75" name="Google Shape;1975;p55"/>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76" name="Google Shape;1976;p55"/>
          <p:cNvSpPr/>
          <p:nvPr/>
        </p:nvSpPr>
        <p:spPr>
          <a:xfrm>
            <a:off x="7239000" y="685800"/>
            <a:ext cx="1676400" cy="1295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977" name="Google Shape;1977;p55"/>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78" name="Google Shape;1978;p55"/>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79" name="Google Shape;1979;p55"/>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80" name="Google Shape;1980;p55"/>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81" name="Google Shape;1981;p55"/>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1982" name="Google Shape;1982;p55"/>
          <p:cNvSpPr txBox="1"/>
          <p:nvPr/>
        </p:nvSpPr>
        <p:spPr>
          <a:xfrm>
            <a:off x="35814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1983" name="Google Shape;1983;p55"/>
          <p:cNvSpPr txBox="1"/>
          <p:nvPr/>
        </p:nvSpPr>
        <p:spPr>
          <a:xfrm>
            <a:off x="44196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1984" name="Google Shape;1984;p55"/>
          <p:cNvSpPr txBox="1"/>
          <p:nvPr/>
        </p:nvSpPr>
        <p:spPr>
          <a:xfrm>
            <a:off x="44196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85" name="Google Shape;1985;p55"/>
          <p:cNvSpPr txBox="1"/>
          <p:nvPr/>
        </p:nvSpPr>
        <p:spPr>
          <a:xfrm>
            <a:off x="44196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cxnSp>
        <p:nvCxnSpPr>
          <p:cNvPr id="1986" name="Google Shape;1986;p55"/>
          <p:cNvCxnSpPr/>
          <p:nvPr/>
        </p:nvCxnSpPr>
        <p:spPr>
          <a:xfrm>
            <a:off x="4038600" y="4038600"/>
            <a:ext cx="381000" cy="0"/>
          </a:xfrm>
          <a:prstGeom prst="straightConnector1">
            <a:avLst/>
          </a:prstGeom>
          <a:noFill/>
          <a:ln w="38100" cap="flat" cmpd="sng">
            <a:solidFill>
              <a:schemeClr val="dk1"/>
            </a:solidFill>
            <a:prstDash val="solid"/>
            <a:round/>
            <a:headEnd type="none" w="med" len="med"/>
            <a:tailEnd type="triangle" w="med" len="med"/>
          </a:ln>
        </p:spPr>
      </p:cxnSp>
      <p:sp>
        <p:nvSpPr>
          <p:cNvPr id="1987" name="Google Shape;1987;p55"/>
          <p:cNvSpPr txBox="1"/>
          <p:nvPr/>
        </p:nvSpPr>
        <p:spPr>
          <a:xfrm>
            <a:off x="44196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1988" name="Google Shape;1988;p55"/>
          <p:cNvSpPr txBox="1"/>
          <p:nvPr/>
        </p:nvSpPr>
        <p:spPr>
          <a:xfrm>
            <a:off x="44196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7</a:t>
            </a:r>
            <a:endParaRPr sz="1800" b="0" i="0" u="none" strike="noStrike" cap="none">
              <a:solidFill>
                <a:srgbClr val="000000"/>
              </a:solidFill>
              <a:latin typeface="Calibri"/>
              <a:ea typeface="Calibri"/>
              <a:cs typeface="Calibri"/>
              <a:sym typeface="Calibri"/>
            </a:endParaRPr>
          </a:p>
        </p:txBody>
      </p:sp>
      <p:sp>
        <p:nvSpPr>
          <p:cNvPr id="1989" name="Google Shape;1989;p55"/>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90" name="Google Shape;1990;p55"/>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91" name="Google Shape;1991;p55"/>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1992" name="Google Shape;1992;p55"/>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996"/>
        <p:cNvGrpSpPr/>
        <p:nvPr/>
      </p:nvGrpSpPr>
      <p:grpSpPr>
        <a:xfrm>
          <a:off x="0" y="0"/>
          <a:ext cx="0" cy="0"/>
          <a:chOff x="0" y="0"/>
          <a:chExt cx="0" cy="0"/>
        </a:xfrm>
      </p:grpSpPr>
      <p:sp>
        <p:nvSpPr>
          <p:cNvPr id="1997" name="Google Shape;1997;p56"/>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(16)</a:t>
            </a:r>
            <a:endParaRPr/>
          </a:p>
        </p:txBody>
      </p:sp>
      <p:cxnSp>
        <p:nvCxnSpPr>
          <p:cNvPr id="1998" name="Google Shape;1998;p56"/>
          <p:cNvCxnSpPr/>
          <p:nvPr/>
        </p:nvCxnSpPr>
        <p:spPr>
          <a:xfrm>
            <a:off x="4648200" y="1524000"/>
            <a:ext cx="0" cy="3657600"/>
          </a:xfrm>
          <a:prstGeom prst="straightConnector1">
            <a:avLst/>
          </a:prstGeom>
          <a:noFill/>
          <a:ln>
            <a:noFill/>
          </a:ln>
        </p:spPr>
      </p:cxnSp>
      <p:sp>
        <p:nvSpPr>
          <p:cNvPr id="1999" name="Google Shape;1999;p56"/>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&lt;= w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 </a:t>
            </a:r>
            <a:r>
              <a:rPr lang="en-US" sz="2000" b="1" i="0" u="none" strike="noStrike" cap="none">
                <a:solidFill>
                  <a:srgbClr val="000000"/>
                </a:solidFill>
                <a:latin typeface="Calibri"/>
                <a:ea typeface="Calibri"/>
                <a:cs typeface="Calibri"/>
                <a:sym typeface="Calibri"/>
              </a:rPr>
              <a:t>B[i,w] = B[i-1,w]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2000" name="Google Shape;2000;p56"/>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01" name="Google Shape;2001;p56"/>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2" name="Google Shape;2002;p56"/>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3" name="Google Shape;2003;p56"/>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4" name="Google Shape;2004;p56"/>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5" name="Google Shape;2005;p56"/>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6" name="Google Shape;2006;p56"/>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7" name="Google Shape;2007;p56"/>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08" name="Google Shape;2008;p56"/>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09" name="Google Shape;2009;p56"/>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10" name="Google Shape;2010;p56"/>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11" name="Google Shape;2011;p56"/>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12" name="Google Shape;2012;p56"/>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2013" name="Google Shape;2013;p56"/>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14" name="Google Shape;2014;p56"/>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15" name="Google Shape;2015;p56"/>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16" name="Google Shape;2016;p56"/>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17" name="Google Shape;2017;p56"/>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18" name="Google Shape;2018;p56"/>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19" name="Google Shape;2019;p56"/>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2020" name="Google Shape;2020;p56"/>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21" name="Google Shape;2021;p56"/>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2022" name="Google Shape;2022;p56"/>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2023" name="Google Shape;2023;p56"/>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24" name="Google Shape;2024;p56"/>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025" name="Google Shape;2025;p56"/>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2026" name="Google Shape;2026;p56"/>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2027" name="Google Shape;2027;p56"/>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28" name="Google Shape;2028;p56"/>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2029" name="Google Shape;2029;p56"/>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2030" name="Google Shape;2030;p56"/>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31" name="Google Shape;2031;p56"/>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32" name="Google Shape;2032;p56"/>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33" name="Google Shape;2033;p56"/>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34" name="Google Shape;2034;p56"/>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35" name="Google Shape;2035;p56"/>
          <p:cNvSpPr txBox="1"/>
          <p:nvPr/>
        </p:nvSpPr>
        <p:spPr>
          <a:xfrm>
            <a:off x="6172200" y="1752600"/>
            <a:ext cx="1447800" cy="19716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=5</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1..4</a:t>
            </a:r>
            <a:endParaRPr/>
          </a:p>
        </p:txBody>
      </p:sp>
      <p:sp>
        <p:nvSpPr>
          <p:cNvPr id="2036" name="Google Shape;2036;p56"/>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2037" name="Google Shape;2037;p56"/>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038" name="Google Shape;2038;p56"/>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39" name="Google Shape;2039;p56"/>
          <p:cNvSpPr/>
          <p:nvPr/>
        </p:nvSpPr>
        <p:spPr>
          <a:xfrm>
            <a:off x="7239000" y="685800"/>
            <a:ext cx="1676400" cy="17526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040" name="Google Shape;2040;p56"/>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41" name="Google Shape;2041;p56"/>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42" name="Google Shape;2042;p56"/>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43" name="Google Shape;2043;p56"/>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044" name="Google Shape;2044;p56"/>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045" name="Google Shape;2045;p56"/>
          <p:cNvSpPr txBox="1"/>
          <p:nvPr/>
        </p:nvSpPr>
        <p:spPr>
          <a:xfrm>
            <a:off x="35814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2046" name="Google Shape;2046;p56"/>
          <p:cNvSpPr txBox="1"/>
          <p:nvPr/>
        </p:nvSpPr>
        <p:spPr>
          <a:xfrm>
            <a:off x="44196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47" name="Google Shape;2047;p56"/>
          <p:cNvSpPr txBox="1"/>
          <p:nvPr/>
        </p:nvSpPr>
        <p:spPr>
          <a:xfrm>
            <a:off x="44196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48" name="Google Shape;2048;p56"/>
          <p:cNvSpPr txBox="1"/>
          <p:nvPr/>
        </p:nvSpPr>
        <p:spPr>
          <a:xfrm>
            <a:off x="44196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049" name="Google Shape;2049;p56"/>
          <p:cNvSpPr txBox="1"/>
          <p:nvPr/>
        </p:nvSpPr>
        <p:spPr>
          <a:xfrm>
            <a:off x="44196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2050" name="Google Shape;2050;p56"/>
          <p:cNvSpPr txBox="1"/>
          <p:nvPr/>
        </p:nvSpPr>
        <p:spPr>
          <a:xfrm>
            <a:off x="44196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2051" name="Google Shape;2051;p56"/>
          <p:cNvSpPr txBox="1"/>
          <p:nvPr/>
        </p:nvSpPr>
        <p:spPr>
          <a:xfrm>
            <a:off x="5334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0</a:t>
            </a:r>
            <a:endParaRPr/>
          </a:p>
        </p:txBody>
      </p:sp>
      <p:sp>
        <p:nvSpPr>
          <p:cNvPr id="2052" name="Google Shape;2052;p56"/>
          <p:cNvSpPr txBox="1"/>
          <p:nvPr/>
        </p:nvSpPr>
        <p:spPr>
          <a:xfrm>
            <a:off x="5334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3</a:t>
            </a:r>
            <a:endParaRPr/>
          </a:p>
        </p:txBody>
      </p:sp>
      <p:sp>
        <p:nvSpPr>
          <p:cNvPr id="2053" name="Google Shape;2053;p56"/>
          <p:cNvSpPr txBox="1"/>
          <p:nvPr/>
        </p:nvSpPr>
        <p:spPr>
          <a:xfrm>
            <a:off x="5334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4</a:t>
            </a:r>
            <a:endParaRPr/>
          </a:p>
        </p:txBody>
      </p:sp>
      <p:sp>
        <p:nvSpPr>
          <p:cNvPr id="2054" name="Google Shape;2054;p56"/>
          <p:cNvSpPr txBox="1"/>
          <p:nvPr/>
        </p:nvSpPr>
        <p:spPr>
          <a:xfrm>
            <a:off x="5334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5</a:t>
            </a:r>
            <a:endParaRPr/>
          </a:p>
        </p:txBody>
      </p:sp>
      <p:cxnSp>
        <p:nvCxnSpPr>
          <p:cNvPr id="2055" name="Google Shape;2055;p56"/>
          <p:cNvCxnSpPr/>
          <p:nvPr/>
        </p:nvCxnSpPr>
        <p:spPr>
          <a:xfrm>
            <a:off x="4800600" y="2209800"/>
            <a:ext cx="457200" cy="0"/>
          </a:xfrm>
          <a:prstGeom prst="straightConnector1">
            <a:avLst/>
          </a:prstGeom>
          <a:noFill/>
          <a:ln w="38100" cap="flat" cmpd="sng">
            <a:solidFill>
              <a:schemeClr val="dk1"/>
            </a:solidFill>
            <a:prstDash val="solid"/>
            <a:round/>
            <a:headEnd type="none" w="med" len="med"/>
            <a:tailEnd type="triangle" w="med" len="med"/>
          </a:ln>
        </p:spPr>
      </p:cxnSp>
      <p:cxnSp>
        <p:nvCxnSpPr>
          <p:cNvPr id="2056" name="Google Shape;2056;p56"/>
          <p:cNvCxnSpPr/>
          <p:nvPr/>
        </p:nvCxnSpPr>
        <p:spPr>
          <a:xfrm>
            <a:off x="4800600" y="2667000"/>
            <a:ext cx="457200" cy="0"/>
          </a:xfrm>
          <a:prstGeom prst="straightConnector1">
            <a:avLst/>
          </a:prstGeom>
          <a:noFill/>
          <a:ln w="38100" cap="flat" cmpd="sng">
            <a:solidFill>
              <a:schemeClr val="dk1"/>
            </a:solidFill>
            <a:prstDash val="solid"/>
            <a:round/>
            <a:headEnd type="none" w="med" len="med"/>
            <a:tailEnd type="triangle" w="med" len="med"/>
          </a:ln>
        </p:spPr>
      </p:cxnSp>
      <p:cxnSp>
        <p:nvCxnSpPr>
          <p:cNvPr id="2057" name="Google Shape;2057;p56"/>
          <p:cNvCxnSpPr/>
          <p:nvPr/>
        </p:nvCxnSpPr>
        <p:spPr>
          <a:xfrm>
            <a:off x="4800600" y="3124200"/>
            <a:ext cx="457200" cy="0"/>
          </a:xfrm>
          <a:prstGeom prst="straightConnector1">
            <a:avLst/>
          </a:prstGeom>
          <a:noFill/>
          <a:ln w="38100" cap="flat" cmpd="sng">
            <a:solidFill>
              <a:schemeClr val="dk1"/>
            </a:solidFill>
            <a:prstDash val="solid"/>
            <a:round/>
            <a:headEnd type="none" w="med" len="med"/>
            <a:tailEnd type="triangle" w="med" len="med"/>
          </a:ln>
        </p:spPr>
      </p:cxnSp>
      <p:cxnSp>
        <p:nvCxnSpPr>
          <p:cNvPr id="2058" name="Google Shape;2058;p56"/>
          <p:cNvCxnSpPr/>
          <p:nvPr/>
        </p:nvCxnSpPr>
        <p:spPr>
          <a:xfrm>
            <a:off x="4800600" y="3581400"/>
            <a:ext cx="457200" cy="0"/>
          </a:xfrm>
          <a:prstGeom prst="straightConnector1">
            <a:avLst/>
          </a:prstGeom>
          <a:noFill/>
          <a:ln w="38100" cap="flat" cmpd="sng">
            <a:solidFill>
              <a:schemeClr val="dk1"/>
            </a:solidFill>
            <a:prstDash val="solid"/>
            <a:round/>
            <a:headEnd type="none" w="med" len="med"/>
            <a:tailEnd type="triangle" w="med" len="med"/>
          </a:ln>
        </p:spPr>
      </p:cxnSp>
      <p:sp>
        <p:nvSpPr>
          <p:cNvPr id="2059" name="Google Shape;2059;p56"/>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60" name="Google Shape;2060;p56"/>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61" name="Google Shape;2061;p56"/>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62" name="Google Shape;2062;p56"/>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66"/>
        <p:cNvGrpSpPr/>
        <p:nvPr/>
      </p:nvGrpSpPr>
      <p:grpSpPr>
        <a:xfrm>
          <a:off x="0" y="0"/>
          <a:ext cx="0" cy="0"/>
          <a:chOff x="0" y="0"/>
          <a:chExt cx="0" cy="0"/>
        </a:xfrm>
      </p:grpSpPr>
      <p:sp>
        <p:nvSpPr>
          <p:cNvPr id="2067" name="Google Shape;2067;p57"/>
          <p:cNvSpPr txBox="1">
            <a:spLocks noGrp="1"/>
          </p:cNvSpPr>
          <p:nvPr>
            <p:ph type="title"/>
          </p:nvPr>
        </p:nvSpPr>
        <p:spPr>
          <a:xfrm>
            <a:off x="2133600" y="304800"/>
            <a:ext cx="4953000" cy="609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Calibri"/>
              <a:buNone/>
            </a:pPr>
            <a:r>
              <a:rPr lang="en-US" sz="3200" b="1"/>
              <a:t>Example (17)</a:t>
            </a:r>
            <a:endParaRPr/>
          </a:p>
        </p:txBody>
      </p:sp>
      <p:cxnSp>
        <p:nvCxnSpPr>
          <p:cNvPr id="2068" name="Google Shape;2068;p57"/>
          <p:cNvCxnSpPr/>
          <p:nvPr/>
        </p:nvCxnSpPr>
        <p:spPr>
          <a:xfrm>
            <a:off x="4648200" y="1524000"/>
            <a:ext cx="0" cy="3657600"/>
          </a:xfrm>
          <a:prstGeom prst="straightConnector1">
            <a:avLst/>
          </a:prstGeom>
          <a:noFill/>
          <a:ln>
            <a:noFill/>
          </a:ln>
        </p:spPr>
      </p:cxnSp>
      <p:sp>
        <p:nvSpPr>
          <p:cNvPr id="2069" name="Google Shape;2069;p57"/>
          <p:cNvSpPr txBox="1"/>
          <p:nvPr/>
        </p:nvSpPr>
        <p:spPr>
          <a:xfrm>
            <a:off x="1752600" y="4419600"/>
            <a:ext cx="6934200" cy="1920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a:t>
            </a:r>
            <a:r>
              <a:rPr lang="en-US" sz="2000" b="0" i="0" u="none" strike="noStrike" cap="none">
                <a:solidFill>
                  <a:srgbClr val="FF0000"/>
                </a:solidFill>
                <a:latin typeface="Calibri"/>
                <a:ea typeface="Calibri"/>
                <a:cs typeface="Calibri"/>
                <a:sym typeface="Calibri"/>
              </a:rPr>
              <a:t>w</a:t>
            </a:r>
            <a:r>
              <a:rPr lang="en-US" sz="2000" b="0" i="0" u="none" strike="noStrike" cap="none" baseline="-25000">
                <a:solidFill>
                  <a:srgbClr val="FF0000"/>
                </a:solidFill>
                <a:latin typeface="Calibri"/>
                <a:ea typeface="Calibri"/>
                <a:cs typeface="Calibri"/>
                <a:sym typeface="Calibri"/>
              </a:rPr>
              <a:t>i</a:t>
            </a:r>
            <a:r>
              <a:rPr lang="en-US" sz="2000" b="0" i="0" u="none" strike="noStrike" cap="none">
                <a:solidFill>
                  <a:srgbClr val="FF0000"/>
                </a:solidFill>
                <a:latin typeface="Calibri"/>
                <a:ea typeface="Calibri"/>
                <a:cs typeface="Calibri"/>
                <a:sym typeface="Calibri"/>
              </a:rPr>
              <a:t> &lt;= w</a:t>
            </a: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008000"/>
                </a:solidFill>
                <a:latin typeface="Calibri"/>
                <a:ea typeface="Calibri"/>
                <a:cs typeface="Calibri"/>
                <a:sym typeface="Calibri"/>
              </a:rPr>
              <a:t>// item i can be part of the solution</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if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&gt; B[i-1,w]</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B[i,w] = b</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 + B[i-1,w- w</a:t>
            </a:r>
            <a:r>
              <a:rPr lang="en-US" sz="2000" b="0" i="0" u="none" strike="noStrike" cap="none" baseline="-25000">
                <a:solidFill>
                  <a:srgbClr val="000000"/>
                </a:solidFill>
                <a:latin typeface="Calibri"/>
                <a:ea typeface="Calibri"/>
                <a:cs typeface="Calibri"/>
                <a:sym typeface="Calibri"/>
              </a:rPr>
              <a:t>i</a:t>
            </a:r>
            <a:r>
              <a:rPr lang="en-US" sz="2000" b="0" i="0" u="none" strike="noStrike" cap="none">
                <a:solidFill>
                  <a:srgbClr val="000000"/>
                </a:solidFill>
                <a:latin typeface="Calibri"/>
                <a:ea typeface="Calibri"/>
                <a:cs typeface="Calibri"/>
                <a:sym typeface="Calibri"/>
              </a:rPr>
              <a:t>]</a:t>
            </a:r>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0" i="0" u="none" strike="noStrike" cap="none">
                <a:solidFill>
                  <a:srgbClr val="FF0000"/>
                </a:solidFill>
                <a:latin typeface="Calibri"/>
                <a:ea typeface="Calibri"/>
                <a:cs typeface="Calibri"/>
                <a:sym typeface="Calibri"/>
              </a:rPr>
              <a:t>else</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a:t>
            </a:r>
            <a:r>
              <a:rPr lang="en-US" sz="2000" b="1" i="0" u="none" strike="noStrike" cap="none">
                <a:solidFill>
                  <a:srgbClr val="FF0000"/>
                </a:solidFill>
                <a:latin typeface="Calibri"/>
                <a:ea typeface="Calibri"/>
                <a:cs typeface="Calibri"/>
                <a:sym typeface="Calibri"/>
              </a:rPr>
              <a:t>B[i,w] = B[i-1,w]</a:t>
            </a:r>
            <a:endParaRPr sz="2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Calibri"/>
              <a:buNone/>
            </a:pPr>
            <a:r>
              <a:rPr lang="en-US" sz="2000" b="0" i="0" u="none" strike="noStrike" cap="none">
                <a:solidFill>
                  <a:srgbClr val="000000"/>
                </a:solidFill>
                <a:latin typeface="Calibri"/>
                <a:ea typeface="Calibri"/>
                <a:cs typeface="Calibri"/>
                <a:sym typeface="Calibri"/>
              </a:rPr>
              <a:t>    else B[i,w] = B[i-1,w]  </a:t>
            </a:r>
            <a:r>
              <a:rPr lang="en-US" sz="2000" b="0" i="0" u="none" strike="noStrike" cap="none">
                <a:solidFill>
                  <a:srgbClr val="008000"/>
                </a:solidFill>
                <a:latin typeface="Calibri"/>
                <a:ea typeface="Calibri"/>
                <a:cs typeface="Calibri"/>
                <a:sym typeface="Calibri"/>
              </a:rPr>
              <a:t>// w</a:t>
            </a:r>
            <a:r>
              <a:rPr lang="en-US" sz="2000" b="0" i="0" u="none" strike="noStrike" cap="none" baseline="-25000">
                <a:solidFill>
                  <a:srgbClr val="008000"/>
                </a:solidFill>
                <a:latin typeface="Calibri"/>
                <a:ea typeface="Calibri"/>
                <a:cs typeface="Calibri"/>
                <a:sym typeface="Calibri"/>
              </a:rPr>
              <a:t>i</a:t>
            </a:r>
            <a:r>
              <a:rPr lang="en-US" sz="2000" b="0" i="0" u="none" strike="noStrike" cap="none">
                <a:solidFill>
                  <a:srgbClr val="008000"/>
                </a:solidFill>
                <a:latin typeface="Calibri"/>
                <a:ea typeface="Calibri"/>
                <a:cs typeface="Calibri"/>
                <a:sym typeface="Calibri"/>
              </a:rPr>
              <a:t> &gt; w </a:t>
            </a:r>
            <a:endParaRPr sz="2800" b="0" i="0" u="none" strike="noStrike" cap="none">
              <a:solidFill>
                <a:srgbClr val="000000"/>
              </a:solidFill>
              <a:latin typeface="Calibri"/>
              <a:ea typeface="Calibri"/>
              <a:cs typeface="Calibri"/>
              <a:sym typeface="Calibri"/>
            </a:endParaRPr>
          </a:p>
        </p:txBody>
      </p:sp>
      <p:cxnSp>
        <p:nvCxnSpPr>
          <p:cNvPr id="2070" name="Google Shape;2070;p57"/>
          <p:cNvCxnSpPr/>
          <p:nvPr/>
        </p:nvCxnSpPr>
        <p:spPr>
          <a:xfrm>
            <a:off x="1752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71" name="Google Shape;2071;p57"/>
          <p:cNvCxnSpPr/>
          <p:nvPr/>
        </p:nvCxnSpPr>
        <p:spPr>
          <a:xfrm>
            <a:off x="1752600" y="1524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2" name="Google Shape;2072;p57"/>
          <p:cNvCxnSpPr/>
          <p:nvPr/>
        </p:nvCxnSpPr>
        <p:spPr>
          <a:xfrm>
            <a:off x="1752600" y="1981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3" name="Google Shape;2073;p57"/>
          <p:cNvCxnSpPr/>
          <p:nvPr/>
        </p:nvCxnSpPr>
        <p:spPr>
          <a:xfrm>
            <a:off x="1752600" y="28956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4" name="Google Shape;2074;p57"/>
          <p:cNvCxnSpPr/>
          <p:nvPr/>
        </p:nvCxnSpPr>
        <p:spPr>
          <a:xfrm>
            <a:off x="1752600" y="24384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5" name="Google Shape;2075;p57"/>
          <p:cNvCxnSpPr/>
          <p:nvPr/>
        </p:nvCxnSpPr>
        <p:spPr>
          <a:xfrm>
            <a:off x="1752600" y="33528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6" name="Google Shape;2076;p57"/>
          <p:cNvCxnSpPr/>
          <p:nvPr/>
        </p:nvCxnSpPr>
        <p:spPr>
          <a:xfrm>
            <a:off x="1752600" y="38100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7" name="Google Shape;2077;p57"/>
          <p:cNvCxnSpPr/>
          <p:nvPr/>
        </p:nvCxnSpPr>
        <p:spPr>
          <a:xfrm>
            <a:off x="1752600" y="4267200"/>
            <a:ext cx="4191000" cy="0"/>
          </a:xfrm>
          <a:prstGeom prst="straightConnector1">
            <a:avLst/>
          </a:prstGeom>
          <a:noFill/>
          <a:ln w="9525" cap="flat" cmpd="sng">
            <a:solidFill>
              <a:schemeClr val="dk1"/>
            </a:solidFill>
            <a:prstDash val="solid"/>
            <a:round/>
            <a:headEnd type="none" w="med" len="med"/>
            <a:tailEnd type="none" w="med" len="med"/>
          </a:ln>
        </p:spPr>
      </p:cxnSp>
      <p:cxnSp>
        <p:nvCxnSpPr>
          <p:cNvPr id="2078" name="Google Shape;2078;p57"/>
          <p:cNvCxnSpPr/>
          <p:nvPr/>
        </p:nvCxnSpPr>
        <p:spPr>
          <a:xfrm>
            <a:off x="25146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79" name="Google Shape;2079;p57"/>
          <p:cNvCxnSpPr/>
          <p:nvPr/>
        </p:nvCxnSpPr>
        <p:spPr>
          <a:xfrm>
            <a:off x="33528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80" name="Google Shape;2080;p57"/>
          <p:cNvCxnSpPr/>
          <p:nvPr/>
        </p:nvCxnSpPr>
        <p:spPr>
          <a:xfrm>
            <a:off x="41910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81" name="Google Shape;2081;p57"/>
          <p:cNvCxnSpPr/>
          <p:nvPr/>
        </p:nvCxnSpPr>
        <p:spPr>
          <a:xfrm>
            <a:off x="5029200" y="1524000"/>
            <a:ext cx="0" cy="2743200"/>
          </a:xfrm>
          <a:prstGeom prst="straightConnector1">
            <a:avLst/>
          </a:prstGeom>
          <a:noFill/>
          <a:ln w="9525" cap="flat" cmpd="sng">
            <a:solidFill>
              <a:schemeClr val="dk1"/>
            </a:solidFill>
            <a:prstDash val="solid"/>
            <a:round/>
            <a:headEnd type="none" w="med" len="med"/>
            <a:tailEnd type="none" w="med" len="med"/>
          </a:ln>
        </p:spPr>
      </p:cxnSp>
      <p:cxnSp>
        <p:nvCxnSpPr>
          <p:cNvPr id="2082" name="Google Shape;2082;p57"/>
          <p:cNvCxnSpPr/>
          <p:nvPr/>
        </p:nvCxnSpPr>
        <p:spPr>
          <a:xfrm>
            <a:off x="5943600" y="1524000"/>
            <a:ext cx="0" cy="2743200"/>
          </a:xfrm>
          <a:prstGeom prst="straightConnector1">
            <a:avLst/>
          </a:prstGeom>
          <a:noFill/>
          <a:ln w="9525" cap="flat" cmpd="sng">
            <a:solidFill>
              <a:schemeClr val="dk1"/>
            </a:solidFill>
            <a:prstDash val="solid"/>
            <a:round/>
            <a:headEnd type="none" w="med" len="med"/>
            <a:tailEnd type="none" w="med" len="med"/>
          </a:ln>
        </p:spPr>
      </p:cxnSp>
      <p:sp>
        <p:nvSpPr>
          <p:cNvPr id="2083" name="Google Shape;2083;p57"/>
          <p:cNvSpPr txBox="1"/>
          <p:nvPr/>
        </p:nvSpPr>
        <p:spPr>
          <a:xfrm>
            <a:off x="1981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84" name="Google Shape;2084;p57"/>
          <p:cNvSpPr txBox="1"/>
          <p:nvPr/>
        </p:nvSpPr>
        <p:spPr>
          <a:xfrm>
            <a:off x="1981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85" name="Google Shape;2085;p57"/>
          <p:cNvSpPr txBox="1"/>
          <p:nvPr/>
        </p:nvSpPr>
        <p:spPr>
          <a:xfrm>
            <a:off x="1981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86" name="Google Shape;2086;p57"/>
          <p:cNvSpPr txBox="1"/>
          <p:nvPr/>
        </p:nvSpPr>
        <p:spPr>
          <a:xfrm>
            <a:off x="1981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87" name="Google Shape;2087;p57"/>
          <p:cNvSpPr txBox="1"/>
          <p:nvPr/>
        </p:nvSpPr>
        <p:spPr>
          <a:xfrm>
            <a:off x="1981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88" name="Google Shape;2088;p57"/>
          <p:cNvSpPr txBox="1"/>
          <p:nvPr/>
        </p:nvSpPr>
        <p:spPr>
          <a:xfrm>
            <a:off x="1981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89" name="Google Shape;2089;p57"/>
          <p:cNvSpPr txBox="1"/>
          <p:nvPr/>
        </p:nvSpPr>
        <p:spPr>
          <a:xfrm>
            <a:off x="838200" y="1143000"/>
            <a:ext cx="4714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W</a:t>
            </a:r>
            <a:endParaRPr/>
          </a:p>
        </p:txBody>
      </p:sp>
      <p:sp>
        <p:nvSpPr>
          <p:cNvPr id="2090" name="Google Shape;2090;p57"/>
          <p:cNvSpPr txBox="1"/>
          <p:nvPr/>
        </p:nvSpPr>
        <p:spPr>
          <a:xfrm>
            <a:off x="1143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91" name="Google Shape;2091;p57"/>
          <p:cNvSpPr txBox="1"/>
          <p:nvPr/>
        </p:nvSpPr>
        <p:spPr>
          <a:xfrm>
            <a:off x="1143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2092" name="Google Shape;2092;p57"/>
          <p:cNvSpPr txBox="1"/>
          <p:nvPr/>
        </p:nvSpPr>
        <p:spPr>
          <a:xfrm>
            <a:off x="1143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2093" name="Google Shape;2093;p57"/>
          <p:cNvSpPr txBox="1"/>
          <p:nvPr/>
        </p:nvSpPr>
        <p:spPr>
          <a:xfrm>
            <a:off x="1143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094" name="Google Shape;2094;p57"/>
          <p:cNvSpPr txBox="1"/>
          <p:nvPr/>
        </p:nvSpPr>
        <p:spPr>
          <a:xfrm>
            <a:off x="53340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095" name="Google Shape;2095;p57"/>
          <p:cNvSpPr txBox="1"/>
          <p:nvPr/>
        </p:nvSpPr>
        <p:spPr>
          <a:xfrm>
            <a:off x="1143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2096" name="Google Shape;2096;p57"/>
          <p:cNvSpPr txBox="1"/>
          <p:nvPr/>
        </p:nvSpPr>
        <p:spPr>
          <a:xfrm>
            <a:off x="1447800" y="838200"/>
            <a:ext cx="2682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i</a:t>
            </a:r>
            <a:endParaRPr/>
          </a:p>
        </p:txBody>
      </p:sp>
      <p:sp>
        <p:nvSpPr>
          <p:cNvPr id="2097" name="Google Shape;2097;p57"/>
          <p:cNvSpPr txBox="1"/>
          <p:nvPr/>
        </p:nvSpPr>
        <p:spPr>
          <a:xfrm>
            <a:off x="1981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098" name="Google Shape;2098;p57"/>
          <p:cNvSpPr txBox="1"/>
          <p:nvPr/>
        </p:nvSpPr>
        <p:spPr>
          <a:xfrm>
            <a:off x="27432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1</a:t>
            </a:r>
            <a:endParaRPr/>
          </a:p>
        </p:txBody>
      </p:sp>
      <p:sp>
        <p:nvSpPr>
          <p:cNvPr id="2099" name="Google Shape;2099;p57"/>
          <p:cNvSpPr txBox="1"/>
          <p:nvPr/>
        </p:nvSpPr>
        <p:spPr>
          <a:xfrm>
            <a:off x="35814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2</a:t>
            </a:r>
            <a:endParaRPr/>
          </a:p>
        </p:txBody>
      </p:sp>
      <p:sp>
        <p:nvSpPr>
          <p:cNvPr id="2100" name="Google Shape;2100;p57"/>
          <p:cNvSpPr txBox="1"/>
          <p:nvPr/>
        </p:nvSpPr>
        <p:spPr>
          <a:xfrm>
            <a:off x="4419600" y="914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01" name="Google Shape;2101;p57"/>
          <p:cNvSpPr txBox="1"/>
          <p:nvPr/>
        </p:nvSpPr>
        <p:spPr>
          <a:xfrm>
            <a:off x="27432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02" name="Google Shape;2102;p57"/>
          <p:cNvSpPr txBox="1"/>
          <p:nvPr/>
        </p:nvSpPr>
        <p:spPr>
          <a:xfrm>
            <a:off x="35814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03" name="Google Shape;2103;p57"/>
          <p:cNvSpPr txBox="1"/>
          <p:nvPr/>
        </p:nvSpPr>
        <p:spPr>
          <a:xfrm>
            <a:off x="44196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04" name="Google Shape;2104;p57"/>
          <p:cNvSpPr txBox="1"/>
          <p:nvPr/>
        </p:nvSpPr>
        <p:spPr>
          <a:xfrm>
            <a:off x="5334000" y="1524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05" name="Google Shape;2105;p57"/>
          <p:cNvSpPr txBox="1"/>
          <p:nvPr/>
        </p:nvSpPr>
        <p:spPr>
          <a:xfrm>
            <a:off x="6172200" y="1752600"/>
            <a:ext cx="1447800" cy="2441575"/>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i=3</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b</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=5</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baseline="-25000">
                <a:solidFill>
                  <a:srgbClr val="000000"/>
                </a:solidFill>
                <a:latin typeface="Calibri"/>
                <a:ea typeface="Calibri"/>
                <a:cs typeface="Calibri"/>
                <a:sym typeface="Calibri"/>
              </a:rPr>
              <a:t>i</a:t>
            </a:r>
            <a:r>
              <a:rPr lang="en-US" sz="2800" b="0" i="0" u="none" strike="noStrike" cap="none">
                <a:solidFill>
                  <a:srgbClr val="000000"/>
                </a:solidFill>
                <a:latin typeface="Calibri"/>
                <a:ea typeface="Calibri"/>
                <a:cs typeface="Calibri"/>
                <a:sym typeface="Calibri"/>
              </a:rPr>
              <a:t>=4</a:t>
            </a:r>
            <a:endParaRPr/>
          </a:p>
          <a:p>
            <a:pPr marL="0" marR="0" lvl="0" indent="0" algn="l" rtl="0">
              <a:lnSpc>
                <a:spcPct val="11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w=</a:t>
            </a:r>
            <a:r>
              <a:rPr lang="en-US" sz="2800" b="0" i="0" u="none" strike="noStrike" cap="none">
                <a:solidFill>
                  <a:srgbClr val="FF0000"/>
                </a:solidFill>
                <a:latin typeface="Calibri"/>
                <a:ea typeface="Calibri"/>
                <a:cs typeface="Calibri"/>
                <a:sym typeface="Calibri"/>
              </a:rPr>
              <a:t>5</a:t>
            </a:r>
            <a:endParaRPr/>
          </a:p>
          <a:p>
            <a:pPr marL="0" marR="0" lvl="0" indent="0" algn="l" rtl="0">
              <a:lnSpc>
                <a:spcPct val="110000"/>
              </a:lnSpc>
              <a:spcBef>
                <a:spcPts val="0"/>
              </a:spcBef>
              <a:spcAft>
                <a:spcPts val="0"/>
              </a:spcAft>
              <a:buClr>
                <a:schemeClr val="dk1"/>
              </a:buClr>
              <a:buSzPts val="2800"/>
              <a:buFont typeface="Calibri"/>
              <a:buNone/>
            </a:pPr>
            <a:endParaRPr sz="2800" b="0" i="0" u="none" strike="noStrike" cap="none">
              <a:solidFill>
                <a:srgbClr val="FF0000"/>
              </a:solidFill>
              <a:latin typeface="Calibri"/>
              <a:ea typeface="Calibri"/>
              <a:cs typeface="Calibri"/>
              <a:sym typeface="Calibri"/>
            </a:endParaRPr>
          </a:p>
        </p:txBody>
      </p:sp>
      <p:sp>
        <p:nvSpPr>
          <p:cNvPr id="2106" name="Google Shape;2106;p57"/>
          <p:cNvSpPr txBox="1"/>
          <p:nvPr/>
        </p:nvSpPr>
        <p:spPr>
          <a:xfrm>
            <a:off x="7543800" y="228600"/>
            <a:ext cx="1320800" cy="2227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Items:</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1: (2,3)</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2: (3,4)</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3: (4,5) </a:t>
            </a:r>
            <a:endParaRPr/>
          </a:p>
          <a:p>
            <a:pPr marL="0" marR="0" lvl="0" indent="0" algn="l" rtl="0">
              <a:lnSpc>
                <a:spcPct val="100000"/>
              </a:lnSpc>
              <a:spcBef>
                <a:spcPts val="0"/>
              </a:spcBef>
              <a:spcAft>
                <a:spcPts val="0"/>
              </a:spcAft>
              <a:buClr>
                <a:srgbClr val="000000"/>
              </a:buClr>
              <a:buSzPts val="2800"/>
              <a:buFont typeface="Calibri"/>
              <a:buNone/>
            </a:pPr>
            <a:r>
              <a:rPr lang="en-US" sz="2800" b="0" i="0" u="none" strike="noStrike" cap="none">
                <a:solidFill>
                  <a:srgbClr val="000000"/>
                </a:solidFill>
                <a:latin typeface="Calibri"/>
                <a:ea typeface="Calibri"/>
                <a:cs typeface="Calibri"/>
                <a:sym typeface="Calibri"/>
              </a:rPr>
              <a:t>4: (5,6)</a:t>
            </a:r>
            <a:endParaRPr sz="1800" b="0" i="0" u="none" strike="noStrike" cap="none">
              <a:solidFill>
                <a:srgbClr val="000000"/>
              </a:solidFill>
              <a:latin typeface="Calibri"/>
              <a:ea typeface="Calibri"/>
              <a:cs typeface="Calibri"/>
              <a:sym typeface="Calibri"/>
            </a:endParaRPr>
          </a:p>
        </p:txBody>
      </p:sp>
      <p:sp>
        <p:nvSpPr>
          <p:cNvPr id="2107" name="Google Shape;2107;p57"/>
          <p:cNvSpPr txBox="1"/>
          <p:nvPr/>
        </p:nvSpPr>
        <p:spPr>
          <a:xfrm>
            <a:off x="1143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108" name="Google Shape;2108;p57"/>
          <p:cNvSpPr txBox="1"/>
          <p:nvPr/>
        </p:nvSpPr>
        <p:spPr>
          <a:xfrm>
            <a:off x="27432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09" name="Google Shape;2109;p57"/>
          <p:cNvSpPr/>
          <p:nvPr/>
        </p:nvSpPr>
        <p:spPr>
          <a:xfrm>
            <a:off x="7239000" y="685800"/>
            <a:ext cx="1676400" cy="17526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110" name="Google Shape;2110;p57"/>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11" name="Google Shape;2111;p57"/>
          <p:cNvSpPr txBox="1"/>
          <p:nvPr/>
        </p:nvSpPr>
        <p:spPr>
          <a:xfrm>
            <a:off x="35814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12" name="Google Shape;2112;p57"/>
          <p:cNvSpPr txBox="1"/>
          <p:nvPr/>
        </p:nvSpPr>
        <p:spPr>
          <a:xfrm>
            <a:off x="35814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13" name="Google Shape;2113;p57"/>
          <p:cNvSpPr txBox="1"/>
          <p:nvPr/>
        </p:nvSpPr>
        <p:spPr>
          <a:xfrm>
            <a:off x="35814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114" name="Google Shape;2114;p57"/>
          <p:cNvSpPr txBox="1"/>
          <p:nvPr/>
        </p:nvSpPr>
        <p:spPr>
          <a:xfrm>
            <a:off x="35814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115" name="Google Shape;2115;p57"/>
          <p:cNvSpPr txBox="1"/>
          <p:nvPr/>
        </p:nvSpPr>
        <p:spPr>
          <a:xfrm>
            <a:off x="35814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2116" name="Google Shape;2116;p57"/>
          <p:cNvSpPr txBox="1"/>
          <p:nvPr/>
        </p:nvSpPr>
        <p:spPr>
          <a:xfrm>
            <a:off x="44196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17" name="Google Shape;2117;p57"/>
          <p:cNvSpPr txBox="1"/>
          <p:nvPr/>
        </p:nvSpPr>
        <p:spPr>
          <a:xfrm>
            <a:off x="44196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18" name="Google Shape;2118;p57"/>
          <p:cNvSpPr txBox="1"/>
          <p:nvPr/>
        </p:nvSpPr>
        <p:spPr>
          <a:xfrm>
            <a:off x="44196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119" name="Google Shape;2119;p57"/>
          <p:cNvSpPr txBox="1"/>
          <p:nvPr/>
        </p:nvSpPr>
        <p:spPr>
          <a:xfrm>
            <a:off x="44196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sp>
        <p:nvSpPr>
          <p:cNvPr id="2120" name="Google Shape;2120;p57"/>
          <p:cNvSpPr txBox="1"/>
          <p:nvPr/>
        </p:nvSpPr>
        <p:spPr>
          <a:xfrm>
            <a:off x="44196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7</a:t>
            </a:r>
            <a:endParaRPr/>
          </a:p>
        </p:txBody>
      </p:sp>
      <p:sp>
        <p:nvSpPr>
          <p:cNvPr id="2121" name="Google Shape;2121;p57"/>
          <p:cNvSpPr txBox="1"/>
          <p:nvPr/>
        </p:nvSpPr>
        <p:spPr>
          <a:xfrm>
            <a:off x="5334000" y="19812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0</a:t>
            </a:r>
            <a:endParaRPr/>
          </a:p>
        </p:txBody>
      </p:sp>
      <p:sp>
        <p:nvSpPr>
          <p:cNvPr id="2122" name="Google Shape;2122;p57"/>
          <p:cNvSpPr txBox="1"/>
          <p:nvPr/>
        </p:nvSpPr>
        <p:spPr>
          <a:xfrm>
            <a:off x="53340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23" name="Google Shape;2123;p57"/>
          <p:cNvSpPr txBox="1"/>
          <p:nvPr/>
        </p:nvSpPr>
        <p:spPr>
          <a:xfrm>
            <a:off x="53340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4</a:t>
            </a:r>
            <a:endParaRPr/>
          </a:p>
        </p:txBody>
      </p:sp>
      <p:sp>
        <p:nvSpPr>
          <p:cNvPr id="2124" name="Google Shape;2124;p57"/>
          <p:cNvSpPr txBox="1"/>
          <p:nvPr/>
        </p:nvSpPr>
        <p:spPr>
          <a:xfrm>
            <a:off x="53340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5</a:t>
            </a:r>
            <a:endParaRPr/>
          </a:p>
        </p:txBody>
      </p:sp>
      <p:cxnSp>
        <p:nvCxnSpPr>
          <p:cNvPr id="2125" name="Google Shape;2125;p57"/>
          <p:cNvCxnSpPr/>
          <p:nvPr/>
        </p:nvCxnSpPr>
        <p:spPr>
          <a:xfrm>
            <a:off x="4800600" y="4038600"/>
            <a:ext cx="457200" cy="0"/>
          </a:xfrm>
          <a:prstGeom prst="straightConnector1">
            <a:avLst/>
          </a:prstGeom>
          <a:noFill/>
          <a:ln w="38100" cap="flat" cmpd="sng">
            <a:solidFill>
              <a:schemeClr val="dk1"/>
            </a:solidFill>
            <a:prstDash val="solid"/>
            <a:round/>
            <a:headEnd type="none" w="med" len="med"/>
            <a:tailEnd type="triangle" w="med" len="med"/>
          </a:ln>
        </p:spPr>
      </p:cxnSp>
      <p:sp>
        <p:nvSpPr>
          <p:cNvPr id="2126" name="Google Shape;2126;p57"/>
          <p:cNvSpPr txBox="1"/>
          <p:nvPr/>
        </p:nvSpPr>
        <p:spPr>
          <a:xfrm>
            <a:off x="53340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Calibri"/>
              <a:buNone/>
            </a:pPr>
            <a:r>
              <a:rPr lang="en-US" sz="1800" b="1" i="0" u="none" strike="noStrike" cap="none">
                <a:solidFill>
                  <a:srgbClr val="FF0000"/>
                </a:solidFill>
                <a:latin typeface="Calibri"/>
                <a:ea typeface="Calibri"/>
                <a:cs typeface="Calibri"/>
                <a:sym typeface="Calibri"/>
              </a:rPr>
              <a:t>7</a:t>
            </a:r>
            <a:endParaRPr/>
          </a:p>
        </p:txBody>
      </p:sp>
      <p:sp>
        <p:nvSpPr>
          <p:cNvPr id="2127" name="Google Shape;2127;p57"/>
          <p:cNvSpPr txBox="1"/>
          <p:nvPr/>
        </p:nvSpPr>
        <p:spPr>
          <a:xfrm>
            <a:off x="2743200" y="24384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28" name="Google Shape;2128;p57"/>
          <p:cNvSpPr txBox="1"/>
          <p:nvPr/>
        </p:nvSpPr>
        <p:spPr>
          <a:xfrm>
            <a:off x="2743200" y="28956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29" name="Google Shape;2129;p57"/>
          <p:cNvSpPr txBox="1"/>
          <p:nvPr/>
        </p:nvSpPr>
        <p:spPr>
          <a:xfrm>
            <a:off x="2743200" y="33528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
        <p:nvSpPr>
          <p:cNvPr id="2130" name="Google Shape;2130;p57"/>
          <p:cNvSpPr txBox="1"/>
          <p:nvPr/>
        </p:nvSpPr>
        <p:spPr>
          <a:xfrm>
            <a:off x="2743200" y="3810000"/>
            <a:ext cx="3365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34"/>
        <p:cNvGrpSpPr/>
        <p:nvPr/>
      </p:nvGrpSpPr>
      <p:grpSpPr>
        <a:xfrm>
          <a:off x="0" y="0"/>
          <a:ext cx="0" cy="0"/>
          <a:chOff x="0" y="0"/>
          <a:chExt cx="0" cy="0"/>
        </a:xfrm>
      </p:grpSpPr>
      <p:sp>
        <p:nvSpPr>
          <p:cNvPr id="2135" name="Google Shape;2135;p58"/>
          <p:cNvSpPr txBox="1">
            <a:spLocks noGrp="1"/>
          </p:cNvSpPr>
          <p:nvPr>
            <p:ph type="title" idx="4294967295"/>
          </p:nvPr>
        </p:nvSpPr>
        <p:spPr>
          <a:xfrm>
            <a:off x="685800" y="457200"/>
            <a:ext cx="7772400" cy="838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200"/>
              <a:buFont typeface="Corbel"/>
              <a:buNone/>
            </a:pPr>
            <a:r>
              <a:rPr lang="en-US" sz="3200" b="1">
                <a:solidFill>
                  <a:schemeClr val="dk1"/>
                </a:solidFill>
              </a:rPr>
              <a:t>Comments</a:t>
            </a:r>
            <a:endParaRPr/>
          </a:p>
        </p:txBody>
      </p:sp>
      <p:sp>
        <p:nvSpPr>
          <p:cNvPr id="2136" name="Google Shape;2136;p58"/>
          <p:cNvSpPr txBox="1">
            <a:spLocks noGrp="1"/>
          </p:cNvSpPr>
          <p:nvPr>
            <p:ph type="body" idx="4294967295"/>
          </p:nvPr>
        </p:nvSpPr>
        <p:spPr>
          <a:xfrm>
            <a:off x="685800" y="2133600"/>
            <a:ext cx="7772400" cy="4495800"/>
          </a:xfrm>
          <a:prstGeom prst="rect">
            <a:avLst/>
          </a:prstGeom>
          <a:noFill/>
          <a:ln>
            <a:noFill/>
          </a:ln>
        </p:spPr>
        <p:txBody>
          <a:bodyPr spcFirstLastPara="1" wrap="square" lIns="91425" tIns="45700" rIns="91425" bIns="45700" anchor="t" anchorCtr="0">
            <a:normAutofit/>
          </a:bodyPr>
          <a:lstStyle/>
          <a:p>
            <a:pPr marL="454025" lvl="0" indent="-454025" algn="l" rtl="0">
              <a:spcBef>
                <a:spcPts val="0"/>
              </a:spcBef>
              <a:spcAft>
                <a:spcPts val="0"/>
              </a:spcAft>
              <a:buSzPts val="2160"/>
              <a:buChar char="🡽"/>
            </a:pPr>
            <a:r>
              <a:rPr lang="en-US"/>
              <a:t>This algorithm only finds the max possible value that can be carried in the knapsack</a:t>
            </a:r>
            <a:endParaRPr/>
          </a:p>
          <a:p>
            <a:pPr marL="454025" lvl="0" indent="-454025" algn="l" rtl="0">
              <a:spcBef>
                <a:spcPts val="2000"/>
              </a:spcBef>
              <a:spcAft>
                <a:spcPts val="0"/>
              </a:spcAft>
              <a:buSzPts val="2160"/>
              <a:buChar char="🡽"/>
            </a:pPr>
            <a:r>
              <a:rPr lang="en-US"/>
              <a:t>To know the items that make this maximum value, an addition to this algorithm is necessary</a:t>
            </a:r>
            <a:endParaRPr/>
          </a:p>
          <a:p>
            <a:pPr marL="454025" lvl="0" indent="-454025" algn="l" rtl="0">
              <a:spcBef>
                <a:spcPts val="2000"/>
              </a:spcBef>
              <a:spcAft>
                <a:spcPts val="0"/>
              </a:spcAft>
              <a:buSzPts val="2160"/>
              <a:buChar char="🡽"/>
            </a:pPr>
            <a:r>
              <a:rPr lang="en-US"/>
              <a:t>Please see LCS algorithm lecture for the example how to extract this data from the table we built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40"/>
        <p:cNvGrpSpPr/>
        <p:nvPr/>
      </p:nvGrpSpPr>
      <p:grpSpPr>
        <a:xfrm>
          <a:off x="0" y="0"/>
          <a:ext cx="0" cy="0"/>
          <a:chOff x="0" y="0"/>
          <a:chExt cx="0" cy="0"/>
        </a:xfrm>
      </p:grpSpPr>
      <p:sp>
        <p:nvSpPr>
          <p:cNvPr id="2141" name="Google Shape;2141;p59"/>
          <p:cNvSpPr txBox="1"/>
          <p:nvPr/>
        </p:nvSpPr>
        <p:spPr>
          <a:xfrm>
            <a:off x="335494" y="595100"/>
            <a:ext cx="7456784" cy="49341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Books</a:t>
            </a:r>
            <a:endParaRPr/>
          </a:p>
        </p:txBody>
      </p:sp>
      <p:sp>
        <p:nvSpPr>
          <p:cNvPr id="2142" name="Google Shape;2142;p59"/>
          <p:cNvSpPr txBox="1"/>
          <p:nvPr/>
        </p:nvSpPr>
        <p:spPr>
          <a:xfrm>
            <a:off x="335494" y="2091341"/>
            <a:ext cx="8424193" cy="1477328"/>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1800"/>
              <a:buFont typeface="Corbel"/>
              <a:buAutoNum type="arabicPeriod"/>
            </a:pPr>
            <a:r>
              <a:rPr lang="en-US" sz="1800" b="1" i="1">
                <a:solidFill>
                  <a:schemeClr val="dk1"/>
                </a:solidFill>
                <a:latin typeface="Calibri"/>
                <a:ea typeface="Calibri"/>
                <a:cs typeface="Calibri"/>
                <a:sym typeface="Calibri"/>
              </a:rPr>
              <a:t>Introduction to Algorithms, Third Edition, Thomas H. Cormen, Charle E. Leiserson, Ronald L. Rivest, Clifford Stein (CLRS).</a:t>
            </a:r>
            <a:endParaRPr sz="18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1800"/>
              <a:buFont typeface="Corbel"/>
              <a:buAutoNum type="arabicPeriod"/>
            </a:pPr>
            <a:r>
              <a:rPr lang="en-US" sz="1800" i="1">
                <a:solidFill>
                  <a:schemeClr val="dk1"/>
                </a:solidFill>
                <a:latin typeface="Calibri"/>
                <a:ea typeface="Calibri"/>
                <a:cs typeface="Calibri"/>
                <a:sym typeface="Calibri"/>
              </a:rPr>
              <a:t>Fundamental of Computer Algorithms, Ellis Horowitz, Sartaj Sahni, Sanguthevar Rajasekaran (HSR)</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46"/>
        <p:cNvGrpSpPr/>
        <p:nvPr/>
      </p:nvGrpSpPr>
      <p:grpSpPr>
        <a:xfrm>
          <a:off x="0" y="0"/>
          <a:ext cx="0" cy="0"/>
          <a:chOff x="0" y="0"/>
          <a:chExt cx="0" cy="0"/>
        </a:xfrm>
      </p:grpSpPr>
      <p:sp>
        <p:nvSpPr>
          <p:cNvPr id="2147" name="Google Shape;2147;p60"/>
          <p:cNvSpPr txBox="1"/>
          <p:nvPr/>
        </p:nvSpPr>
        <p:spPr>
          <a:xfrm>
            <a:off x="335494" y="595100"/>
            <a:ext cx="8530210" cy="49341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A5A5A5"/>
              </a:buClr>
              <a:buSzPts val="2340"/>
              <a:buFont typeface="Noto Sans Symbols"/>
              <a:buNone/>
            </a:pPr>
            <a:r>
              <a:rPr lang="en-US" sz="2600" b="1">
                <a:solidFill>
                  <a:schemeClr val="dk1"/>
                </a:solidFill>
                <a:latin typeface="Calibri"/>
                <a:ea typeface="Calibri"/>
                <a:cs typeface="Calibri"/>
                <a:sym typeface="Calibri"/>
              </a:rPr>
              <a:t>References</a:t>
            </a:r>
            <a:endParaRPr/>
          </a:p>
        </p:txBody>
      </p:sp>
      <p:sp>
        <p:nvSpPr>
          <p:cNvPr id="2148" name="Google Shape;2148;p60"/>
          <p:cNvSpPr txBox="1"/>
          <p:nvPr/>
        </p:nvSpPr>
        <p:spPr>
          <a:xfrm>
            <a:off x="335494" y="1656726"/>
            <a:ext cx="8530210" cy="4606174"/>
          </a:xfrm>
          <a:prstGeom prst="rect">
            <a:avLst/>
          </a:prstGeom>
          <a:noFill/>
          <a:ln>
            <a:noFill/>
          </a:ln>
        </p:spPr>
        <p:txBody>
          <a:bodyPr spcFirstLastPara="1" wrap="square" lIns="91425" tIns="45700" rIns="91425" bIns="45700" anchor="t" anchorCtr="0">
            <a:noAutofit/>
          </a:bodyPr>
          <a:lstStyle/>
          <a:p>
            <a:pPr marL="454025" marR="0" lvl="0" indent="-454025" algn="l" rtl="0">
              <a:spcBef>
                <a:spcPts val="0"/>
              </a:spcBef>
              <a:spcAft>
                <a:spcPts val="0"/>
              </a:spcAft>
              <a:buClr>
                <a:srgbClr val="A5A5A5"/>
              </a:buClr>
              <a:buSzPts val="1620"/>
              <a:buFont typeface="Noto Sans Symbols"/>
              <a:buChar char="🡽"/>
            </a:pPr>
            <a:r>
              <a:rPr lang="en-US" sz="1800" u="sng">
                <a:solidFill>
                  <a:srgbClr val="262626"/>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https://algorithmist.com/wiki/Dynamic_programming</a:t>
            </a:r>
            <a:endParaRPr sz="1800">
              <a:solidFill>
                <a:srgbClr val="262626"/>
              </a:solidFill>
              <a:latin typeface="Calibri"/>
              <a:ea typeface="Calibri"/>
              <a:cs typeface="Calibri"/>
              <a:sym typeface="Calibri"/>
            </a:endParaRPr>
          </a:p>
          <a:p>
            <a:pPr marL="454025" marR="0" lvl="0" indent="-454025" algn="l" rtl="0">
              <a:spcBef>
                <a:spcPts val="2000"/>
              </a:spcBef>
              <a:spcAft>
                <a:spcPts val="0"/>
              </a:spcAft>
              <a:buClr>
                <a:srgbClr val="A5A5A5"/>
              </a:buClr>
              <a:buSzPts val="1620"/>
              <a:buFont typeface="Noto Sans Symbols"/>
              <a:buChar char="🡽"/>
            </a:pPr>
            <a:r>
              <a:rPr lang="en-US" sz="1800" u="sng">
                <a:solidFill>
                  <a:srgbClr val="262626"/>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https://www.topcoder.com/community/competitive-programming/tutorials/dynamic-programming-from-novice-to-advanced/</a:t>
            </a:r>
            <a:endParaRPr sz="1800">
              <a:solidFill>
                <a:srgbClr val="262626"/>
              </a:solidFill>
              <a:latin typeface="Calibri"/>
              <a:ea typeface="Calibri"/>
              <a:cs typeface="Calibri"/>
              <a:sym typeface="Calibri"/>
            </a:endParaRPr>
          </a:p>
          <a:p>
            <a:pPr marL="454025" marR="0" lvl="0" indent="-454025" algn="l" rtl="0">
              <a:spcBef>
                <a:spcPts val="200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CLRS: 15.3</a:t>
            </a:r>
            <a:endParaRPr/>
          </a:p>
          <a:p>
            <a:pPr marL="454025" marR="0" lvl="0" indent="-454025" algn="l" rtl="0">
              <a:spcBef>
                <a:spcPts val="2000"/>
              </a:spcBef>
              <a:spcAft>
                <a:spcPts val="0"/>
              </a:spcAft>
              <a:buClr>
                <a:srgbClr val="A5A5A5"/>
              </a:buClr>
              <a:buSzPts val="1620"/>
              <a:buFont typeface="Noto Sans Symbols"/>
              <a:buChar char="🡽"/>
            </a:pPr>
            <a:r>
              <a:rPr lang="en-US" sz="1800">
                <a:solidFill>
                  <a:srgbClr val="262626"/>
                </a:solidFill>
                <a:latin typeface="Calibri"/>
                <a:ea typeface="Calibri"/>
                <a:cs typeface="Calibri"/>
                <a:sym typeface="Calibri"/>
              </a:rPr>
              <a:t>HSR: 5.1, 5.5</a:t>
            </a:r>
            <a:endParaRPr/>
          </a:p>
        </p:txBody>
      </p:sp>
    </p:spTree>
  </p:cSld>
  <p:clrMapOvr>
    <a:masterClrMapping/>
  </p:clrMapOvr>
</p:sld>
</file>

<file path=ppt/theme/theme1.xml><?xml version="1.0" encoding="utf-8"?>
<a:theme xmlns:a="http://schemas.openxmlformats.org/drawingml/2006/main"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5159</Words>
  <Application>Microsoft Office PowerPoint</Application>
  <PresentationFormat>On-screen Show (4:3)</PresentationFormat>
  <Paragraphs>1169</Paragraphs>
  <Slides>62</Slides>
  <Notes>62</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62</vt:i4>
      </vt:variant>
    </vt:vector>
  </HeadingPairs>
  <TitlesOfParts>
    <vt:vector size="70" baseType="lpstr">
      <vt:lpstr>Corbel</vt:lpstr>
      <vt:lpstr>Tahoma</vt:lpstr>
      <vt:lpstr>Calibri</vt:lpstr>
      <vt:lpstr>Arial</vt:lpstr>
      <vt:lpstr>Noto Sans Symbols</vt:lpstr>
      <vt:lpstr>Courier New</vt:lpstr>
      <vt:lpstr>Spectrum</vt:lpstr>
      <vt:lpstr>Office Theme</vt:lpstr>
      <vt:lpstr>Dynamic Programming</vt:lpstr>
      <vt:lpstr>Lecture Outline</vt:lpstr>
      <vt:lpstr>Fibonacci Numbers</vt:lpstr>
      <vt:lpstr>…Fibonacci Numbers</vt:lpstr>
      <vt:lpstr>…Fibonacci Numbers</vt:lpstr>
      <vt:lpstr>…Fibonacci Numbers</vt:lpstr>
      <vt:lpstr>…Fibonacci Numbers</vt:lpstr>
      <vt:lpstr>…Fibonacci Numbers</vt:lpstr>
      <vt:lpstr>History</vt:lpstr>
      <vt:lpstr>Dynamic Programming</vt:lpstr>
      <vt:lpstr>Intuitive Explanation</vt:lpstr>
      <vt:lpstr>Elements of Dynamic Programming</vt:lpstr>
      <vt:lpstr>Example: Fibonacci Numbers</vt:lpstr>
      <vt:lpstr>Steps to Designing a Dynamic Programming Algorithm</vt:lpstr>
      <vt:lpstr>1.Optimal Sub-Structure</vt:lpstr>
      <vt:lpstr>2. Recursive Solution</vt:lpstr>
      <vt:lpstr>3. Bottom Up</vt:lpstr>
      <vt:lpstr>4. Construct Optimal Solution</vt:lpstr>
      <vt:lpstr>PowerPoint Presentation</vt:lpstr>
      <vt:lpstr>PowerPoint Presentation</vt:lpstr>
      <vt:lpstr>Knapsack Problem</vt:lpstr>
      <vt:lpstr>  The Knapsack Problem</vt:lpstr>
      <vt:lpstr>0-1 Knapsack problem</vt:lpstr>
      <vt:lpstr>PowerPoint Presentation</vt:lpstr>
      <vt:lpstr>0-1 Knapsack problem: a picture</vt:lpstr>
      <vt:lpstr>The Knapsack Problem</vt:lpstr>
      <vt:lpstr>0-1 Knapsack problem</vt:lpstr>
      <vt:lpstr>0-1 Knapsack problem: brute-force approach</vt:lpstr>
      <vt:lpstr>0-1 Knapsack problem: brute-force approach</vt:lpstr>
      <vt:lpstr>Defining a Subproblem </vt:lpstr>
      <vt:lpstr>Defining a Subproblem</vt:lpstr>
      <vt:lpstr>Defining a Subproblem (continued)</vt:lpstr>
      <vt:lpstr>Recursive Formula for subproblems</vt:lpstr>
      <vt:lpstr>Recursive Formula</vt:lpstr>
      <vt:lpstr>The Knapsack Problem And Optimal Substructure</vt:lpstr>
      <vt:lpstr>Solving The Knapsack Problem</vt:lpstr>
      <vt:lpstr>PowerPoint Presentation</vt:lpstr>
      <vt:lpstr>The Knapsack Problem: Greedy Vs. Dynamic</vt:lpstr>
      <vt:lpstr>Fractional-knapsack</vt:lpstr>
      <vt:lpstr>0-1 Knapsack Algorithm</vt:lpstr>
      <vt:lpstr>Running time</vt:lpstr>
      <vt:lpstr>Example</vt:lpstr>
      <vt:lpstr>Example (2)</vt:lpstr>
      <vt:lpstr>Example (3)</vt:lpstr>
      <vt:lpstr>Example (4)</vt:lpstr>
      <vt:lpstr>Example (5)</vt:lpstr>
      <vt:lpstr>Example (6)</vt:lpstr>
      <vt:lpstr>Example (7)</vt:lpstr>
      <vt:lpstr>Example (8)</vt:lpstr>
      <vt:lpstr>Example (9)</vt:lpstr>
      <vt:lpstr>Example (10)</vt:lpstr>
      <vt:lpstr>Example (11)</vt:lpstr>
      <vt:lpstr>Example (12)</vt:lpstr>
      <vt:lpstr>Example (13)</vt:lpstr>
      <vt:lpstr>Example (14)</vt:lpstr>
      <vt:lpstr>Example (15)</vt:lpstr>
      <vt:lpstr>Example (15)</vt:lpstr>
      <vt:lpstr>Example (16)</vt:lpstr>
      <vt:lpstr>Example (17)</vt:lpstr>
      <vt:lpstr>Comments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Mahbubul Syeed</dc:creator>
  <cp:lastModifiedBy>MD. MUSTAK UN NOBI</cp:lastModifiedBy>
  <cp:revision>1</cp:revision>
  <dcterms:created xsi:type="dcterms:W3CDTF">2018-12-10T17:20:29Z</dcterms:created>
  <dcterms:modified xsi:type="dcterms:W3CDTF">2024-12-14T13:57:35Z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0x010100558BB3E2F9841A40A8A4E66ACF86437D</vt:lpwstr>
  </property>
</Properties>
</file>